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se hooks" id="{abc20f73-c87a-7b68-0663-468d86c91645}">
          <p14:sldIdLst>
            <p14:sldId id="256"/>
            <p14:sldId id="257"/>
            <p14:sldId id="258"/>
            <p14:sldId id="259"/>
            <p14:sldId id="260"/>
            <p14:sldId id="261"/>
            <p14:sldId id="262"/>
            <p14:sldId id="263"/>
            <p14:sldId id="264"/>
            <p14:sldId id="265"/>
            <p14:sldId id="266"/>
            <p14:sldId id="267"/>
            <p14:sldId id="268"/>
          </p14:sldIdLst>
        </p14:section>
        <p14:section name="Day 1 · Wed Oct 1" id="{5362fd15-b2f9-5061-b428-b0cfab4a5c6e}">
          <p14:sldIdLst>
            <p14:sldId id="269"/>
            <p14:sldId id="270"/>
            <p14:sldId id="271"/>
            <p14:sldId id="272"/>
          </p14:sldIdLst>
        </p14:section>
        <p14:section name="Day 2 · Thu Oct 2" id="{14428510-d6c1-a314-7bd5-02a2125470fb}">
          <p14:sldIdLst>
            <p14:sldId id="273"/>
            <p14:sldId id="274"/>
            <p14:sldId id="275"/>
            <p14:sldId id="276"/>
          </p14:sldIdLst>
        </p14:section>
        <p14:section name="Day 3 · Fri Oct 3" id="{89bcf11e-0a96-3826-3271-2d729d56ded1}">
          <p14:sldIdLst>
            <p14:sldId id="277"/>
            <p14:sldId id="278"/>
            <p14:sldId id="279"/>
            <p14:sldId id="280"/>
          </p14:sldIdLst>
        </p14:section>
        <p14:section name="Day 4 · Sat Oct 4" id="{ec619ce9-2c0f-9719-55fb-648848a94643}">
          <p14:sldIdLst>
            <p14:sldId id="281"/>
            <p14:sldId id="282"/>
            <p14:sldId id="283"/>
            <p14:sldId id="284"/>
          </p14:sldIdLst>
        </p14:section>
        <p14:section name="Day 5 · Sun Oct 5" id="{2dd1b3b3-b575-f7cf-db7a-821d26a10b63}">
          <p14:sldIdLst>
            <p14:sldId id="285"/>
            <p14:sldId id="286"/>
            <p14:sldId id="287"/>
            <p14:sldId id="288"/>
          </p14:sldIdLst>
        </p14:section>
        <p14:section name="Before every take · spares" id="{cd68b800-be28-51b5-a3af-0d7914694a4f}">
          <p14:sldIdLst>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per video, in posting order. Each slide: the line to say, the text on frame 1, two alternate first lines for the second take, the first 3 seconds, the ending. Text source: content/2026-10/hooks-oct-1-5.md in the repo. Strategy: content/2026-10/sprint-oct-1-5.md.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rule now. Nothing ships before it. Videos 1, 3, 4, 6, 7, 9, 10, 11, 12, 13 and 15 were rewritten because they failed it as first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filming, say the viewer’s name in your head. The hook is written to that one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Instagram first. YouTube Shorts gets the same videos. TikTok never gets a repost; see content/2026-10/tiktok-oct-1-5.md.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Abidjan is 4 hours ahead and Paris 6 hours ahead this week: 7:30 am ET is lunchtime at home, 1:30 pm ET is the evening peak. Instagram videos also go to YouTube Shorts, exported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10K is for a specific unlock, such as TikTok’s Creator Rewards at 10K followers and 100K views in 30 days, say so: that changes which platform gets the funnel.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published breakdowns of the creators’ videos and their quoted lines. The platforms could not be browsed, so watch each creator’s last ten videos before filming and check the move still holds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published breakdowns of the creators’ videos and their quoted lines. The platforms could not be browsed, so watch each creator’s last ten videos before filming and check the move still holds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published breakdowns of the creators’ videos and their quoted lines. The platforms could not be browsed, so watch each creator’s last ten videos before filming and check the move still holds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Transcripts Kee sent on 2 October, the creators’ own words lightly cleaned. Names are used where the creator gave one on camera (Abigail, Laura); the others are named by their series or their line. Run the viewer test on each “Yours” before filming: it has to give the stranger something in the first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rant and the 60-second strategy are hot takes: they belong on @keekyt first (strong topics, French hook), and on @aissakee only as the day’s motivation Reel. “4 million views paid me $0” only if TikTok has paid nothing for those views; if it has, say the real figure. Laura’s per-niche list (“things I almost bought”, “what I spend in a week”, “behind the scenes of a brand deal”) is the Stories and spares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1 to 3 seconds decide the skip. A video that keeps 80% of viewers for 3 seconds beats one that keeps 60% for 30. Two takes of the hook cost 30 seconds and give you a Trial Reel.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Hormozi’s “how I” with a number. Say the amount in CAD, exactly as the receipt shows it. Names blurred, balances cropped, brand rates only if the gig app’s terms allow. Not yet true, keep for later: “I made $1,500 from one website. Here’s how.” and “I made $95 from a flyer that took 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comments to reply to yet, so day 1 has no reply video. Tomorrow’s episode needs today’s true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Beats: (1) who you are: self-taught designer, student in Toronto, a design studio run from your laptop. (2) what they get here: how you make money online with design, real prices, real work, no fluff. (3) the plan: three videos a day, the hooks, the numbers, the flops. CTA: follow to see day two. “If you think I can’t, comment no way.” Caption: Day 1 of trying to go from 31 to 10K followers by Sunday. Self-taught designer, student in Toronto, running a design studio from my laptop. This week: everything I post, what works, what flops, and how I make money online with creative skills. Follow for day 2. Hashtags: #selftaughtdesigner #studententrepreneur #buildinpublic #creatortips #torontocreator Post it first, as soon as it is cut. Pin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Beats, each with the real receipt on screen (names blurred, balances cropped): (1) the job: $450 to $670 every two weeks since March, real work, nothing to be ashamed of. (2) the shop: the first order was me testing at $0.00; the first real sale came on 9 August, $419 from a stranger; then $268.86 on 21 September. (3) brand gigs: $830 in the wallet, one big gig at $810 and three micro-gigs at $5 to $10, so the lesson is: pitch for the real ones with a media kit, skip the $5 ones. Check the gig app’s terms before showing brand rates. (4) “None of this needed a degree or followers. It needed one skill and sending DMs every day.” Caption: Real numbers from this summer: my retail job paid me $450 to $670 every two weeks. One shop order paid $419. Brand gigs paid $830. No course, no crypto: one skill and DMs. Follow, each stream gets its own video this week. Hashtags: #makemoneyasastudent #sidehustleideas #graphicdesigner #ugccreator #onlinebusiness Invite @bykreeative as collaborator.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Beats: (1) flyers from $95, Reel editing from $160, websites from $1,500 (CAD, plus tax). (2) what the client gets for each: [hours, revisions, files, turnaround]. (3) “In October I’m taking 10 founding clients at 10% off.” CTA: comment SITE or FLYER. Check that ManyChat answers on this account first; if not, say “DM me” and reply by hand. Caption: What does $95 get you from a designer? A flyer, start to finish. Reel editing from $160, websites from $1,500. Prices are public on my site, so here they are out loud. 10 founding client spots in October at 10% off. Comment SITE or FLYER. Hashtags: #freelancedesigner #designbusiness #pricingtips #smallbusinessowner #graphicdesign Prices exactly as on the pricing pages. Invite @bykreeative as collaborator.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petition video is a template: pick the live topic yourself, source on screen, real petitions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Beats: the real numbers from the scoreboard (followers now, views, best video), the hook that worked, the one that flopped, the one change for today. Say the lesson in one sentence a creator can copy. Caption: Day 2 of 31 → 10K: [followers] followers, [views] views. Best video: [which], and why. What I’m changing today: [one thing]. Follow for day 3. Hashtags: #buildinpublic #contentcreatortips #growoninstagram #creatorjourney #selftaughtdesigner Film it in the morning with that day’s true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with a documented number: add up 2026 gross in CAD (shop orders, paid gig payouts, client invoices, UGC deals) for the laptop number; the job is a separate number; say on screen which one you mean. The PDF and the GUIDE keyword must be live in ManyChat first (follow gate on). If they are not live by Thursday noon, run the original video 5 and move this to Friday 12 pm. Beats: (1) the split, receipts on screen. (2) three streams, one skill: design for small businesses, brand gigs with a one-page media kit, the shop. (3) the system: one skill, three concept samples, five DMs a day, one pitch a day, a one-page media kit. (4) CTA: it is all in a ten-page PDF, the DM, the media kit layout, the first thing to sell. Comment GUIDE. Caption: I made $[X] this year as a student, [the split]. The exact system (the DM, the media kit, the first product) is a free PDF. Comment GUIDE and it’s in your DMs. Hashtags: #makemoneyasastudent #studententrepreneur #sidehustle #freelancedesigner #ugccreator ManyChat: public reply “Sent, check your DMs”, DM with the PDF link, follow gate on, a second DM 24 hours later with the course (outcomes only) and the founding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DM on screen: Hi [name], I’m Kee, a designer in Toronto. I noticed [one specific thing about their page]. I made you a quick concept (attached). If you like it, I can have the final ready by [day]. No pressure either way. Beats: why it works: specific to them, free value first, a date, no pressure. “Five a day, every day. That’s the whole secret.” Caption: The DM that gets me clients: specific, a free concept attached, a date, no pressure. Five a day. Comment SPOT for my October founding offer. Hashtags: #clientacquisition #freelancedesigner #smallbusinessmarketing #designbusiness #studententrepreneur Invite @bykreeative as collaborator.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flyer is a concept, labelled on screen, never the Christocentrique flyer.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Beats: the numbers, the honest part (what it feels like, what flopped), one thing you learned about hooks, today’s change. Hashtags: #buildinpublic #creatorlife #growoninstagram #contentstrategy #selftaughtdesigner Batch B to film this morning: videos 8, 9, 11, 12 and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Beats: brief → layout → type → colour → export, as a timelapse. “Twenty minutes of design. Two years of learning to do it in twenty minutes.” Caption: A $95 flyer, start to finish. [Concept for a Toronto business, labelled as a concept.] Comment FLYER for one of the 10 founding spots at 10% off this month. Hashtags: #flyerdesign #canvadesign #graphicdesigntips #designprocess #smallbusinessmarketing A concept, with “concept” on screen. Never the Christocentrique flyer. Invite @bykreeative as collaborator.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Beats: (1) a one-page media kit, even with small numbers (show a template). (2) the email: short, specific, one idea for them. (3) consistency: post about the category before you pitch. (4) “The full thing is in my free guide.” Caption: PR packages with a small account: a one-page media kit, a short specific email, and posting about the category before you pitch. My free guide has the exact steps. Comment KIT or link in bio. Hashtags: #prpackages #ugccreator #microinfluencer #mediakit #creatortips The guide is free and can be described fully. The course stays outcomes-only. Pin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day in the life moved from the feed to Stories: it is for people who already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Beats: the three things you would do differently from day one, each one a sentence someone starting today can use; the numbers as proof; what tomorrow decides. Hashtags: #buildinpublic #instagramgrowth #creatorjourney #contentcreator #studententrepreneur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Beats: (1) the client tries three times: exposure, “it’s just a flyer”, “my cousin can do it on Canva”. (2) the designer answers each in one line: exposure does not pay for the software or the hours; a $95 flyer is 20 minutes of design and two years of learning to do it in 20 minutes; the cousin version is why nobody calls. (3) the lightbulb: “You’re not paying for the 20 minutes.” (4) what I do instead: a free concept first, then $95, and 10% off for the 10 founding clients this month. Caption: Can you do it for exposure? No. Here’s what I do instead: a free concept first, then $95, and 10% off for my 10 founding clients this month. Comment FLYER. Hashtags: #designclients #smallbusinessowner #flyerdesign #freelancedesigner #studententrepreneur Keep it warm, not bitter. The client is not the villain; the misunderstanding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Beats: (1) Canva flyers: learn free, first sale $95. (2) Reel editing in Edits or CapCut: learn free, first job from $160. (3) UGC with your phone and a media kit: brands pay for content, not followers. For each: where to learn, the first thing to sell. Caption: 3 skills people pay for that you can learn free this month: Canva flyers, Reel editing, UGC. Where to learn each and the first thing to sell. Follow for the breakdowns. Hashtags: #learnonline #skillsthatpay #sidehustleideas #contentcreation #ugc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Sunday is the payoff of the open loop. Say the real number in the first three seconds of video 13, then what moved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Beats: the real number. The three hooks that worked, word for word, and why. What the audience asked for. The next goal and its date. Caption: Day 5: [number] followers. [Made it / didn’t make it]. The three hooks that worked, what didn’t, and the next goal: [goal] by [date]. Follow for the next 25 days. Hashtags: #buildinpublic #creatorjourney #instagramgrowth #honestcontent #selftaughtdesigner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solid background (black or pink), the verse, the reference, @aissakee. No photo, no generated image. Caption: Sunday reminder for whoever is building something that scares them. @aissakee Hashtags: #christiancreator #faithandbusiness #philippians413 #sundaymotivation #christianentrepreneur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Beats: three true things, for example: start before you feel ready; charge properly from the first client; you don’t need everyone, you need ten clients. Replace with your three. Caption: Three things I’d tell myself before starting Kreeative: [1], [2], [3]. Follow for what happens next. Hashtags: #entrepreneurmindset #motivation #womeninbusiness #selftaughtdesigner #studententrepreneur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of setup saves a re-shoot. The second take of the hook is free material for a Trial Reel.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Spares for Stories, Trial Reels and extra posts. All true as written; the real numbers come from the proof bank in the brief. Fill any bracket with the real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Spares for Stories, Trial Reels and extra posts. All true as written; the real numbers come from the proof bank in the brief. Fill any bracket with the real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built from the transcripts Kee sent on 2 October, rewritten in her voice and checked against the viewer test. 32 only if TikTok paid nothing for those views. 30: fill the day and the number. 26 is the “you don’t need the new camera” move turned on followers.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CFC"/>
        </a:solidFill>
      </p:bgPr>
    </p:bg>
    <p:spTree>
      <p:nvGrpSpPr>
        <p:cNvPr id="1" name=""/>
        <p:cNvGrpSpPr/>
        <p:nvPr/>
      </p:nvGrpSpPr>
      <p:grpSpPr>
        <a:xfrm>
          <a:off x="0" y="0"/>
          <a:ext cx="0" cy="0"/>
          <a:chOff x="0" y="0"/>
          <a:chExt cx="0" cy="0"/>
        </a:xfrm>
      </p:grpSpPr>
      <p:sp>
        <p:nvSpPr>
          <p:cNvPr id="2" name="shape-1"/>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meteor-2"/>
          <p:cNvSpPr/>
          <p:nvPr/>
        </p:nvSpPr>
        <p:spPr>
          <a:xfrm rot="1356000">
            <a:off x="1905000" y="889000"/>
            <a:ext cx="635000" cy="0"/>
          </a:xfrm>
          <a:prstGeom prst="line">
            <a:avLst/>
          </a:prstGeom>
          <a:noFill/>
          <a:ln w="9525">
            <a:solidFill>
              <a:srgbClr val="000000">
                <a:alpha val="45000"/>
              </a:srgbClr>
            </a:solidFill>
            <a:prstDash val="solid"/>
          </a:ln>
        </p:spPr>
      </p:sp>
      <p:sp>
        <p:nvSpPr>
          <p:cNvPr id="4" name="meteor-3"/>
          <p:cNvSpPr/>
          <p:nvPr/>
        </p:nvSpPr>
        <p:spPr>
          <a:xfrm rot="1356000">
            <a:off x="9525000" y="762000"/>
            <a:ext cx="635000" cy="0"/>
          </a:xfrm>
          <a:prstGeom prst="line">
            <a:avLst/>
          </a:prstGeom>
          <a:noFill/>
          <a:ln w="9525">
            <a:solidFill>
              <a:srgbClr val="000000">
                <a:alpha val="45000"/>
              </a:srgbClr>
            </a:solidFill>
            <a:prstDash val="solid"/>
          </a:ln>
        </p:spPr>
      </p:sp>
      <p:sp>
        <p:nvSpPr>
          <p:cNvPr id="5" name="meteor-4"/>
          <p:cNvSpPr/>
          <p:nvPr/>
        </p:nvSpPr>
        <p:spPr>
          <a:xfrm rot="1356000">
            <a:off x="8382000" y="1651000"/>
            <a:ext cx="635000" cy="0"/>
          </a:xfrm>
          <a:prstGeom prst="line">
            <a:avLst/>
          </a:prstGeom>
          <a:noFill/>
          <a:ln w="9525">
            <a:solidFill>
              <a:srgbClr val="000000">
                <a:alpha val="45000"/>
              </a:srgbClr>
            </a:solidFill>
            <a:prstDash val="solid"/>
          </a:ln>
        </p:spPr>
      </p:sp>
      <p:sp>
        <p:nvSpPr>
          <p:cNvPr id="6" name="meteor-5"/>
          <p:cNvSpPr/>
          <p:nvPr/>
        </p:nvSpPr>
        <p:spPr>
          <a:xfrm rot="1356000">
            <a:off x="2667000" y="4826000"/>
            <a:ext cx="635000" cy="0"/>
          </a:xfrm>
          <a:prstGeom prst="line">
            <a:avLst/>
          </a:prstGeom>
          <a:noFill/>
          <a:ln w="9525">
            <a:solidFill>
              <a:srgbClr val="000000">
                <a:alpha val="45000"/>
              </a:srgbClr>
            </a:solidFill>
            <a:prstDash val="solid"/>
          </a:ln>
        </p:spPr>
      </p:sp>
      <p:sp>
        <p:nvSpPr>
          <p:cNvPr id="7" name="meteor-6"/>
          <p:cNvSpPr/>
          <p:nvPr/>
        </p:nvSpPr>
        <p:spPr>
          <a:xfrm rot="1356000">
            <a:off x="10287000" y="4445000"/>
            <a:ext cx="635000" cy="0"/>
          </a:xfrm>
          <a:prstGeom prst="line">
            <a:avLst/>
          </a:prstGeom>
          <a:noFill/>
          <a:ln w="9525">
            <a:solidFill>
              <a:srgbClr val="000000">
                <a:alpha val="45000"/>
              </a:srgbClr>
            </a:solidFill>
            <a:prstDash val="solid"/>
          </a:ln>
        </p:spPr>
      </p:sp>
      <p:sp>
        <p:nvSpPr>
          <p:cNvPr id="8" name="meteor-7"/>
          <p:cNvSpPr/>
          <p:nvPr/>
        </p:nvSpPr>
        <p:spPr>
          <a:xfrm rot="1356000">
            <a:off x="6223000" y="571500"/>
            <a:ext cx="635000" cy="0"/>
          </a:xfrm>
          <a:prstGeom prst="line">
            <a:avLst/>
          </a:prstGeom>
          <a:noFill/>
          <a:ln w="9525">
            <a:solidFill>
              <a:srgbClr val="000000">
                <a:alpha val="45000"/>
              </a:srgbClr>
            </a:solidFill>
            <a:prstDash val="solid"/>
          </a:ln>
        </p:spPr>
      </p:sp>
      <p:sp>
        <p:nvSpPr>
          <p:cNvPr id="9" name="shape-8"/>
          <p:cNvSpPr/>
          <p:nvPr/>
        </p:nvSpPr>
        <p:spPr>
          <a:xfrm rot="-240000">
            <a:off x="660400" y="2070100"/>
            <a:ext cx="1524000" cy="2711450"/>
          </a:xfrm>
          <a:prstGeom prst="roundRect">
            <a:avLst>
              <a:gd name="adj" fmla="val 5833"/>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10" name="shape-9"/>
          <p:cNvSpPr/>
          <p:nvPr/>
        </p:nvSpPr>
        <p:spPr>
          <a:xfrm rot="-240000">
            <a:off x="779870" y="2419613"/>
            <a:ext cx="1270000" cy="1797050"/>
          </a:xfrm>
          <a:prstGeom prst="roundRect">
            <a:avLst>
              <a:gd name="adj" fmla="val 4000"/>
            </a:avLst>
          </a:prstGeom>
          <a:solidFill>
            <a:srgbClr val="FFFFFF"/>
          </a:solidFill>
          <a:ln w="9525">
            <a:solidFill>
              <a:srgbClr val="313336">
                <a:alpha val="30000"/>
              </a:srgbClr>
            </a:solidFill>
            <a:prstDash val="dash"/>
          </a:ln>
        </p:spPr>
      </p:sp>
      <p:sp>
        <p:nvSpPr>
          <p:cNvPr id="11" name="phone-text-10"/>
          <p:cNvSpPr txBox="1"/>
          <p:nvPr/>
        </p:nvSpPr>
        <p:spPr>
          <a:xfrm rot="-240000">
            <a:off x="827056" y="2522226"/>
            <a:ext cx="11176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31 → 10K by Sunday. Steal what works.</a:t>
            </a:r>
            <a:endParaRPr lang="en-US" sz="1200" dirty="0"/>
          </a:p>
        </p:txBody>
      </p:sp>
      <p:sp>
        <p:nvSpPr>
          <p:cNvPr id="12" name="phone-dot-11"/>
          <p:cNvSpPr/>
          <p:nvPr/>
        </p:nvSpPr>
        <p:spPr>
          <a:xfrm rot="-240000">
            <a:off x="1198742" y="3605740"/>
            <a:ext cx="508000" cy="508000"/>
          </a:xfrm>
          <a:prstGeom prst="ellipse">
            <a:avLst/>
          </a:prstGeom>
          <a:solidFill>
            <a:srgbClr val="EDEDED"/>
          </a:solidFill>
          <a:ln w="12700">
            <a:solidFill>
              <a:srgbClr val="F0F0F0"/>
            </a:solidFill>
            <a:prstDash val="solid"/>
          </a:ln>
        </p:spPr>
      </p:sp>
      <p:pic>
        <p:nvPicPr>
          <p:cNvPr id="13" name="pixels-12" descr="pixels-light.png">    </p:cNvPr>
          <p:cNvPicPr>
            <a:picLocks noChangeAspect="1"/>
          </p:cNvPicPr>
          <p:nvPr/>
        </p:nvPicPr>
        <p:blipFill>
          <a:blip r:embed="rId1"/>
          <a:stretch>
            <a:fillRect/>
          </a:stretch>
        </p:blipFill>
        <p:spPr>
          <a:xfrm>
            <a:off x="355600" y="6299200"/>
            <a:ext cx="11480800" cy="228600"/>
          </a:xfrm>
          <a:prstGeom prst="rect">
            <a:avLst/>
          </a:prstGeom>
        </p:spPr>
      </p:pic>
      <p:sp>
        <p:nvSpPr>
          <p:cNvPr id="14" name="shape-13"/>
          <p:cNvSpPr/>
          <p:nvPr/>
        </p:nvSpPr>
        <p:spPr>
          <a:xfrm>
            <a:off x="4451350" y="2095500"/>
            <a:ext cx="958850" cy="292100"/>
          </a:xfrm>
          <a:prstGeom prst="roundRect">
            <a:avLst>
              <a:gd name="adj" fmla="val 17391"/>
            </a:avLst>
          </a:prstGeom>
          <a:solidFill>
            <a:srgbClr val="FFFFFF"/>
          </a:solidFill>
          <a:ln w="9525">
            <a:solidFill>
              <a:srgbClr val="313336">
                <a:alpha val="30000"/>
              </a:srgbClr>
            </a:solidFill>
            <a:prstDash val="dash"/>
          </a:ln>
        </p:spPr>
      </p:sp>
      <p:sp>
        <p:nvSpPr>
          <p:cNvPr id="15" name="text-14"/>
          <p:cNvSpPr txBox="1"/>
          <p:nvPr/>
        </p:nvSpPr>
        <p:spPr>
          <a:xfrm>
            <a:off x="4451350" y="2095500"/>
            <a:ext cx="9588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Aïssa Kee</a:t>
            </a:r>
            <a:endParaRPr lang="en-US" sz="1200" dirty="0"/>
          </a:p>
        </p:txBody>
      </p:sp>
      <p:sp>
        <p:nvSpPr>
          <p:cNvPr id="16" name="shape-15"/>
          <p:cNvSpPr/>
          <p:nvPr/>
        </p:nvSpPr>
        <p:spPr>
          <a:xfrm>
            <a:off x="5461000" y="2095500"/>
            <a:ext cx="1473200" cy="292100"/>
          </a:xfrm>
          <a:prstGeom prst="roundRect">
            <a:avLst>
              <a:gd name="adj" fmla="val 17391"/>
            </a:avLst>
          </a:prstGeom>
          <a:solidFill>
            <a:srgbClr val="FFFFFF"/>
          </a:solidFill>
          <a:ln w="9525">
            <a:solidFill>
              <a:srgbClr val="313336">
                <a:alpha val="30000"/>
              </a:srgbClr>
            </a:solidFill>
            <a:prstDash val="dash"/>
          </a:ln>
        </p:spPr>
      </p:sp>
      <p:sp>
        <p:nvSpPr>
          <p:cNvPr id="17" name="text-16"/>
          <p:cNvSpPr txBox="1"/>
          <p:nvPr/>
        </p:nvSpPr>
        <p:spPr>
          <a:xfrm>
            <a:off x="5461000" y="2095500"/>
            <a:ext cx="14732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Instagram first</a:t>
            </a:r>
            <a:endParaRPr lang="en-US" sz="1200" dirty="0"/>
          </a:p>
        </p:txBody>
      </p:sp>
      <p:sp>
        <p:nvSpPr>
          <p:cNvPr id="18" name="shape-17"/>
          <p:cNvSpPr/>
          <p:nvPr/>
        </p:nvSpPr>
        <p:spPr>
          <a:xfrm>
            <a:off x="6985000" y="2095500"/>
            <a:ext cx="1555750" cy="292100"/>
          </a:xfrm>
          <a:prstGeom prst="roundRect">
            <a:avLst>
              <a:gd name="adj" fmla="val 17391"/>
            </a:avLst>
          </a:prstGeom>
          <a:solidFill>
            <a:srgbClr val="FFFFFF"/>
          </a:solidFill>
          <a:ln w="9525">
            <a:solidFill>
              <a:srgbClr val="313336">
                <a:alpha val="30000"/>
              </a:srgbClr>
            </a:solidFill>
            <a:prstDash val="dash"/>
          </a:ln>
        </p:spPr>
      </p:sp>
      <p:sp>
        <p:nvSpPr>
          <p:cNvPr id="19" name="text-18"/>
          <p:cNvSpPr txBox="1"/>
          <p:nvPr/>
        </p:nvSpPr>
        <p:spPr>
          <a:xfrm>
            <a:off x="6985000" y="2095500"/>
            <a:ext cx="15557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Oct 1 to 5, 2026</a:t>
            </a:r>
            <a:endParaRPr lang="en-US" sz="1200" dirty="0"/>
          </a:p>
        </p:txBody>
      </p:sp>
      <p:sp>
        <p:nvSpPr>
          <p:cNvPr id="20" name="shape-19"/>
          <p:cNvSpPr/>
          <p:nvPr/>
        </p:nvSpPr>
        <p:spPr>
          <a:xfrm>
            <a:off x="8591550" y="2095500"/>
            <a:ext cx="876300" cy="292100"/>
          </a:xfrm>
          <a:prstGeom prst="roundRect">
            <a:avLst>
              <a:gd name="adj" fmla="val 17391"/>
            </a:avLst>
          </a:prstGeom>
          <a:solidFill>
            <a:srgbClr val="FFFFFF"/>
          </a:solidFill>
          <a:ln w="9525">
            <a:solidFill>
              <a:srgbClr val="313336">
                <a:alpha val="30000"/>
              </a:srgbClr>
            </a:solidFill>
            <a:prstDash val="dash"/>
          </a:ln>
        </p:spPr>
      </p:sp>
      <p:sp>
        <p:nvSpPr>
          <p:cNvPr id="21" name="text-20"/>
          <p:cNvSpPr txBox="1"/>
          <p:nvPr/>
        </p:nvSpPr>
        <p:spPr>
          <a:xfrm>
            <a:off x="8591550" y="2095500"/>
            <a:ext cx="8763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31 → 10K</a:t>
            </a:r>
            <a:endParaRPr lang="en-US" sz="1200" dirty="0"/>
          </a:p>
        </p:txBody>
      </p:sp>
      <p:sp>
        <p:nvSpPr>
          <p:cNvPr id="22" name="title-21"/>
          <p:cNvSpPr txBox="1"/>
          <p:nvPr/>
        </p:nvSpPr>
        <p:spPr>
          <a:xfrm>
            <a:off x="2540000" y="2565400"/>
            <a:ext cx="8839200" cy="1079500"/>
          </a:xfrm>
          <a:prstGeom prst="rect">
            <a:avLst/>
          </a:prstGeom>
          <a:noFill/>
          <a:ln/>
        </p:spPr>
        <p:txBody>
          <a:bodyPr wrap="square" lIns="0" tIns="0" rIns="0" bIns="0" rtlCol="0" anchor="t"/>
          <a:lstStyle/>
          <a:p>
            <a:pPr algn="ctr" indent="0" marL="0">
              <a:lnSpc>
                <a:spcPct val="110000"/>
              </a:lnSpc>
              <a:buNone/>
            </a:pPr>
            <a:r>
              <a:rPr lang="en-US" sz="6500" spc="-390" kern="0" dirty="0">
                <a:solidFill>
                  <a:srgbClr val="0F0F0F"/>
                </a:solidFill>
                <a:latin typeface="Fraunces" pitchFamily="34" charset="0"/>
                <a:ea typeface="Fraunces" pitchFamily="34" charset="-122"/>
                <a:cs typeface="Fraunces" pitchFamily="34" charset="-120"/>
              </a:rPr>
              <a:t>Hooks for </a:t>
            </a:r>
            <a:pPr algn="ctr" indent="0" marL="0">
              <a:lnSpc>
                <a:spcPct val="110000"/>
              </a:lnSpc>
              <a:buNone/>
            </a:pPr>
            <a:r>
              <a:rPr lang="en-US" sz="6500" i="1" spc="-390" kern="0" dirty="0">
                <a:solidFill>
                  <a:srgbClr val="FF0090"/>
                </a:solidFill>
                <a:latin typeface="Fraunces" pitchFamily="34" charset="0"/>
                <a:ea typeface="Fraunces" pitchFamily="34" charset="-122"/>
                <a:cs typeface="Fraunces" pitchFamily="34" charset="-120"/>
              </a:rPr>
              <a:t>this week.</a:t>
            </a:r>
            <a:endParaRPr lang="en-US" sz="6500" dirty="0"/>
          </a:p>
        </p:txBody>
      </p:sp>
      <p:sp>
        <p:nvSpPr>
          <p:cNvPr id="23" name="text-22"/>
          <p:cNvSpPr txBox="1"/>
          <p:nvPr/>
        </p:nvSpPr>
        <p:spPr>
          <a:xfrm>
            <a:off x="3784600" y="3784600"/>
            <a:ext cx="6350000" cy="1092200"/>
          </a:xfrm>
          <a:prstGeom prst="rect">
            <a:avLst/>
          </a:prstGeom>
          <a:noFill/>
          <a:ln/>
        </p:spPr>
        <p:txBody>
          <a:bodyPr wrap="square" lIns="0" tIns="0" rIns="0" bIns="0" rtlCol="0" anchor="t"/>
          <a:lstStyle/>
          <a:p>
            <a:pPr algn="ctr" indent="0" marL="0">
              <a:lnSpc>
                <a:spcPct val="150000"/>
              </a:lnSpc>
              <a:buNone/>
            </a:pPr>
            <a:r>
              <a:rPr lang="en-US" sz="1400" dirty="0">
                <a:solidFill>
                  <a:srgbClr val="313336"/>
                </a:solidFill>
                <a:latin typeface="Inter" pitchFamily="34" charset="0"/>
                <a:ea typeface="Inter" pitchFamily="34" charset="-122"/>
                <a:cs typeface="Inter" pitchFamily="34" charset="-120"/>
              </a:rPr>
              <a:t>15 videos, one slide each. Every hook passed one question first: if I were the viewer, would I care? Every one borrows a move from a creator who is going viral. Beats, captions and hashtags are in the speaker notes.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C"/>
        </a:solidFill>
      </p:bgPr>
    </p:bg>
    <p:spTree>
      <p:nvGrpSpPr>
        <p:cNvPr id="1" name=""/>
        <p:cNvGrpSpPr/>
        <p:nvPr/>
      </p:nvGrpSpPr>
      <p:grpSpPr>
        <a:xfrm>
          <a:off x="0" y="0"/>
          <a:ext cx="0" cy="0"/>
          <a:chOff x="0" y="0"/>
          <a:chExt cx="0" cy="0"/>
        </a:xfrm>
      </p:grpSpPr>
      <p:sp>
        <p:nvSpPr>
          <p:cNvPr id="2" name="shape-23"/>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text-24"/>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BEFORE ANYTHING SHIPS</a:t>
            </a:r>
            <a:endParaRPr lang="en-US" sz="1200" dirty="0"/>
          </a:p>
        </p:txBody>
      </p:sp>
      <p:sp>
        <p:nvSpPr>
          <p:cNvPr id="4" name="title-25"/>
          <p:cNvSpPr txBox="1"/>
          <p:nvPr/>
        </p:nvSpPr>
        <p:spPr>
          <a:xfrm>
            <a:off x="812800" y="1117600"/>
            <a:ext cx="10566400" cy="647700"/>
          </a:xfrm>
          <a:prstGeom prst="rect">
            <a:avLst/>
          </a:prstGeom>
          <a:noFill/>
          <a:ln/>
        </p:spPr>
        <p:txBody>
          <a:bodyPr wrap="square" lIns="0" tIns="0" rIns="0" bIns="0" rtlCol="0" anchor="t"/>
          <a:lstStyle/>
          <a:p>
            <a:pPr algn="l" indent="0" marL="0">
              <a:lnSpc>
                <a:spcPct val="110000"/>
              </a:lnSpc>
              <a:buNone/>
            </a:pPr>
            <a:r>
              <a:rPr lang="en-US" sz="4000" spc="-240" kern="0" dirty="0">
                <a:solidFill>
                  <a:srgbClr val="0F0F0F"/>
                </a:solidFill>
                <a:latin typeface="Fraunces" pitchFamily="34" charset="0"/>
                <a:ea typeface="Fraunces" pitchFamily="34" charset="-122"/>
                <a:cs typeface="Fraunces" pitchFamily="34" charset="-120"/>
              </a:rPr>
              <a:t>If I were the </a:t>
            </a:r>
            <a:pPr algn="l" indent="0" marL="0">
              <a:lnSpc>
                <a:spcPct val="110000"/>
              </a:lnSpc>
              <a:buNone/>
            </a:pPr>
            <a:r>
              <a:rPr lang="en-US" sz="4000" i="1" spc="-240" kern="0" dirty="0">
                <a:solidFill>
                  <a:srgbClr val="FF0090"/>
                </a:solidFill>
                <a:latin typeface="Fraunces" pitchFamily="34" charset="0"/>
                <a:ea typeface="Fraunces" pitchFamily="34" charset="-122"/>
                <a:cs typeface="Fraunces" pitchFamily="34" charset="-120"/>
              </a:rPr>
              <a:t>viewer</a:t>
            </a:r>
            <a:pPr algn="l" indent="0" marL="0">
              <a:lnSpc>
                <a:spcPct val="110000"/>
              </a:lnSpc>
              <a:buNone/>
            </a:pPr>
            <a:r>
              <a:rPr lang="en-US" sz="4000" spc="-240" kern="0" dirty="0">
                <a:solidFill>
                  <a:srgbClr val="0F0F0F"/>
                </a:solidFill>
                <a:latin typeface="Fraunces" pitchFamily="34" charset="0"/>
                <a:ea typeface="Fraunces" pitchFamily="34" charset="-122"/>
                <a:cs typeface="Fraunces" pitchFamily="34" charset="-120"/>
              </a:rPr>
              <a:t>, would I care?</a:t>
            </a:r>
            <a:endParaRPr lang="en-US" sz="4000" dirty="0"/>
          </a:p>
        </p:txBody>
      </p:sp>
      <p:sp>
        <p:nvSpPr>
          <p:cNvPr id="5" name="shape-26"/>
          <p:cNvSpPr/>
          <p:nvPr/>
        </p:nvSpPr>
        <p:spPr>
          <a:xfrm>
            <a:off x="812800" y="1917700"/>
            <a:ext cx="3420533" cy="2794000"/>
          </a:xfrm>
          <a:prstGeom prst="roundRect">
            <a:avLst>
              <a:gd name="adj" fmla="val 3636"/>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6" name="shape-27"/>
          <p:cNvSpPr/>
          <p:nvPr/>
        </p:nvSpPr>
        <p:spPr>
          <a:xfrm>
            <a:off x="4385733" y="1917700"/>
            <a:ext cx="3420533" cy="2794000"/>
          </a:xfrm>
          <a:prstGeom prst="roundRect">
            <a:avLst>
              <a:gd name="adj" fmla="val 3636"/>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7" name="shape-28"/>
          <p:cNvSpPr/>
          <p:nvPr/>
        </p:nvSpPr>
        <p:spPr>
          <a:xfrm>
            <a:off x="7958667" y="1917700"/>
            <a:ext cx="3420533" cy="2794000"/>
          </a:xfrm>
          <a:prstGeom prst="roundRect">
            <a:avLst>
              <a:gd name="adj" fmla="val 3636"/>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8" name="paras-29"/>
          <p:cNvSpPr txBox="1"/>
          <p:nvPr/>
        </p:nvSpPr>
        <p:spPr>
          <a:xfrm>
            <a:off x="1016000" y="2095500"/>
            <a:ext cx="3014133" cy="2438400"/>
          </a:xfrm>
          <a:prstGeom prst="rect">
            <a:avLst/>
          </a:prstGeom>
          <a:noFill/>
          <a:ln/>
        </p:spPr>
        <p:txBody>
          <a:bodyPr wrap="square" lIns="0" tIns="0" rIns="0" bIns="0" rtlCol="0" anchor="t"/>
          <a:lstStyle/>
          <a:p>
            <a:pPr indent="0" marL="0">
              <a:lnSpc>
                <a:spcPct val="100000"/>
              </a:lnSpc>
              <a:spcAft>
                <a:spcPts val="1000"/>
              </a:spcAft>
              <a:buNone/>
            </a:pPr>
            <a:r>
              <a:rPr lang="en-US" sz="3600" i="1" dirty="0">
                <a:solidFill>
                  <a:srgbClr val="FF0090"/>
                </a:solidFill>
                <a:latin typeface="Fraunces" pitchFamily="34" charset="0"/>
                <a:ea typeface="Fraunces" pitchFamily="34" charset="-122"/>
                <a:cs typeface="Fraunces" pitchFamily="34" charset="-120"/>
              </a:rPr>
              <a:t>1</a:t>
            </a:r>
            <a:endParaRPr lang="en-US" sz="3600" dirty="0"/>
          </a:p>
          <a:p>
            <a:pPr indent="0" marL="0">
              <a:lnSpc>
                <a:spcPct val="115000"/>
              </a:lnSpc>
              <a:spcAft>
                <a:spcPts val="1000"/>
              </a:spcAft>
              <a:buNone/>
            </a:pPr>
            <a:r>
              <a:rPr lang="en-US" sz="1500" spc="-75" kern="0" dirty="0">
                <a:solidFill>
                  <a:srgbClr val="0F0F0F"/>
                </a:solidFill>
                <a:latin typeface="Fraunces" pitchFamily="34" charset="0"/>
                <a:ea typeface="Fraunces" pitchFamily="34" charset="-122"/>
                <a:cs typeface="Fraunces" pitchFamily="34" charset="-120"/>
              </a:rPr>
              <a:t>Something for them in the first line</a:t>
            </a:r>
            <a:endParaRPr lang="en-US" sz="3600" dirty="0"/>
          </a:p>
          <a:p>
            <a:pPr indent="0" marL="0">
              <a:lnSpc>
                <a:spcPct val="140000"/>
              </a:lnSpc>
              <a:spcAft>
                <a:spcPts val="600"/>
              </a:spcAft>
              <a:buNone/>
            </a:pPr>
            <a:r>
              <a:rPr lang="en-US" sz="1250" dirty="0">
                <a:solidFill>
                  <a:srgbClr val="313336"/>
                </a:solidFill>
                <a:latin typeface="Inter" pitchFamily="34" charset="0"/>
                <a:ea typeface="Inter" pitchFamily="34" charset="-122"/>
                <a:cs typeface="Inter" pitchFamily="34" charset="-120"/>
              </a:rPr>
              <a:t>A lesson, a number, a payoff, a feeling. “Day 2 of my challenge” is about you. “3 videos, 1 worked, here’s the difference” is about them.</a:t>
            </a:r>
            <a:endParaRPr lang="en-US" sz="3600" dirty="0"/>
          </a:p>
        </p:txBody>
      </p:sp>
      <p:sp>
        <p:nvSpPr>
          <p:cNvPr id="9" name="paras-30"/>
          <p:cNvSpPr txBox="1"/>
          <p:nvPr/>
        </p:nvSpPr>
        <p:spPr>
          <a:xfrm>
            <a:off x="4588933" y="2095500"/>
            <a:ext cx="3014133" cy="2438400"/>
          </a:xfrm>
          <a:prstGeom prst="rect">
            <a:avLst/>
          </a:prstGeom>
          <a:noFill/>
          <a:ln/>
        </p:spPr>
        <p:txBody>
          <a:bodyPr wrap="square" lIns="0" tIns="0" rIns="0" bIns="0" rtlCol="0" anchor="t"/>
          <a:lstStyle/>
          <a:p>
            <a:pPr indent="0" marL="0">
              <a:lnSpc>
                <a:spcPct val="100000"/>
              </a:lnSpc>
              <a:spcAft>
                <a:spcPts val="1000"/>
              </a:spcAft>
              <a:buNone/>
            </a:pPr>
            <a:r>
              <a:rPr lang="en-US" sz="3600" i="1" dirty="0">
                <a:solidFill>
                  <a:srgbClr val="FF0090"/>
                </a:solidFill>
                <a:latin typeface="Fraunces" pitchFamily="34" charset="0"/>
                <a:ea typeface="Fraunces" pitchFamily="34" charset="-122"/>
                <a:cs typeface="Fraunces" pitchFamily="34" charset="-120"/>
              </a:rPr>
              <a:t>2</a:t>
            </a:r>
            <a:endParaRPr lang="en-US" sz="3600" dirty="0"/>
          </a:p>
          <a:p>
            <a:pPr indent="0" marL="0">
              <a:lnSpc>
                <a:spcPct val="115000"/>
              </a:lnSpc>
              <a:spcAft>
                <a:spcPts val="1000"/>
              </a:spcAft>
              <a:buNone/>
            </a:pPr>
            <a:r>
              <a:rPr lang="en-US" sz="1500" spc="-75" kern="0" dirty="0">
                <a:solidFill>
                  <a:srgbClr val="0F0F0F"/>
                </a:solidFill>
                <a:latin typeface="Fraunces" pitchFamily="34" charset="0"/>
                <a:ea typeface="Fraunces" pitchFamily="34" charset="-122"/>
                <a:cs typeface="Fraunces" pitchFamily="34" charset="-120"/>
              </a:rPr>
              <a:t>Would a stranger stop?</a:t>
            </a:r>
            <a:endParaRPr lang="en-US" sz="3600" dirty="0"/>
          </a:p>
          <a:p>
            <a:pPr indent="0" marL="0">
              <a:lnSpc>
                <a:spcPct val="140000"/>
              </a:lnSpc>
              <a:spcAft>
                <a:spcPts val="600"/>
              </a:spcAft>
              <a:buNone/>
            </a:pPr>
            <a:r>
              <a:rPr lang="en-US" sz="1250" dirty="0">
                <a:solidFill>
                  <a:srgbClr val="313336"/>
                </a:solidFill>
                <a:latin typeface="Inter" pitchFamily="34" charset="0"/>
                <a:ea typeface="Inter" pitchFamily="34" charset="-122"/>
                <a:cs typeface="Inter" pitchFamily="34" charset="-120"/>
              </a:rPr>
              <a:t>Not a friend, not a follower. A stranger, mid-scroll, sound off. If the answer is “only if they know me”, the hook is not done.</a:t>
            </a:r>
            <a:endParaRPr lang="en-US" sz="3600" dirty="0"/>
          </a:p>
        </p:txBody>
      </p:sp>
      <p:sp>
        <p:nvSpPr>
          <p:cNvPr id="10" name="paras-31"/>
          <p:cNvSpPr txBox="1"/>
          <p:nvPr/>
        </p:nvSpPr>
        <p:spPr>
          <a:xfrm>
            <a:off x="8161867" y="2095500"/>
            <a:ext cx="3014133" cy="2438400"/>
          </a:xfrm>
          <a:prstGeom prst="rect">
            <a:avLst/>
          </a:prstGeom>
          <a:noFill/>
          <a:ln/>
        </p:spPr>
        <p:txBody>
          <a:bodyPr wrap="square" lIns="0" tIns="0" rIns="0" bIns="0" rtlCol="0" anchor="t"/>
          <a:lstStyle/>
          <a:p>
            <a:pPr indent="0" marL="0">
              <a:lnSpc>
                <a:spcPct val="100000"/>
              </a:lnSpc>
              <a:spcAft>
                <a:spcPts val="1000"/>
              </a:spcAft>
              <a:buNone/>
            </a:pPr>
            <a:r>
              <a:rPr lang="en-US" sz="3600" i="1" dirty="0">
                <a:solidFill>
                  <a:srgbClr val="FF0090"/>
                </a:solidFill>
                <a:latin typeface="Fraunces" pitchFamily="34" charset="0"/>
                <a:ea typeface="Fraunces" pitchFamily="34" charset="-122"/>
                <a:cs typeface="Fraunces" pitchFamily="34" charset="-120"/>
              </a:rPr>
              <a:t>3</a:t>
            </a:r>
            <a:endParaRPr lang="en-US" sz="3600" dirty="0"/>
          </a:p>
          <a:p>
            <a:pPr indent="0" marL="0">
              <a:lnSpc>
                <a:spcPct val="115000"/>
              </a:lnSpc>
              <a:spcAft>
                <a:spcPts val="1000"/>
              </a:spcAft>
              <a:buNone/>
            </a:pPr>
            <a:r>
              <a:rPr lang="en-US" sz="1500" spc="-75" kern="0" dirty="0">
                <a:solidFill>
                  <a:srgbClr val="0F0F0F"/>
                </a:solidFill>
                <a:latin typeface="Fraunces" pitchFamily="34" charset="0"/>
                <a:ea typeface="Fraunces" pitchFamily="34" charset="-122"/>
                <a:cs typeface="Fraunces" pitchFamily="34" charset="-120"/>
              </a:rPr>
              <a:t>Diary or lesson?</a:t>
            </a:r>
            <a:endParaRPr lang="en-US" sz="3600" dirty="0"/>
          </a:p>
          <a:p>
            <a:pPr indent="0" marL="0">
              <a:lnSpc>
                <a:spcPct val="140000"/>
              </a:lnSpc>
              <a:spcAft>
                <a:spcPts val="600"/>
              </a:spcAft>
              <a:buNone/>
            </a:pPr>
            <a:r>
              <a:rPr lang="en-US" sz="1250" dirty="0">
                <a:solidFill>
                  <a:srgbClr val="313336"/>
                </a:solidFill>
                <a:latin typeface="Inter" pitchFamily="34" charset="0"/>
                <a:ea typeface="Inter" pitchFamily="34" charset="-122"/>
                <a:cs typeface="Inter" pitchFamily="34" charset="-120"/>
              </a:rPr>
              <a:t>Updates are allowed. The hook carries the lesson; the update is the proof. The raw diary goes to Stories.</a:t>
            </a:r>
            <a:endParaRPr lang="en-US" sz="3600" dirty="0"/>
          </a:p>
        </p:txBody>
      </p:sp>
      <p:sp>
        <p:nvSpPr>
          <p:cNvPr id="11" name="text-32"/>
          <p:cNvSpPr txBox="1"/>
          <p:nvPr/>
        </p:nvSpPr>
        <p:spPr>
          <a:xfrm>
            <a:off x="812800" y="4889500"/>
            <a:ext cx="10566400" cy="571500"/>
          </a:xfrm>
          <a:prstGeom prst="rect">
            <a:avLst/>
          </a:prstGeom>
          <a:noFill/>
          <a:ln/>
        </p:spPr>
        <p:txBody>
          <a:bodyPr wrap="square" lIns="0" tIns="0" rIns="0" bIns="0" rtlCol="0" anchor="t"/>
          <a:lstStyle/>
          <a:p>
            <a:pPr algn="l" indent="0" marL="0">
              <a:lnSpc>
                <a:spcPct val="130000"/>
              </a:lnSpc>
              <a:buNone/>
            </a:pPr>
            <a:r>
              <a:rPr lang="en-US" sz="1500" i="1" spc="-50" kern="0" dirty="0">
                <a:solidFill>
                  <a:srgbClr val="313336"/>
                </a:solidFill>
                <a:latin typeface="Fraunces" pitchFamily="34" charset="0"/>
                <a:ea typeface="Fraunces" pitchFamily="34" charset="-122"/>
                <a:cs typeface="Fraunces" pitchFamily="34" charset="-120"/>
              </a:rPr>
              <a:t>A diary entry fails it. A lesson, a number, a payoff or a feeling passes it. If the answer is no, rewrite it or cut 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C"/>
        </a:solidFill>
      </p:bgPr>
    </p:bg>
    <p:spTree>
      <p:nvGrpSpPr>
        <p:cNvPr id="1" name=""/>
        <p:cNvGrpSpPr/>
        <p:nvPr/>
      </p:nvGrpSpPr>
      <p:grpSpPr>
        <a:xfrm>
          <a:off x="0" y="0"/>
          <a:ext cx="0" cy="0"/>
          <a:chOff x="0" y="0"/>
          <a:chExt cx="0" cy="0"/>
        </a:xfrm>
      </p:grpSpPr>
      <p:sp>
        <p:nvSpPr>
          <p:cNvPr id="2" name="shape-33"/>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text-34"/>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THREE VIEWERS, ONE PER VIDEO</a:t>
            </a:r>
            <a:endParaRPr lang="en-US" sz="1200" dirty="0"/>
          </a:p>
        </p:txBody>
      </p:sp>
      <p:sp>
        <p:nvSpPr>
          <p:cNvPr id="4" name="title-35"/>
          <p:cNvSpPr txBox="1"/>
          <p:nvPr/>
        </p:nvSpPr>
        <p:spPr>
          <a:xfrm>
            <a:off x="812800" y="1117600"/>
            <a:ext cx="10566400" cy="589280"/>
          </a:xfrm>
          <a:prstGeom prst="rect">
            <a:avLst/>
          </a:prstGeom>
          <a:noFill/>
          <a:ln/>
        </p:spPr>
        <p:txBody>
          <a:bodyPr wrap="square" lIns="0" tIns="0" rIns="0" bIns="0" rtlCol="0" anchor="t"/>
          <a:lstStyle/>
          <a:p>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Who each video is </a:t>
            </a:r>
            <a:pPr algn="l" indent="0" marL="0">
              <a:lnSpc>
                <a:spcPct val="110000"/>
              </a:lnSpc>
              <a:buNone/>
            </a:pPr>
            <a:r>
              <a:rPr lang="en-US" sz="3600" i="1" spc="-216" kern="0" dirty="0">
                <a:solidFill>
                  <a:srgbClr val="FF0090"/>
                </a:solidFill>
                <a:latin typeface="Fraunces" pitchFamily="34" charset="0"/>
                <a:ea typeface="Fraunces" pitchFamily="34" charset="-122"/>
                <a:cs typeface="Fraunces" pitchFamily="34" charset="-120"/>
              </a:rPr>
              <a:t>for</a:t>
            </a:r>
            <a:endParaRPr lang="en-US" sz="3600" dirty="0"/>
          </a:p>
        </p:txBody>
      </p:sp>
      <p:graphicFrame>
        <p:nvGraphicFramePr>
          <p:cNvPr id="4" name="table-36"/>
          <p:cNvGraphicFramePr>
            <a:graphicFrameLocks noGrp="1"/>
          </p:cNvGraphicFramePr>
          <p:nvPr>
            <p:extLst>
              <p:ext uri="{D42A27DB-BD31-4B8C-83A1-F6EECF244321}">
                <p14:modId xmlns:p14="http://schemas.microsoft.com/office/powerpoint/2010/main" val="1579011935"/>
              </p:ext>
            </p:extLst>
          </p:nvPr>
        </p:nvGraphicFramePr>
        <p:xfrm>
          <a:off x="812800" y="1884680"/>
          <a:ext cx="10566400" cy="914400"/>
        </p:xfrm>
        <a:graphic>
          <a:graphicData uri="http://schemas.openxmlformats.org/drawingml/2006/table">
            <a:tbl>
              <a:tblPr/>
              <a:tblGrid>
                <a:gridCol w="3810000"/>
                <a:gridCol w="4064000"/>
                <a:gridCol w="2692400"/>
              </a:tblGrid>
              <a:tr h="444500">
                <a:tc>
                  <a:txBody>
                    <a:bodyPr/>
                    <a:lstStyle/>
                    <a:p>
                      <a:pPr indent="0" marL="0">
                        <a:buNone/>
                      </a:pPr>
                      <a:r>
                        <a:rPr lang="en-US" sz="1300" b="1" dirty="0">
                          <a:solidFill>
                            <a:srgbClr val="0F0F0F"/>
                          </a:solidFill>
                          <a:latin typeface="Inter" pitchFamily="34" charset="0"/>
                          <a:ea typeface="Inter" pitchFamily="34" charset="-122"/>
                          <a:cs typeface="Inter" pitchFamily="34" charset="-120"/>
                        </a:rPr>
                        <a:t>Viewer</a:t>
                      </a:r>
                      <a:endParaRPr lang="en-US" sz="1300" dirty="0">
                        <a:latin typeface="Inter" charset="0"/>
                        <a:ea typeface="Inter" charset="0"/>
                        <a:cs typeface="Inter" charset="0"/>
                      </a:endParaRPr>
                    </a:p>
                  </a:txBody>
                  <a:tcPr marL="114300" marR="114300" marT="88900" marB="889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8F8F8"/>
                    </a:solidFill>
                  </a:tcPr>
                </a:tc>
                <a:tc>
                  <a:txBody>
                    <a:bodyPr/>
                    <a:lstStyle/>
                    <a:p>
                      <a:pPr indent="0" marL="0">
                        <a:buNone/>
                      </a:pPr>
                      <a:r>
                        <a:rPr lang="en-US" sz="1300" b="1" dirty="0">
                          <a:solidFill>
                            <a:srgbClr val="0F0F0F"/>
                          </a:solidFill>
                          <a:latin typeface="Inter" pitchFamily="34" charset="0"/>
                          <a:ea typeface="Inter" pitchFamily="34" charset="-122"/>
                          <a:cs typeface="Inter" pitchFamily="34" charset="-120"/>
                        </a:rPr>
                        <a:t>What they want from you</a:t>
                      </a:r>
                      <a:endParaRPr lang="en-US" sz="1300" dirty="0">
                        <a:latin typeface="Inter" charset="0"/>
                        <a:ea typeface="Inter" charset="0"/>
                        <a:cs typeface="Inter" charset="0"/>
                      </a:endParaRPr>
                    </a:p>
                  </a:txBody>
                  <a:tcPr marL="114300" marR="114300" marT="88900" marB="889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8F8F8"/>
                    </a:solidFill>
                  </a:tcPr>
                </a:tc>
                <a:tc>
                  <a:txBody>
                    <a:bodyPr/>
                    <a:lstStyle/>
                    <a:p>
                      <a:pPr indent="0" marL="0">
                        <a:buNone/>
                      </a:pPr>
                      <a:r>
                        <a:rPr lang="en-US" sz="1300" b="1" dirty="0">
                          <a:solidFill>
                            <a:srgbClr val="0F0F0F"/>
                          </a:solidFill>
                          <a:latin typeface="Inter" pitchFamily="34" charset="0"/>
                          <a:ea typeface="Inter" pitchFamily="34" charset="-122"/>
                          <a:cs typeface="Inter" pitchFamily="34" charset="-120"/>
                        </a:rPr>
                        <a:t>Videos</a:t>
                      </a:r>
                      <a:endParaRPr lang="en-US" sz="1300" dirty="0">
                        <a:latin typeface="Inter" charset="0"/>
                        <a:ea typeface="Inter" charset="0"/>
                        <a:cs typeface="Inter" charset="0"/>
                      </a:endParaRPr>
                    </a:p>
                  </a:txBody>
                  <a:tcPr marL="114300" marR="114300" marT="88900" marB="889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8F8F8"/>
                    </a:solidFill>
                  </a:tcPr>
                </a:tc>
              </a:tr>
              <a:tr h="660400">
                <a:tc>
                  <a:txBody>
                    <a:bodyPr/>
                    <a:lstStyle/>
                    <a:p>
                      <a:pPr indent="0" marL="0">
                        <a:buNone/>
                      </a:pPr>
                      <a:r>
                        <a:rPr lang="en-US" sz="1300" dirty="0">
                          <a:solidFill>
                            <a:srgbClr val="313336"/>
                          </a:solidFill>
                          <a:latin typeface="Inter" pitchFamily="34" charset="0"/>
                          <a:ea typeface="Inter" pitchFamily="34" charset="-122"/>
                          <a:cs typeface="Inter" pitchFamily="34" charset="-120"/>
                        </a:rPr>
                        <a:t>The student creative: has a skill or wants one, no money, no clients</a:t>
                      </a:r>
                      <a:endParaRPr lang="en-US" sz="1300" dirty="0">
                        <a:latin typeface="Inter" charset="0"/>
                        <a:ea typeface="Inter" charset="0"/>
                        <a:cs typeface="Inter" charset="0"/>
                      </a:endParaRPr>
                    </a:p>
                  </a:txBody>
                  <a:tcPr marL="114300" marR="114300" marT="88900" marB="889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tcPr>
                </a:tc>
                <a:tc>
                  <a:txBody>
                    <a:bodyPr/>
                    <a:lstStyle/>
                    <a:p>
                      <a:pPr indent="0" marL="0">
                        <a:buNone/>
                      </a:pPr>
                      <a:r>
                        <a:rPr lang="en-US" sz="1300" dirty="0">
                          <a:solidFill>
                            <a:srgbClr val="313336"/>
                          </a:solidFill>
                          <a:latin typeface="Inter" pitchFamily="34" charset="0"/>
                          <a:ea typeface="Inter" pitchFamily="34" charset="-122"/>
                          <a:cs typeface="Inter" pitchFamily="34" charset="-120"/>
                        </a:rPr>
                        <a:t>A way to get paid this month without a part-time job</a:t>
                      </a:r>
                      <a:endParaRPr lang="en-US" sz="1300" dirty="0">
                        <a:latin typeface="Inter" charset="0"/>
                        <a:ea typeface="Inter" charset="0"/>
                        <a:cs typeface="Inter" charset="0"/>
                      </a:endParaRPr>
                    </a:p>
                  </a:txBody>
                  <a:tcPr marL="114300" marR="114300" marT="88900" marB="889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tcPr>
                </a:tc>
                <a:tc>
                  <a:txBody>
                    <a:bodyPr/>
                    <a:lstStyle/>
                    <a:p>
                      <a:pPr indent="0" marL="0">
                        <a:buNone/>
                      </a:pPr>
                      <a:r>
                        <a:rPr lang="en-US" sz="1300" dirty="0">
                          <a:solidFill>
                            <a:srgbClr val="313336"/>
                          </a:solidFill>
                          <a:latin typeface="Inter" pitchFamily="34" charset="0"/>
                          <a:ea typeface="Inter" pitchFamily="34" charset="-122"/>
                          <a:cs typeface="Inter" pitchFamily="34" charset="-120"/>
                        </a:rPr>
                        <a:t>1, 2, 5, 6, 10, 12, 13, 15</a:t>
                      </a:r>
                      <a:endParaRPr lang="en-US" sz="1300" dirty="0">
                        <a:latin typeface="Inter" charset="0"/>
                        <a:ea typeface="Inter" charset="0"/>
                        <a:cs typeface="Inter" charset="0"/>
                      </a:endParaRPr>
                    </a:p>
                  </a:txBody>
                  <a:tcPr marL="114300" marR="114300" marT="88900" marB="889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tcPr>
                </a:tc>
              </a:tr>
              <a:tr h="660400">
                <a:tc>
                  <a:txBody>
                    <a:bodyPr/>
                    <a:lstStyle/>
                    <a:p>
                      <a:pPr indent="0" marL="0">
                        <a:buNone/>
                      </a:pPr>
                      <a:r>
                        <a:rPr lang="en-US" sz="1300" dirty="0">
                          <a:solidFill>
                            <a:srgbClr val="313336"/>
                          </a:solidFill>
                          <a:latin typeface="Inter" pitchFamily="34" charset="0"/>
                          <a:ea typeface="Inter" pitchFamily="34" charset="-122"/>
                          <a:cs typeface="Inter" pitchFamily="34" charset="-120"/>
                        </a:rPr>
                        <a:t>The small creator, under 10K, wants brand deals and PR</a:t>
                      </a:r>
                      <a:endParaRPr lang="en-US" sz="1300" dirty="0">
                        <a:latin typeface="Inter" charset="0"/>
                        <a:ea typeface="Inter" charset="0"/>
                        <a:cs typeface="Inter" charset="0"/>
                      </a:endParaRPr>
                    </a:p>
                  </a:txBody>
                  <a:tcPr marL="114300" marR="114300" marT="88900" marB="889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tcPr>
                </a:tc>
                <a:tc>
                  <a:txBody>
                    <a:bodyPr/>
                    <a:lstStyle/>
                    <a:p>
                      <a:pPr indent="0" marL="0">
                        <a:buNone/>
                      </a:pPr>
                      <a:r>
                        <a:rPr lang="en-US" sz="1300" dirty="0">
                          <a:solidFill>
                            <a:srgbClr val="313336"/>
                          </a:solidFill>
                          <a:latin typeface="Inter" pitchFamily="34" charset="0"/>
                          <a:ea typeface="Inter" pitchFamily="34" charset="-122"/>
                          <a:cs typeface="Inter" pitchFamily="34" charset="-120"/>
                        </a:rPr>
                        <a:t>What actually gets a brand to say yes</a:t>
                      </a:r>
                      <a:endParaRPr lang="en-US" sz="1300" dirty="0">
                        <a:latin typeface="Inter" charset="0"/>
                        <a:ea typeface="Inter" charset="0"/>
                        <a:cs typeface="Inter" charset="0"/>
                      </a:endParaRPr>
                    </a:p>
                  </a:txBody>
                  <a:tcPr marL="114300" marR="114300" marT="88900" marB="889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tcPr>
                </a:tc>
                <a:tc>
                  <a:txBody>
                    <a:bodyPr/>
                    <a:lstStyle/>
                    <a:p>
                      <a:pPr indent="0" marL="0">
                        <a:buNone/>
                      </a:pPr>
                      <a:r>
                        <a:rPr lang="en-US" sz="1300" dirty="0">
                          <a:solidFill>
                            <a:srgbClr val="313336"/>
                          </a:solidFill>
                          <a:latin typeface="Inter" pitchFamily="34" charset="0"/>
                          <a:ea typeface="Inter" pitchFamily="34" charset="-122"/>
                          <a:cs typeface="Inter" pitchFamily="34" charset="-120"/>
                        </a:rPr>
                        <a:t>4, 7, 9</a:t>
                      </a:r>
                      <a:endParaRPr lang="en-US" sz="1300" dirty="0">
                        <a:latin typeface="Inter" charset="0"/>
                        <a:ea typeface="Inter" charset="0"/>
                        <a:cs typeface="Inter" charset="0"/>
                      </a:endParaRPr>
                    </a:p>
                  </a:txBody>
                  <a:tcPr marL="114300" marR="114300" marT="88900" marB="889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tcPr>
                </a:tc>
              </a:tr>
              <a:tr h="660400">
                <a:tc>
                  <a:txBody>
                    <a:bodyPr/>
                    <a:lstStyle/>
                    <a:p>
                      <a:pPr indent="0" marL="0">
                        <a:buNone/>
                      </a:pPr>
                      <a:r>
                        <a:rPr lang="en-US" sz="1300" dirty="0">
                          <a:solidFill>
                            <a:srgbClr val="313336"/>
                          </a:solidFill>
                          <a:latin typeface="Inter" pitchFamily="34" charset="0"/>
                          <a:ea typeface="Inter" pitchFamily="34" charset="-122"/>
                          <a:cs typeface="Inter" pitchFamily="34" charset="-120"/>
                        </a:rPr>
                        <a:t>The small business owner who needs a flyer, a site or a Reel</a:t>
                      </a:r>
                      <a:endParaRPr lang="en-US" sz="1300" dirty="0">
                        <a:latin typeface="Inter" charset="0"/>
                        <a:ea typeface="Inter" charset="0"/>
                        <a:cs typeface="Inter" charset="0"/>
                      </a:endParaRPr>
                    </a:p>
                  </a:txBody>
                  <a:tcPr marL="114300" marR="114300" marT="88900" marB="889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tcPr>
                </a:tc>
                <a:tc>
                  <a:txBody>
                    <a:bodyPr/>
                    <a:lstStyle/>
                    <a:p>
                      <a:pPr indent="0" marL="0">
                        <a:buNone/>
                      </a:pPr>
                      <a:r>
                        <a:rPr lang="en-US" sz="1300" dirty="0">
                          <a:solidFill>
                            <a:srgbClr val="313336"/>
                          </a:solidFill>
                          <a:latin typeface="Inter" pitchFamily="34" charset="0"/>
                          <a:ea typeface="Inter" pitchFamily="34" charset="-122"/>
                          <a:cs typeface="Inter" pitchFamily="34" charset="-120"/>
                        </a:rPr>
                        <a:t>What they get for the money, and why it is worth it</a:t>
                      </a:r>
                      <a:endParaRPr lang="en-US" sz="1300" dirty="0">
                        <a:latin typeface="Inter" charset="0"/>
                        <a:ea typeface="Inter" charset="0"/>
                        <a:cs typeface="Inter" charset="0"/>
                      </a:endParaRPr>
                    </a:p>
                  </a:txBody>
                  <a:tcPr marL="114300" marR="114300" marT="88900" marB="889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tcPr>
                </a:tc>
                <a:tc>
                  <a:txBody>
                    <a:bodyPr/>
                    <a:lstStyle/>
                    <a:p>
                      <a:pPr indent="0" marL="0">
                        <a:buNone/>
                      </a:pPr>
                      <a:r>
                        <a:rPr lang="en-US" sz="1300" dirty="0">
                          <a:solidFill>
                            <a:srgbClr val="313336"/>
                          </a:solidFill>
                          <a:latin typeface="Inter" pitchFamily="34" charset="0"/>
                          <a:ea typeface="Inter" pitchFamily="34" charset="-122"/>
                          <a:cs typeface="Inter" pitchFamily="34" charset="-120"/>
                        </a:rPr>
                        <a:t>3, 8, 11</a:t>
                      </a:r>
                      <a:endParaRPr lang="en-US" sz="1300" dirty="0">
                        <a:latin typeface="Inter" charset="0"/>
                        <a:ea typeface="Inter" charset="0"/>
                        <a:cs typeface="Inter" charset="0"/>
                      </a:endParaRPr>
                    </a:p>
                  </a:txBody>
                  <a:tcPr marL="114300" marR="114300" marT="88900" marB="88900" anchor="ctr">
                    <a:lnL w="9525" cap="flat" cmpd="sng" algn="ctr">
                      <a:solidFill>
                        <a:srgbClr val="EDEDED"/>
                      </a:solidFill>
                      <a:prstDash val="solid"/>
                      <a:round/>
                      <a:headEnd type="none" w="med" len="med"/>
                      <a:tailEnd type="none" w="med" len="med"/>
                    </a:lnL>
                    <a:lnR w="9525" cap="flat" cmpd="sng" algn="ctr">
                      <a:solidFill>
                        <a:srgbClr val="EDEDED"/>
                      </a:solidFill>
                      <a:prstDash val="solid"/>
                      <a:round/>
                      <a:headEnd type="none" w="med" len="med"/>
                      <a:tailEnd type="none" w="med" len="med"/>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tcPr>
                </a:tc>
              </a:tr>
            </a:tbl>
          </a:graphicData>
        </a:graphic>
      </p:graphicFrame>
      <p:sp>
        <p:nvSpPr>
          <p:cNvPr id="6" name="text-37"/>
          <p:cNvSpPr txBox="1"/>
          <p:nvPr/>
        </p:nvSpPr>
        <p:spPr>
          <a:xfrm>
            <a:off x="812800" y="4538980"/>
            <a:ext cx="10566400" cy="501650"/>
          </a:xfrm>
          <a:prstGeom prst="rect">
            <a:avLst/>
          </a:prstGeom>
          <a:noFill/>
          <a:ln/>
        </p:spPr>
        <p:txBody>
          <a:bodyPr wrap="square" lIns="0" tIns="0" rIns="0" bIns="0" rtlCol="0" anchor="t"/>
          <a:lstStyle/>
          <a:p>
            <a:pPr algn="l" indent="0" marL="0">
              <a:lnSpc>
                <a:spcPct val="150000"/>
              </a:lnSpc>
              <a:buNone/>
            </a:pPr>
            <a:r>
              <a:rPr lang="en-US" sz="1250" dirty="0">
                <a:solidFill>
                  <a:srgbClr val="313336"/>
                </a:solidFill>
                <a:latin typeface="Inter" pitchFamily="34" charset="0"/>
                <a:ea typeface="Inter" pitchFamily="34" charset="-122"/>
                <a:cs typeface="Inter" pitchFamily="34" charset="-120"/>
              </a:rPr>
              <a:t>The verse (14) is for the people who already follow you. Proof, teach and motivation are your topics; this table is their reasons to watch. When the two disagree, the viewer wins.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C"/>
        </a:solidFill>
      </p:bgPr>
    </p:bg>
    <p:spTree>
      <p:nvGrpSpPr>
        <p:cNvPr id="1" name=""/>
        <p:cNvGrpSpPr/>
        <p:nvPr/>
      </p:nvGrpSpPr>
      <p:grpSpPr>
        <a:xfrm>
          <a:off x="0" y="0"/>
          <a:ext cx="0" cy="0"/>
          <a:chOff x="0" y="0"/>
          <a:chExt cx="0" cy="0"/>
        </a:xfrm>
      </p:grpSpPr>
      <p:sp>
        <p:nvSpPr>
          <p:cNvPr id="2" name="shape-38"/>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text-39"/>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THE WEEK · 8 AM, 12 PM AND 7 PM ET</a:t>
            </a:r>
            <a:endParaRPr lang="en-US" sz="1200" dirty="0"/>
          </a:p>
        </p:txBody>
      </p:sp>
      <p:sp>
        <p:nvSpPr>
          <p:cNvPr id="4" name="title-40"/>
          <p:cNvSpPr txBox="1"/>
          <p:nvPr/>
        </p:nvSpPr>
        <p:spPr>
          <a:xfrm>
            <a:off x="812800" y="1117600"/>
            <a:ext cx="10566400" cy="589280"/>
          </a:xfrm>
          <a:prstGeom prst="rect">
            <a:avLst/>
          </a:prstGeom>
          <a:noFill/>
          <a:ln/>
        </p:spPr>
        <p:txBody>
          <a:bodyPr wrap="square" lIns="0" tIns="0" rIns="0" bIns="0" rtlCol="0" anchor="t"/>
          <a:lstStyle/>
          <a:p>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Three a day, each with a </a:t>
            </a:r>
            <a:pPr algn="l" indent="0" marL="0">
              <a:lnSpc>
                <a:spcPct val="110000"/>
              </a:lnSpc>
              <a:buNone/>
            </a:pPr>
            <a:r>
              <a:rPr lang="en-US" sz="3600" i="1" spc="-216" kern="0" dirty="0">
                <a:solidFill>
                  <a:srgbClr val="FF0090"/>
                </a:solidFill>
                <a:latin typeface="Fraunces" pitchFamily="34" charset="0"/>
                <a:ea typeface="Fraunces" pitchFamily="34" charset="-122"/>
                <a:cs typeface="Fraunces" pitchFamily="34" charset="-120"/>
              </a:rPr>
              <a:t>job</a:t>
            </a:r>
            <a:endParaRPr lang="en-US" sz="3600" dirty="0"/>
          </a:p>
        </p:txBody>
      </p:sp>
      <p:sp>
        <p:nvSpPr>
          <p:cNvPr id="5" name="shape-41"/>
          <p:cNvSpPr/>
          <p:nvPr/>
        </p:nvSpPr>
        <p:spPr>
          <a:xfrm>
            <a:off x="812800" y="1884680"/>
            <a:ext cx="3420533" cy="1905000"/>
          </a:xfrm>
          <a:prstGeom prst="roundRect">
            <a:avLst>
              <a:gd name="adj" fmla="val 5333"/>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6" name="shape-42"/>
          <p:cNvSpPr/>
          <p:nvPr/>
        </p:nvSpPr>
        <p:spPr>
          <a:xfrm>
            <a:off x="4385733" y="1884680"/>
            <a:ext cx="3420533" cy="1905000"/>
          </a:xfrm>
          <a:prstGeom prst="roundRect">
            <a:avLst>
              <a:gd name="adj" fmla="val 5333"/>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7" name="shape-43"/>
          <p:cNvSpPr/>
          <p:nvPr/>
        </p:nvSpPr>
        <p:spPr>
          <a:xfrm>
            <a:off x="7958667" y="1884680"/>
            <a:ext cx="3420533" cy="1905000"/>
          </a:xfrm>
          <a:prstGeom prst="roundRect">
            <a:avLst>
              <a:gd name="adj" fmla="val 5333"/>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8" name="paras-44"/>
          <p:cNvSpPr txBox="1"/>
          <p:nvPr/>
        </p:nvSpPr>
        <p:spPr>
          <a:xfrm>
            <a:off x="1016000" y="2062480"/>
            <a:ext cx="3014133" cy="1549400"/>
          </a:xfrm>
          <a:prstGeom prst="rect">
            <a:avLst/>
          </a:prstGeom>
          <a:noFill/>
          <a:ln/>
        </p:spPr>
        <p:txBody>
          <a:bodyPr wrap="square" lIns="0" tIns="0" rIns="0" bIns="0" rtlCol="0" anchor="t"/>
          <a:lstStyle/>
          <a:p>
            <a:pPr indent="0" marL="0">
              <a:lnSpc>
                <a:spcPct val="110000"/>
              </a:lnSpc>
              <a:spcAft>
                <a:spcPts val="1200"/>
              </a:spcAft>
              <a:buNone/>
            </a:pPr>
            <a:r>
              <a:rPr lang="en-US" sz="1800" spc="-100" kern="0" dirty="0">
                <a:solidFill>
                  <a:srgbClr val="0F0F0F"/>
                </a:solidFill>
                <a:latin typeface="Fraunces" pitchFamily="34" charset="0"/>
                <a:ea typeface="Fraunces" pitchFamily="34" charset="-122"/>
                <a:cs typeface="Fraunces" pitchFamily="34" charset="-120"/>
              </a:rPr>
              <a:t>Episode</a:t>
            </a:r>
            <a:endParaRPr lang="en-US" sz="1800" dirty="0"/>
          </a:p>
          <a:p>
            <a:pPr indent="0" marL="0">
              <a:lnSpc>
                <a:spcPct val="140000"/>
              </a:lnSpc>
              <a:spcAft>
                <a:spcPts val="600"/>
              </a:spcAft>
              <a:buNone/>
            </a:pPr>
            <a:r>
              <a:rPr lang="en-US" sz="1250" dirty="0">
                <a:solidFill>
                  <a:srgbClr val="313336"/>
                </a:solidFill>
                <a:latin typeface="Inter" pitchFamily="34" charset="0"/>
                <a:ea typeface="Inter" pitchFamily="34" charset="-122"/>
                <a:cs typeface="Inter" pitchFamily="34" charset="-120"/>
              </a:rPr>
              <a:t>“31 → 10K”, one a day. The lesson in the first line, the number as the proof. Videos 1, 4, 7, 10, 13.</a:t>
            </a:r>
            <a:endParaRPr lang="en-US" sz="1800" dirty="0"/>
          </a:p>
        </p:txBody>
      </p:sp>
      <p:sp>
        <p:nvSpPr>
          <p:cNvPr id="9" name="paras-45"/>
          <p:cNvSpPr txBox="1"/>
          <p:nvPr/>
        </p:nvSpPr>
        <p:spPr>
          <a:xfrm>
            <a:off x="4588933" y="2062480"/>
            <a:ext cx="3014133" cy="1549400"/>
          </a:xfrm>
          <a:prstGeom prst="rect">
            <a:avLst/>
          </a:prstGeom>
          <a:noFill/>
          <a:ln/>
        </p:spPr>
        <p:txBody>
          <a:bodyPr wrap="square" lIns="0" tIns="0" rIns="0" bIns="0" rtlCol="0" anchor="t"/>
          <a:lstStyle/>
          <a:p>
            <a:pPr indent="0" marL="0">
              <a:lnSpc>
                <a:spcPct val="110000"/>
              </a:lnSpc>
              <a:spcAft>
                <a:spcPts val="1200"/>
              </a:spcAft>
              <a:buNone/>
            </a:pPr>
            <a:r>
              <a:rPr lang="en-US" sz="1800" spc="-100" kern="0" dirty="0">
                <a:solidFill>
                  <a:srgbClr val="0F0F0F"/>
                </a:solidFill>
                <a:latin typeface="Fraunces" pitchFamily="34" charset="0"/>
                <a:ea typeface="Fraunces" pitchFamily="34" charset="-122"/>
                <a:cs typeface="Fraunces" pitchFamily="34" charset="-120"/>
              </a:rPr>
              <a:t>Value</a:t>
            </a:r>
            <a:endParaRPr lang="en-US" sz="1800" dirty="0"/>
          </a:p>
          <a:p>
            <a:pPr indent="0" marL="0">
              <a:lnSpc>
                <a:spcPct val="140000"/>
              </a:lnSpc>
              <a:spcAft>
                <a:spcPts val="600"/>
              </a:spcAft>
              <a:buNone/>
            </a:pPr>
            <a:r>
              <a:rPr lang="en-US" sz="1250" dirty="0">
                <a:solidFill>
                  <a:srgbClr val="313336"/>
                </a:solidFill>
                <a:latin typeface="Inter" pitchFamily="34" charset="0"/>
                <a:ea typeface="Inter" pitchFamily="34" charset="-122"/>
                <a:cs typeface="Inter" pitchFamily="34" charset="-120"/>
              </a:rPr>
              <a:t>One thing one of the three viewers can use today: the DM, the prices, the media kit, the three skills.</a:t>
            </a:r>
            <a:endParaRPr lang="en-US" sz="1800" dirty="0"/>
          </a:p>
        </p:txBody>
      </p:sp>
      <p:sp>
        <p:nvSpPr>
          <p:cNvPr id="10" name="paras-46"/>
          <p:cNvSpPr txBox="1"/>
          <p:nvPr/>
        </p:nvSpPr>
        <p:spPr>
          <a:xfrm>
            <a:off x="8161867" y="2062480"/>
            <a:ext cx="3014133" cy="1549400"/>
          </a:xfrm>
          <a:prstGeom prst="rect">
            <a:avLst/>
          </a:prstGeom>
          <a:noFill/>
          <a:ln/>
        </p:spPr>
        <p:txBody>
          <a:bodyPr wrap="square" lIns="0" tIns="0" rIns="0" bIns="0" rtlCol="0" anchor="t"/>
          <a:lstStyle/>
          <a:p>
            <a:pPr indent="0" marL="0">
              <a:lnSpc>
                <a:spcPct val="110000"/>
              </a:lnSpc>
              <a:spcAft>
                <a:spcPts val="1200"/>
              </a:spcAft>
              <a:buNone/>
            </a:pPr>
            <a:r>
              <a:rPr lang="en-US" sz="1800" spc="-100" kern="0" dirty="0">
                <a:solidFill>
                  <a:srgbClr val="0F0F0F"/>
                </a:solidFill>
                <a:latin typeface="Fraunces" pitchFamily="34" charset="0"/>
                <a:ea typeface="Fraunces" pitchFamily="34" charset="-122"/>
                <a:cs typeface="Fraunces" pitchFamily="34" charset="-120"/>
              </a:rPr>
              <a:t>Format</a:t>
            </a:r>
            <a:endParaRPr lang="en-US" sz="1800" dirty="0"/>
          </a:p>
          <a:p>
            <a:pPr indent="0" marL="0">
              <a:lnSpc>
                <a:spcPct val="140000"/>
              </a:lnSpc>
              <a:spcAft>
                <a:spcPts val="600"/>
              </a:spcAft>
              <a:buNone/>
            </a:pPr>
            <a:r>
              <a:rPr lang="en-US" sz="1250" dirty="0">
                <a:solidFill>
                  <a:srgbClr val="313336"/>
                </a:solidFill>
                <a:latin typeface="Inter" pitchFamily="34" charset="0"/>
                <a:ea typeface="Inter" pitchFamily="34" charset="-122"/>
                <a:cs typeface="Inter" pitchFamily="34" charset="-120"/>
              </a:rPr>
              <a:t>A reveal, a two-characters sketch, a “you” question, or the reply video when a comment earns one.</a:t>
            </a:r>
            <a:endParaRPr lang="en-US" sz="1800" dirty="0"/>
          </a:p>
        </p:txBody>
      </p:sp>
      <p:sp>
        <p:nvSpPr>
          <p:cNvPr id="11" name="text-47"/>
          <p:cNvSpPr txBox="1"/>
          <p:nvPr/>
        </p:nvSpPr>
        <p:spPr>
          <a:xfrm>
            <a:off x="812800" y="3967480"/>
            <a:ext cx="10566400" cy="1651000"/>
          </a:xfrm>
          <a:prstGeom prst="rect">
            <a:avLst/>
          </a:prstGeom>
          <a:noFill/>
          <a:ln/>
        </p:spPr>
        <p:txBody>
          <a:bodyPr wrap="square" lIns="0" tIns="0" rIns="0" bIns="0" rtlCol="0" anchor="t"/>
          <a:lstStyle/>
          <a:p>
            <a:pPr algn="l" marL="139700" indent="-139700">
              <a:lnSpc>
                <a:spcPct val="140000"/>
              </a:lnSpc>
              <a:spcAft>
                <a:spcPts val="800"/>
              </a:spcAft>
              <a:buSzPct val="100000"/>
              <a:buChar char="•"/>
            </a:pPr>
            <a:r>
              <a:rPr lang="en-US" sz="1250" dirty="0">
                <a:solidFill>
                  <a:srgbClr val="313336"/>
                </a:solidFill>
                <a:latin typeface="Inter" pitchFamily="34" charset="0"/>
                <a:ea typeface="Inter" pitchFamily="34" charset="-122"/>
                <a:cs typeface="Inter" pitchFamily="34" charset="-120"/>
              </a:rPr>
              <a:t>Reply videos are the engine: any comment that asks “how?”, disagrees or tells a story gets a reply video within 24 hours, the comment on screen as the hook.</a:t>
            </a:r>
            <a:endParaRPr lang="en-US" sz="1250" dirty="0"/>
          </a:p>
          <a:p>
            <a:pPr algn="l" marL="139700" indent="-139700">
              <a:lnSpc>
                <a:spcPct val="140000"/>
              </a:lnSpc>
              <a:spcAft>
                <a:spcPts val="800"/>
              </a:spcAft>
              <a:buSzPct val="100000"/>
              <a:buChar char="•"/>
            </a:pPr>
            <a:r>
              <a:rPr lang="en-US" sz="1250" dirty="0">
                <a:solidFill>
                  <a:srgbClr val="313336"/>
                </a:solidFill>
                <a:latin typeface="Inter" pitchFamily="34" charset="0"/>
                <a:ea typeface="Inter" pitchFamily="34" charset="-122"/>
                <a:cs typeface="Inter" pitchFamily="34" charset="-120"/>
              </a:rPr>
              <a:t>The diary lives in Stories. The feed only gets the episode with the lesson first.</a:t>
            </a:r>
            <a:endParaRPr lang="en-US" sz="1250" dirty="0"/>
          </a:p>
          <a:p>
            <a:pPr algn="l" marL="139700" indent="-139700">
              <a:lnSpc>
                <a:spcPct val="140000"/>
              </a:lnSpc>
              <a:spcAft>
                <a:spcPts val="800"/>
              </a:spcAft>
              <a:buSzPct val="100000"/>
              <a:buChar char="•"/>
            </a:pPr>
            <a:r>
              <a:rPr lang="en-US" sz="1250" dirty="0">
                <a:solidFill>
                  <a:srgbClr val="313336"/>
                </a:solidFill>
                <a:latin typeface="Inter" pitchFamily="34" charset="0"/>
                <a:ea typeface="Inter" pitchFamily="34" charset="-122"/>
                <a:cs typeface="Inter" pitchFamily="34" charset="-120"/>
              </a:rPr>
              <a:t>TikTok runs its own bilingual track on @keekyt, two strong-topic videos a day. The funnel to @aissakee rides only in the creator-money videos.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C"/>
        </a:solidFill>
      </p:bgPr>
    </p:bg>
    <p:spTree>
      <p:nvGrpSpPr>
        <p:cNvPr id="1" name=""/>
        <p:cNvGrpSpPr/>
        <p:nvPr/>
      </p:nvGrpSpPr>
      <p:grpSpPr>
        <a:xfrm>
          <a:off x="0" y="0"/>
          <a:ext cx="0" cy="0"/>
          <a:chOff x="0" y="0"/>
          <a:chExt cx="0" cy="0"/>
        </a:xfrm>
      </p:grpSpPr>
      <p:sp>
        <p:nvSpPr>
          <p:cNvPr id="2" name="shape-48"/>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pic>
        <p:nvPicPr>
          <p:cNvPr id="3" name="pixels-49" descr="pixels-light.png">    </p:cNvPr>
          <p:cNvPicPr>
            <a:picLocks noChangeAspect="1"/>
          </p:cNvPicPr>
          <p:nvPr/>
        </p:nvPicPr>
        <p:blipFill>
          <a:blip r:embed="rId1"/>
          <a:stretch>
            <a:fillRect/>
          </a:stretch>
        </p:blipFill>
        <p:spPr>
          <a:xfrm>
            <a:off x="355600" y="6299200"/>
            <a:ext cx="11480800" cy="228600"/>
          </a:xfrm>
          <a:prstGeom prst="rect">
            <a:avLst/>
          </a:prstGeom>
        </p:spPr>
      </p:pic>
      <p:sp>
        <p:nvSpPr>
          <p:cNvPr id="4" name="text-50"/>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EVERY DAY, OCT 1 TO 5 · TORONTO TIME</a:t>
            </a:r>
            <a:endParaRPr lang="en-US" sz="1200" dirty="0"/>
          </a:p>
        </p:txBody>
      </p:sp>
      <p:sp>
        <p:nvSpPr>
          <p:cNvPr id="5" name="title-51"/>
          <p:cNvSpPr txBox="1"/>
          <p:nvPr/>
        </p:nvSpPr>
        <p:spPr>
          <a:xfrm>
            <a:off x="812800" y="1117600"/>
            <a:ext cx="10566400" cy="589280"/>
          </a:xfrm>
          <a:prstGeom prst="rect">
            <a:avLst/>
          </a:prstGeom>
          <a:noFill/>
          <a:ln/>
        </p:spPr>
        <p:txBody>
          <a:bodyPr wrap="square" lIns="0" tIns="0" rIns="0" bIns="0" rtlCol="0" anchor="t"/>
          <a:lstStyle/>
          <a:p>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The daily </a:t>
            </a:r>
            <a:pPr algn="l" indent="0" marL="0">
              <a:lnSpc>
                <a:spcPct val="110000"/>
              </a:lnSpc>
              <a:buNone/>
            </a:pPr>
            <a:r>
              <a:rPr lang="en-US" sz="3600" i="1" spc="-216" kern="0" dirty="0">
                <a:solidFill>
                  <a:srgbClr val="FF0090"/>
                </a:solidFill>
                <a:latin typeface="Fraunces" pitchFamily="34" charset="0"/>
                <a:ea typeface="Fraunces" pitchFamily="34" charset="-122"/>
                <a:cs typeface="Fraunces" pitchFamily="34" charset="-120"/>
              </a:rPr>
              <a:t>routine</a:t>
            </a:r>
            <a:endParaRPr lang="en-US" sz="3600" dirty="0"/>
          </a:p>
        </p:txBody>
      </p:sp>
      <p:sp>
        <p:nvSpPr>
          <p:cNvPr id="6" name="text-52"/>
          <p:cNvSpPr txBox="1"/>
          <p:nvPr/>
        </p:nvSpPr>
        <p:spPr>
          <a:xfrm>
            <a:off x="812800" y="1884680"/>
            <a:ext cx="1079500" cy="215900"/>
          </a:xfrm>
          <a:prstGeom prst="rect">
            <a:avLst/>
          </a:prstGeom>
          <a:noFill/>
          <a:ln/>
        </p:spPr>
        <p:txBody>
          <a:bodyPr wrap="square" lIns="0" tIns="0" rIns="0" bIns="0" rtlCol="0" anchor="t"/>
          <a:lstStyle/>
          <a:p>
            <a:pPr algn="l" indent="0" marL="0">
              <a:lnSpc>
                <a:spcPct val="130000"/>
              </a:lnSpc>
              <a:buNone/>
            </a:pPr>
            <a:r>
              <a:rPr lang="en-US" sz="1200" dirty="0">
                <a:solidFill>
                  <a:srgbClr val="0F0F0F"/>
                </a:solidFill>
                <a:latin typeface="DM Mono" pitchFamily="34" charset="0"/>
                <a:ea typeface="DM Mono" pitchFamily="34" charset="-122"/>
                <a:cs typeface="DM Mono" pitchFamily="34" charset="-120"/>
              </a:rPr>
              <a:t>7:30 am</a:t>
            </a:r>
            <a:endParaRPr lang="en-US" sz="1200" dirty="0"/>
          </a:p>
        </p:txBody>
      </p:sp>
      <p:sp>
        <p:nvSpPr>
          <p:cNvPr id="7" name="leader-53"/>
          <p:cNvSpPr/>
          <p:nvPr/>
        </p:nvSpPr>
        <p:spPr>
          <a:xfrm>
            <a:off x="2006600" y="1986280"/>
            <a:ext cx="1384300" cy="0"/>
          </a:xfrm>
          <a:prstGeom prst="line">
            <a:avLst/>
          </a:prstGeom>
          <a:noFill/>
          <a:ln w="9525">
            <a:solidFill>
              <a:srgbClr val="313336">
                <a:alpha val="30000"/>
              </a:srgbClr>
            </a:solidFill>
            <a:prstDash val="dash"/>
          </a:ln>
        </p:spPr>
      </p:sp>
      <p:sp>
        <p:nvSpPr>
          <p:cNvPr id="8" name="text-54"/>
          <p:cNvSpPr txBox="1"/>
          <p:nvPr/>
        </p:nvSpPr>
        <p:spPr>
          <a:xfrm>
            <a:off x="3505200" y="1871980"/>
            <a:ext cx="7874000" cy="444500"/>
          </a:xfrm>
          <a:prstGeom prst="rect">
            <a:avLst/>
          </a:prstGeom>
          <a:noFill/>
          <a:ln/>
        </p:spPr>
        <p:txBody>
          <a:bodyPr wrap="square" lIns="0" tIns="0" rIns="0" bIns="0" rtlCol="0" anchor="t"/>
          <a:lstStyle/>
          <a:p>
            <a:pPr algn="l" indent="0" marL="0">
              <a:lnSpc>
                <a:spcPct val="140000"/>
              </a:lnSpc>
              <a:buNone/>
            </a:pPr>
            <a:r>
              <a:rPr lang="en-US" sz="1250" dirty="0">
                <a:solidFill>
                  <a:srgbClr val="313336"/>
                </a:solidFill>
                <a:latin typeface="Inter" pitchFamily="34" charset="0"/>
                <a:ea typeface="Inter" pitchFamily="34" charset="-122"/>
                <a:cs typeface="Inter" pitchFamily="34" charset="-120"/>
              </a:rPr>
              <a:t>TikTok, the strong topic of the day on @keekyt. Ten-minute topic scan first; film within the hour.</a:t>
            </a:r>
            <a:endParaRPr lang="en-US" sz="1250" dirty="0"/>
          </a:p>
        </p:txBody>
      </p:sp>
      <p:sp>
        <p:nvSpPr>
          <p:cNvPr id="9" name="text-55"/>
          <p:cNvSpPr txBox="1"/>
          <p:nvPr/>
        </p:nvSpPr>
        <p:spPr>
          <a:xfrm>
            <a:off x="812800" y="2392680"/>
            <a:ext cx="1079500" cy="215900"/>
          </a:xfrm>
          <a:prstGeom prst="rect">
            <a:avLst/>
          </a:prstGeom>
          <a:noFill/>
          <a:ln/>
        </p:spPr>
        <p:txBody>
          <a:bodyPr wrap="square" lIns="0" tIns="0" rIns="0" bIns="0" rtlCol="0" anchor="t"/>
          <a:lstStyle/>
          <a:p>
            <a:pPr algn="l" indent="0" marL="0">
              <a:lnSpc>
                <a:spcPct val="130000"/>
              </a:lnSpc>
              <a:buNone/>
            </a:pPr>
            <a:r>
              <a:rPr lang="en-US" sz="1200" dirty="0">
                <a:solidFill>
                  <a:srgbClr val="0F0F0F"/>
                </a:solidFill>
                <a:latin typeface="DM Mono" pitchFamily="34" charset="0"/>
                <a:ea typeface="DM Mono" pitchFamily="34" charset="-122"/>
                <a:cs typeface="DM Mono" pitchFamily="34" charset="-120"/>
              </a:rPr>
              <a:t>8 am</a:t>
            </a:r>
            <a:endParaRPr lang="en-US" sz="1200" dirty="0"/>
          </a:p>
        </p:txBody>
      </p:sp>
      <p:sp>
        <p:nvSpPr>
          <p:cNvPr id="10" name="leader-56"/>
          <p:cNvSpPr/>
          <p:nvPr/>
        </p:nvSpPr>
        <p:spPr>
          <a:xfrm>
            <a:off x="2006600" y="2494280"/>
            <a:ext cx="1384300" cy="0"/>
          </a:xfrm>
          <a:prstGeom prst="line">
            <a:avLst/>
          </a:prstGeom>
          <a:noFill/>
          <a:ln w="9525">
            <a:solidFill>
              <a:srgbClr val="313336">
                <a:alpha val="30000"/>
              </a:srgbClr>
            </a:solidFill>
            <a:prstDash val="dash"/>
          </a:ln>
        </p:spPr>
      </p:sp>
      <p:sp>
        <p:nvSpPr>
          <p:cNvPr id="11" name="text-57"/>
          <p:cNvSpPr txBox="1"/>
          <p:nvPr/>
        </p:nvSpPr>
        <p:spPr>
          <a:xfrm>
            <a:off x="3505200" y="2379980"/>
            <a:ext cx="7874000" cy="254000"/>
          </a:xfrm>
          <a:prstGeom prst="rect">
            <a:avLst/>
          </a:prstGeom>
          <a:noFill/>
          <a:ln/>
        </p:spPr>
        <p:txBody>
          <a:bodyPr wrap="square" lIns="0" tIns="0" rIns="0" bIns="0" rtlCol="0" anchor="t"/>
          <a:lstStyle/>
          <a:p>
            <a:pPr algn="l" indent="0" marL="0">
              <a:lnSpc>
                <a:spcPct val="140000"/>
              </a:lnSpc>
              <a:buNone/>
            </a:pPr>
            <a:r>
              <a:rPr lang="en-US" sz="1250" dirty="0">
                <a:solidFill>
                  <a:srgbClr val="313336"/>
                </a:solidFill>
                <a:latin typeface="Inter" pitchFamily="34" charset="0"/>
                <a:ea typeface="Inter" pitchFamily="34" charset="-122"/>
                <a:cs typeface="Inter" pitchFamily="34" charset="-120"/>
              </a:rPr>
              <a:t>Reel 1, the episode, lesson first. Share it to a Story with a question sticker.</a:t>
            </a:r>
            <a:endParaRPr lang="en-US" sz="1250" dirty="0"/>
          </a:p>
        </p:txBody>
      </p:sp>
      <p:sp>
        <p:nvSpPr>
          <p:cNvPr id="12" name="text-58"/>
          <p:cNvSpPr txBox="1"/>
          <p:nvPr/>
        </p:nvSpPr>
        <p:spPr>
          <a:xfrm>
            <a:off x="812800" y="2710180"/>
            <a:ext cx="1079500" cy="215900"/>
          </a:xfrm>
          <a:prstGeom prst="rect">
            <a:avLst/>
          </a:prstGeom>
          <a:noFill/>
          <a:ln/>
        </p:spPr>
        <p:txBody>
          <a:bodyPr wrap="square" lIns="0" tIns="0" rIns="0" bIns="0" rtlCol="0" anchor="t"/>
          <a:lstStyle/>
          <a:p>
            <a:pPr algn="l" indent="0" marL="0">
              <a:lnSpc>
                <a:spcPct val="130000"/>
              </a:lnSpc>
              <a:buNone/>
            </a:pPr>
            <a:r>
              <a:rPr lang="en-US" sz="1200" dirty="0">
                <a:solidFill>
                  <a:srgbClr val="0F0F0F"/>
                </a:solidFill>
                <a:latin typeface="DM Mono" pitchFamily="34" charset="0"/>
                <a:ea typeface="DM Mono" pitchFamily="34" charset="-122"/>
                <a:cs typeface="DM Mono" pitchFamily="34" charset="-120"/>
              </a:rPr>
              <a:t>8:30 am</a:t>
            </a:r>
            <a:endParaRPr lang="en-US" sz="1200" dirty="0"/>
          </a:p>
        </p:txBody>
      </p:sp>
      <p:sp>
        <p:nvSpPr>
          <p:cNvPr id="13" name="leader-59"/>
          <p:cNvSpPr/>
          <p:nvPr/>
        </p:nvSpPr>
        <p:spPr>
          <a:xfrm>
            <a:off x="2006600" y="2811780"/>
            <a:ext cx="1384300" cy="0"/>
          </a:xfrm>
          <a:prstGeom prst="line">
            <a:avLst/>
          </a:prstGeom>
          <a:noFill/>
          <a:ln w="9525">
            <a:solidFill>
              <a:srgbClr val="313336">
                <a:alpha val="30000"/>
              </a:srgbClr>
            </a:solidFill>
            <a:prstDash val="dash"/>
          </a:ln>
        </p:spPr>
      </p:sp>
      <p:sp>
        <p:nvSpPr>
          <p:cNvPr id="14" name="text-60"/>
          <p:cNvSpPr txBox="1"/>
          <p:nvPr/>
        </p:nvSpPr>
        <p:spPr>
          <a:xfrm>
            <a:off x="3505200" y="2697480"/>
            <a:ext cx="7874000" cy="444500"/>
          </a:xfrm>
          <a:prstGeom prst="rect">
            <a:avLst/>
          </a:prstGeom>
          <a:noFill/>
          <a:ln/>
        </p:spPr>
        <p:txBody>
          <a:bodyPr wrap="square" lIns="0" tIns="0" rIns="0" bIns="0" rtlCol="0" anchor="t"/>
          <a:lstStyle/>
          <a:p>
            <a:pPr algn="l" indent="0" marL="0">
              <a:lnSpc>
                <a:spcPct val="140000"/>
              </a:lnSpc>
              <a:buNone/>
            </a:pPr>
            <a:r>
              <a:rPr lang="en-US" sz="1250" dirty="0">
                <a:solidFill>
                  <a:srgbClr val="313336"/>
                </a:solidFill>
                <a:latin typeface="Inter" pitchFamily="34" charset="0"/>
                <a:ea typeface="Inter" pitchFamily="34" charset="-122"/>
                <a:cs typeface="Inter" pitchFamily="34" charset="-120"/>
              </a:rPr>
              <a:t>Thirty minutes of engagement: every comment answered, twenty real comments on niche accounts, DMs.</a:t>
            </a:r>
            <a:endParaRPr lang="en-US" sz="1250" dirty="0"/>
          </a:p>
        </p:txBody>
      </p:sp>
      <p:sp>
        <p:nvSpPr>
          <p:cNvPr id="15" name="text-61"/>
          <p:cNvSpPr txBox="1"/>
          <p:nvPr/>
        </p:nvSpPr>
        <p:spPr>
          <a:xfrm>
            <a:off x="812800" y="3218180"/>
            <a:ext cx="1079500" cy="215900"/>
          </a:xfrm>
          <a:prstGeom prst="rect">
            <a:avLst/>
          </a:prstGeom>
          <a:noFill/>
          <a:ln/>
        </p:spPr>
        <p:txBody>
          <a:bodyPr wrap="square" lIns="0" tIns="0" rIns="0" bIns="0" rtlCol="0" anchor="t"/>
          <a:lstStyle/>
          <a:p>
            <a:pPr algn="l" indent="0" marL="0">
              <a:lnSpc>
                <a:spcPct val="130000"/>
              </a:lnSpc>
              <a:buNone/>
            </a:pPr>
            <a:r>
              <a:rPr lang="en-US" sz="1200" dirty="0">
                <a:solidFill>
                  <a:srgbClr val="0F0F0F"/>
                </a:solidFill>
                <a:latin typeface="DM Mono" pitchFamily="34" charset="0"/>
                <a:ea typeface="DM Mono" pitchFamily="34" charset="-122"/>
                <a:cs typeface="DM Mono" pitchFamily="34" charset="-120"/>
              </a:rPr>
              <a:t>12 pm</a:t>
            </a:r>
            <a:endParaRPr lang="en-US" sz="1200" dirty="0"/>
          </a:p>
        </p:txBody>
      </p:sp>
      <p:sp>
        <p:nvSpPr>
          <p:cNvPr id="16" name="leader-62"/>
          <p:cNvSpPr/>
          <p:nvPr/>
        </p:nvSpPr>
        <p:spPr>
          <a:xfrm>
            <a:off x="2006600" y="3319780"/>
            <a:ext cx="1384300" cy="0"/>
          </a:xfrm>
          <a:prstGeom prst="line">
            <a:avLst/>
          </a:prstGeom>
          <a:noFill/>
          <a:ln w="9525">
            <a:solidFill>
              <a:srgbClr val="313336">
                <a:alpha val="30000"/>
              </a:srgbClr>
            </a:solidFill>
            <a:prstDash val="dash"/>
          </a:ln>
        </p:spPr>
      </p:sp>
      <p:sp>
        <p:nvSpPr>
          <p:cNvPr id="17" name="text-63"/>
          <p:cNvSpPr txBox="1"/>
          <p:nvPr/>
        </p:nvSpPr>
        <p:spPr>
          <a:xfrm>
            <a:off x="3505200" y="3205480"/>
            <a:ext cx="7874000" cy="444500"/>
          </a:xfrm>
          <a:prstGeom prst="rect">
            <a:avLst/>
          </a:prstGeom>
          <a:noFill/>
          <a:ln/>
        </p:spPr>
        <p:txBody>
          <a:bodyPr wrap="square" lIns="0" tIns="0" rIns="0" bIns="0" rtlCol="0" anchor="t"/>
          <a:lstStyle/>
          <a:p>
            <a:pPr algn="l" indent="0" marL="0">
              <a:lnSpc>
                <a:spcPct val="140000"/>
              </a:lnSpc>
              <a:buNone/>
            </a:pPr>
            <a:r>
              <a:rPr lang="en-US" sz="1250" dirty="0">
                <a:solidFill>
                  <a:srgbClr val="313336"/>
                </a:solidFill>
                <a:latin typeface="Inter" pitchFamily="34" charset="0"/>
                <a:ea typeface="Inter" pitchFamily="34" charset="-122"/>
                <a:cs typeface="Inter" pitchFamily="34" charset="-120"/>
              </a:rPr>
              <a:t>Reel 2, the value video for one of the three viewers. Thirty minutes of engagement after.</a:t>
            </a:r>
            <a:endParaRPr lang="en-US" sz="1250" dirty="0"/>
          </a:p>
        </p:txBody>
      </p:sp>
      <p:sp>
        <p:nvSpPr>
          <p:cNvPr id="18" name="text-64"/>
          <p:cNvSpPr txBox="1"/>
          <p:nvPr/>
        </p:nvSpPr>
        <p:spPr>
          <a:xfrm>
            <a:off x="812800" y="3726180"/>
            <a:ext cx="1079500" cy="215900"/>
          </a:xfrm>
          <a:prstGeom prst="rect">
            <a:avLst/>
          </a:prstGeom>
          <a:noFill/>
          <a:ln/>
        </p:spPr>
        <p:txBody>
          <a:bodyPr wrap="square" lIns="0" tIns="0" rIns="0" bIns="0" rtlCol="0" anchor="t"/>
          <a:lstStyle/>
          <a:p>
            <a:pPr algn="l" indent="0" marL="0">
              <a:lnSpc>
                <a:spcPct val="130000"/>
              </a:lnSpc>
              <a:buNone/>
            </a:pPr>
            <a:r>
              <a:rPr lang="en-US" sz="1200" dirty="0">
                <a:solidFill>
                  <a:srgbClr val="0F0F0F"/>
                </a:solidFill>
                <a:latin typeface="DM Mono" pitchFamily="34" charset="0"/>
                <a:ea typeface="DM Mono" pitchFamily="34" charset="-122"/>
                <a:cs typeface="DM Mono" pitchFamily="34" charset="-120"/>
              </a:rPr>
              <a:t>1:30 pm</a:t>
            </a:r>
            <a:endParaRPr lang="en-US" sz="1200" dirty="0"/>
          </a:p>
        </p:txBody>
      </p:sp>
      <p:sp>
        <p:nvSpPr>
          <p:cNvPr id="19" name="leader-65"/>
          <p:cNvSpPr/>
          <p:nvPr/>
        </p:nvSpPr>
        <p:spPr>
          <a:xfrm>
            <a:off x="2006600" y="3827780"/>
            <a:ext cx="1384300" cy="0"/>
          </a:xfrm>
          <a:prstGeom prst="line">
            <a:avLst/>
          </a:prstGeom>
          <a:noFill/>
          <a:ln w="9525">
            <a:solidFill>
              <a:srgbClr val="313336">
                <a:alpha val="30000"/>
              </a:srgbClr>
            </a:solidFill>
            <a:prstDash val="dash"/>
          </a:ln>
        </p:spPr>
      </p:sp>
      <p:sp>
        <p:nvSpPr>
          <p:cNvPr id="20" name="text-66"/>
          <p:cNvSpPr txBox="1"/>
          <p:nvPr/>
        </p:nvSpPr>
        <p:spPr>
          <a:xfrm>
            <a:off x="3505200" y="3713480"/>
            <a:ext cx="7874000" cy="254000"/>
          </a:xfrm>
          <a:prstGeom prst="rect">
            <a:avLst/>
          </a:prstGeom>
          <a:noFill/>
          <a:ln/>
        </p:spPr>
        <p:txBody>
          <a:bodyPr wrap="square" lIns="0" tIns="0" rIns="0" bIns="0" rtlCol="0" anchor="t"/>
          <a:lstStyle/>
          <a:p>
            <a:pPr algn="l" indent="0" marL="0">
              <a:lnSpc>
                <a:spcPct val="140000"/>
              </a:lnSpc>
              <a:buNone/>
            </a:pPr>
            <a:r>
              <a:rPr lang="en-US" sz="1250" dirty="0">
                <a:solidFill>
                  <a:srgbClr val="313336"/>
                </a:solidFill>
                <a:latin typeface="Inter" pitchFamily="34" charset="0"/>
                <a:ea typeface="Inter" pitchFamily="34" charset="-122"/>
                <a:cs typeface="Inter" pitchFamily="34" charset="-120"/>
              </a:rPr>
              <a:t>TikTok, the helpful video. The funnel to @aissakee rides only in the creator-money ones.</a:t>
            </a:r>
            <a:endParaRPr lang="en-US" sz="1250" dirty="0"/>
          </a:p>
        </p:txBody>
      </p:sp>
      <p:sp>
        <p:nvSpPr>
          <p:cNvPr id="21" name="text-67"/>
          <p:cNvSpPr txBox="1"/>
          <p:nvPr/>
        </p:nvSpPr>
        <p:spPr>
          <a:xfrm>
            <a:off x="812800" y="4043680"/>
            <a:ext cx="1079500" cy="215900"/>
          </a:xfrm>
          <a:prstGeom prst="rect">
            <a:avLst/>
          </a:prstGeom>
          <a:noFill/>
          <a:ln/>
        </p:spPr>
        <p:txBody>
          <a:bodyPr wrap="square" lIns="0" tIns="0" rIns="0" bIns="0" rtlCol="0" anchor="t"/>
          <a:lstStyle/>
          <a:p>
            <a:pPr algn="l" indent="0" marL="0">
              <a:lnSpc>
                <a:spcPct val="130000"/>
              </a:lnSpc>
              <a:buNone/>
            </a:pPr>
            <a:r>
              <a:rPr lang="en-US" sz="1200" dirty="0">
                <a:solidFill>
                  <a:srgbClr val="0F0F0F"/>
                </a:solidFill>
                <a:latin typeface="DM Mono" pitchFamily="34" charset="0"/>
                <a:ea typeface="DM Mono" pitchFamily="34" charset="-122"/>
                <a:cs typeface="DM Mono" pitchFamily="34" charset="-120"/>
              </a:rPr>
              <a:t>Afternoon</a:t>
            </a:r>
            <a:endParaRPr lang="en-US" sz="1200" dirty="0"/>
          </a:p>
        </p:txBody>
      </p:sp>
      <p:sp>
        <p:nvSpPr>
          <p:cNvPr id="22" name="leader-68"/>
          <p:cNvSpPr/>
          <p:nvPr/>
        </p:nvSpPr>
        <p:spPr>
          <a:xfrm>
            <a:off x="2006600" y="4145280"/>
            <a:ext cx="1384300" cy="0"/>
          </a:xfrm>
          <a:prstGeom prst="line">
            <a:avLst/>
          </a:prstGeom>
          <a:noFill/>
          <a:ln w="9525">
            <a:solidFill>
              <a:srgbClr val="313336">
                <a:alpha val="30000"/>
              </a:srgbClr>
            </a:solidFill>
            <a:prstDash val="dash"/>
          </a:ln>
        </p:spPr>
      </p:sp>
      <p:sp>
        <p:nvSpPr>
          <p:cNvPr id="23" name="text-69"/>
          <p:cNvSpPr txBox="1"/>
          <p:nvPr/>
        </p:nvSpPr>
        <p:spPr>
          <a:xfrm>
            <a:off x="3505200" y="4030980"/>
            <a:ext cx="7874000" cy="444500"/>
          </a:xfrm>
          <a:prstGeom prst="rect">
            <a:avLst/>
          </a:prstGeom>
          <a:noFill/>
          <a:ln/>
        </p:spPr>
        <p:txBody>
          <a:bodyPr wrap="square" lIns="0" tIns="0" rIns="0" bIns="0" rtlCol="0" anchor="t"/>
          <a:lstStyle/>
          <a:p>
            <a:pPr algn="l" indent="0" marL="0">
              <a:lnSpc>
                <a:spcPct val="140000"/>
              </a:lnSpc>
              <a:buNone/>
            </a:pPr>
            <a:r>
              <a:rPr lang="en-US" sz="1250" dirty="0">
                <a:solidFill>
                  <a:srgbClr val="313336"/>
                </a:solidFill>
                <a:latin typeface="Inter" pitchFamily="34" charset="0"/>
                <a:ea typeface="Inter" pitchFamily="34" charset="-122"/>
                <a:cs typeface="Inter" pitchFamily="34" charset="-120"/>
              </a:rPr>
              <a:t>Five DMs to businesses with the four-line DM and a concept attached. One Trial Reel of the best hook’s B take.</a:t>
            </a:r>
            <a:endParaRPr lang="en-US" sz="1250" dirty="0"/>
          </a:p>
        </p:txBody>
      </p:sp>
      <p:sp>
        <p:nvSpPr>
          <p:cNvPr id="24" name="text-70"/>
          <p:cNvSpPr txBox="1"/>
          <p:nvPr/>
        </p:nvSpPr>
        <p:spPr>
          <a:xfrm>
            <a:off x="812800" y="4551680"/>
            <a:ext cx="1079500" cy="215900"/>
          </a:xfrm>
          <a:prstGeom prst="rect">
            <a:avLst/>
          </a:prstGeom>
          <a:noFill/>
          <a:ln/>
        </p:spPr>
        <p:txBody>
          <a:bodyPr wrap="square" lIns="0" tIns="0" rIns="0" bIns="0" rtlCol="0" anchor="t"/>
          <a:lstStyle/>
          <a:p>
            <a:pPr algn="l" indent="0" marL="0">
              <a:lnSpc>
                <a:spcPct val="130000"/>
              </a:lnSpc>
              <a:buNone/>
            </a:pPr>
            <a:r>
              <a:rPr lang="en-US" sz="1200" dirty="0">
                <a:solidFill>
                  <a:srgbClr val="0F0F0F"/>
                </a:solidFill>
                <a:latin typeface="DM Mono" pitchFamily="34" charset="0"/>
                <a:ea typeface="DM Mono" pitchFamily="34" charset="-122"/>
                <a:cs typeface="DM Mono" pitchFamily="34" charset="-120"/>
              </a:rPr>
              <a:t>7 pm</a:t>
            </a:r>
            <a:endParaRPr lang="en-US" sz="1200" dirty="0"/>
          </a:p>
        </p:txBody>
      </p:sp>
      <p:sp>
        <p:nvSpPr>
          <p:cNvPr id="25" name="leader-71"/>
          <p:cNvSpPr/>
          <p:nvPr/>
        </p:nvSpPr>
        <p:spPr>
          <a:xfrm>
            <a:off x="2006600" y="4653280"/>
            <a:ext cx="1384300" cy="0"/>
          </a:xfrm>
          <a:prstGeom prst="line">
            <a:avLst/>
          </a:prstGeom>
          <a:noFill/>
          <a:ln w="9525">
            <a:solidFill>
              <a:srgbClr val="313336">
                <a:alpha val="30000"/>
              </a:srgbClr>
            </a:solidFill>
            <a:prstDash val="dash"/>
          </a:ln>
        </p:spPr>
      </p:sp>
      <p:sp>
        <p:nvSpPr>
          <p:cNvPr id="26" name="text-72"/>
          <p:cNvSpPr txBox="1"/>
          <p:nvPr/>
        </p:nvSpPr>
        <p:spPr>
          <a:xfrm>
            <a:off x="3505200" y="4538980"/>
            <a:ext cx="7874000" cy="444500"/>
          </a:xfrm>
          <a:prstGeom prst="rect">
            <a:avLst/>
          </a:prstGeom>
          <a:noFill/>
          <a:ln/>
        </p:spPr>
        <p:txBody>
          <a:bodyPr wrap="square" lIns="0" tIns="0" rIns="0" bIns="0" rtlCol="0" anchor="t"/>
          <a:lstStyle/>
          <a:p>
            <a:pPr algn="l" indent="0" marL="0">
              <a:lnSpc>
                <a:spcPct val="140000"/>
              </a:lnSpc>
              <a:buNone/>
            </a:pPr>
            <a:r>
              <a:rPr lang="en-US" sz="1250" dirty="0">
                <a:solidFill>
                  <a:srgbClr val="313336"/>
                </a:solidFill>
                <a:latin typeface="Inter" pitchFamily="34" charset="0"/>
                <a:ea typeface="Inter" pitchFamily="34" charset="-122"/>
                <a:cs typeface="Inter" pitchFamily="34" charset="-120"/>
              </a:rPr>
              <a:t>Reel 3, the format video, or the reply video if a comment earned one. Stories: poll, behind the scenes, the keyword reminder.</a:t>
            </a:r>
            <a:endParaRPr lang="en-US" sz="1250" dirty="0"/>
          </a:p>
        </p:txBody>
      </p:sp>
      <p:sp>
        <p:nvSpPr>
          <p:cNvPr id="27" name="text-73"/>
          <p:cNvSpPr txBox="1"/>
          <p:nvPr/>
        </p:nvSpPr>
        <p:spPr>
          <a:xfrm>
            <a:off x="812800" y="5059680"/>
            <a:ext cx="1079500" cy="215900"/>
          </a:xfrm>
          <a:prstGeom prst="rect">
            <a:avLst/>
          </a:prstGeom>
          <a:noFill/>
          <a:ln/>
        </p:spPr>
        <p:txBody>
          <a:bodyPr wrap="square" lIns="0" tIns="0" rIns="0" bIns="0" rtlCol="0" anchor="t"/>
          <a:lstStyle/>
          <a:p>
            <a:pPr algn="l" indent="0" marL="0">
              <a:lnSpc>
                <a:spcPct val="130000"/>
              </a:lnSpc>
              <a:buNone/>
            </a:pPr>
            <a:r>
              <a:rPr lang="en-US" sz="1200" dirty="0">
                <a:solidFill>
                  <a:srgbClr val="0F0F0F"/>
                </a:solidFill>
                <a:latin typeface="DM Mono" pitchFamily="34" charset="0"/>
                <a:ea typeface="DM Mono" pitchFamily="34" charset="-122"/>
                <a:cs typeface="DM Mono" pitchFamily="34" charset="-120"/>
              </a:rPr>
              <a:t>10 pm</a:t>
            </a:r>
            <a:endParaRPr lang="en-US" sz="1200" dirty="0"/>
          </a:p>
        </p:txBody>
      </p:sp>
      <p:sp>
        <p:nvSpPr>
          <p:cNvPr id="28" name="leader-74"/>
          <p:cNvSpPr/>
          <p:nvPr/>
        </p:nvSpPr>
        <p:spPr>
          <a:xfrm>
            <a:off x="2006600" y="5161280"/>
            <a:ext cx="1384300" cy="0"/>
          </a:xfrm>
          <a:prstGeom prst="line">
            <a:avLst/>
          </a:prstGeom>
          <a:noFill/>
          <a:ln w="9525">
            <a:solidFill>
              <a:srgbClr val="313336">
                <a:alpha val="30000"/>
              </a:srgbClr>
            </a:solidFill>
            <a:prstDash val="dash"/>
          </a:ln>
        </p:spPr>
      </p:sp>
      <p:sp>
        <p:nvSpPr>
          <p:cNvPr id="29" name="text-75"/>
          <p:cNvSpPr txBox="1"/>
          <p:nvPr/>
        </p:nvSpPr>
        <p:spPr>
          <a:xfrm>
            <a:off x="3505200" y="5046980"/>
            <a:ext cx="7874000" cy="444500"/>
          </a:xfrm>
          <a:prstGeom prst="rect">
            <a:avLst/>
          </a:prstGeom>
          <a:noFill/>
          <a:ln/>
        </p:spPr>
        <p:txBody>
          <a:bodyPr wrap="square" lIns="0" tIns="0" rIns="0" bIns="0" rtlCol="0" anchor="t"/>
          <a:lstStyle/>
          <a:p>
            <a:pPr algn="l" indent="0" marL="0">
              <a:lnSpc>
                <a:spcPct val="140000"/>
              </a:lnSpc>
              <a:buNone/>
            </a:pPr>
            <a:r>
              <a:rPr lang="en-US" sz="1250" dirty="0">
                <a:solidFill>
                  <a:srgbClr val="313336"/>
                </a:solidFill>
                <a:latin typeface="Inter" pitchFamily="34" charset="0"/>
                <a:ea typeface="Inter" pitchFamily="34" charset="-122"/>
                <a:cs typeface="Inter" pitchFamily="34" charset="-120"/>
              </a:rPr>
              <a:t>Scoreboard: views, new followers, follows per 1K views, best hook. Pick tomorrow’s hook from what worked.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C"/>
        </a:solidFill>
      </p:bgPr>
    </p:bg>
    <p:spTree>
      <p:nvGrpSpPr>
        <p:cNvPr id="1" name=""/>
        <p:cNvGrpSpPr/>
        <p:nvPr/>
      </p:nvGrpSpPr>
      <p:grpSpPr>
        <a:xfrm>
          <a:off x="0" y="0"/>
          <a:ext cx="0" cy="0"/>
          <a:chOff x="0" y="0"/>
          <a:chExt cx="0" cy="0"/>
        </a:xfrm>
      </p:grpSpPr>
      <p:sp>
        <p:nvSpPr>
          <p:cNvPr id="2" name="shape-76"/>
          <p:cNvSpPr/>
          <p:nvPr/>
        </p:nvSpPr>
        <p:spPr>
          <a:xfrm>
            <a:off x="152400" y="152400"/>
            <a:ext cx="11887200" cy="6553200"/>
          </a:xfrm>
          <a:prstGeom prst="roundRect">
            <a:avLst>
              <a:gd name="adj" fmla="val 2326"/>
            </a:avLst>
          </a:prstGeom>
          <a:solidFill>
            <a:srgbClr val="0F0F0F"/>
          </a:solidFill>
          <a:ln w="12700">
            <a:solidFill>
              <a:srgbClr val="0F0F0F">
                <a:alpha val="0"/>
              </a:srgbClr>
            </a:solidFill>
            <a:prstDash val="solid"/>
          </a:ln>
          <a:effectLst>
            <a:outerShdw sx="100000" sy="100000" kx="0" ky="0" algn="bl" rotWithShape="0" blurRad="76200" dist="25400" dir="5400000">
              <a:srgbClr val="000000">
                <a:alpha val="16000"/>
              </a:srgbClr>
            </a:outerShdw>
          </a:effectLst>
        </p:spPr>
      </p:sp>
      <p:pic>
        <p:nvPicPr>
          <p:cNvPr id="3" name="pixels-77" descr="pixels-dark.png">    </p:cNvPr>
          <p:cNvPicPr>
            <a:picLocks noChangeAspect="1"/>
          </p:cNvPicPr>
          <p:nvPr/>
        </p:nvPicPr>
        <p:blipFill>
          <a:blip r:embed="rId1"/>
          <a:stretch>
            <a:fillRect/>
          </a:stretch>
        </p:blipFill>
        <p:spPr>
          <a:xfrm>
            <a:off x="355600" y="6299200"/>
            <a:ext cx="11480800" cy="228600"/>
          </a:xfrm>
          <a:prstGeom prst="rect">
            <a:avLst/>
          </a:prstGeom>
        </p:spPr>
      </p:pic>
      <p:sp>
        <p:nvSpPr>
          <p:cNvPr id="4" name="text-78"/>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8C8C8C"/>
                </a:solidFill>
                <a:latin typeface="DM Mono" pitchFamily="34" charset="0"/>
                <a:ea typeface="DM Mono" pitchFamily="34" charset="-122"/>
                <a:cs typeface="DM Mono" pitchFamily="34" charset="-120"/>
              </a:rPr>
              <a:t>THE HONEST MATH</a:t>
            </a:r>
            <a:endParaRPr lang="en-US" sz="1200" dirty="0"/>
          </a:p>
        </p:txBody>
      </p:sp>
      <p:sp>
        <p:nvSpPr>
          <p:cNvPr id="5" name="title-79"/>
          <p:cNvSpPr txBox="1"/>
          <p:nvPr/>
        </p:nvSpPr>
        <p:spPr>
          <a:xfrm>
            <a:off x="812800" y="1117600"/>
            <a:ext cx="10566400" cy="589280"/>
          </a:xfrm>
          <a:prstGeom prst="rect">
            <a:avLst/>
          </a:prstGeom>
          <a:noFill/>
          <a:ln/>
        </p:spPr>
        <p:txBody>
          <a:bodyPr wrap="square" lIns="0" tIns="0" rIns="0" bIns="0" rtlCol="0" anchor="t"/>
          <a:lstStyle/>
          <a:p>
            <a:pPr algn="l" indent="0" marL="0">
              <a:lnSpc>
                <a:spcPct val="110000"/>
              </a:lnSpc>
              <a:buNone/>
            </a:pPr>
            <a:r>
              <a:rPr lang="en-US" sz="3600" spc="-216" kern="0" dirty="0">
                <a:solidFill>
                  <a:srgbClr val="FFFFFF"/>
                </a:solidFill>
                <a:latin typeface="Fraunces" pitchFamily="34" charset="0"/>
                <a:ea typeface="Fraunces" pitchFamily="34" charset="-122"/>
                <a:cs typeface="Fraunces" pitchFamily="34" charset="-120"/>
              </a:rPr>
              <a:t>10K by Sunday needs </a:t>
            </a:r>
            <a:pPr algn="l" indent="0" marL="0">
              <a:lnSpc>
                <a:spcPct val="110000"/>
              </a:lnSpc>
              <a:buNone/>
            </a:pPr>
            <a:r>
              <a:rPr lang="en-US" sz="3600" i="1" spc="-216" kern="0" dirty="0">
                <a:solidFill>
                  <a:srgbClr val="FF0090"/>
                </a:solidFill>
                <a:latin typeface="Fraunces" pitchFamily="34" charset="0"/>
                <a:ea typeface="Fraunces" pitchFamily="34" charset="-122"/>
                <a:cs typeface="Fraunces" pitchFamily="34" charset="-120"/>
              </a:rPr>
              <a:t>300K to 1M</a:t>
            </a:r>
            <a:pPr algn="l" indent="0" marL="0">
              <a:lnSpc>
                <a:spcPct val="110000"/>
              </a:lnSpc>
              <a:buNone/>
            </a:pPr>
            <a:r>
              <a:rPr lang="en-US" sz="3600" spc="-216" kern="0" dirty="0">
                <a:solidFill>
                  <a:srgbClr val="FFFFFF"/>
                </a:solidFill>
                <a:latin typeface="Fraunces" pitchFamily="34" charset="0"/>
                <a:ea typeface="Fraunces" pitchFamily="34" charset="-122"/>
                <a:cs typeface="Fraunces" pitchFamily="34" charset="-120"/>
              </a:rPr>
              <a:t> views</a:t>
            </a:r>
            <a:endParaRPr lang="en-US" sz="3600" dirty="0"/>
          </a:p>
        </p:txBody>
      </p:sp>
      <p:sp>
        <p:nvSpPr>
          <p:cNvPr id="6" name="text-80"/>
          <p:cNvSpPr txBox="1"/>
          <p:nvPr/>
        </p:nvSpPr>
        <p:spPr>
          <a:xfrm>
            <a:off x="812800" y="1859280"/>
            <a:ext cx="10566400" cy="796925"/>
          </a:xfrm>
          <a:prstGeom prst="rect">
            <a:avLst/>
          </a:prstGeom>
          <a:noFill/>
          <a:ln/>
        </p:spPr>
        <p:txBody>
          <a:bodyPr wrap="square" lIns="0" tIns="0" rIns="0" bIns="0" rtlCol="0" anchor="t"/>
          <a:lstStyle/>
          <a:p>
            <a:pPr algn="l" indent="0" marL="0">
              <a:lnSpc>
                <a:spcPct val="150000"/>
              </a:lnSpc>
              <a:buNone/>
            </a:pPr>
            <a:r>
              <a:rPr lang="en-US" sz="1350" dirty="0">
                <a:solidFill>
                  <a:srgbClr val="B9B9BC"/>
                </a:solidFill>
                <a:latin typeface="Inter" pitchFamily="34" charset="0"/>
                <a:ea typeface="Inter" pitchFamily="34" charset="-122"/>
                <a:cs typeface="Inter" pitchFamily="34" charset="-120"/>
              </a:rPr>
              <a:t>A new account converts about 1 to 3 follows per 100 viewers, even on strong “follow for more” content. Executed fully, 1K to 3K by Sunday is a strong result. 10K needs one video to break out, so the goal stays public: the challenge is the hook, and an honest Sunday result performs either way.</a:t>
            </a:r>
            <a:endParaRPr lang="en-US" sz="1350" dirty="0"/>
          </a:p>
        </p:txBody>
      </p:sp>
      <p:sp>
        <p:nvSpPr>
          <p:cNvPr id="7" name="shape-81"/>
          <p:cNvSpPr/>
          <p:nvPr/>
        </p:nvSpPr>
        <p:spPr>
          <a:xfrm>
            <a:off x="812800" y="2834005"/>
            <a:ext cx="3420533" cy="1968500"/>
          </a:xfrm>
          <a:prstGeom prst="roundRect">
            <a:avLst>
              <a:gd name="adj" fmla="val 5161"/>
            </a:avLst>
          </a:prstGeom>
          <a:solidFill>
            <a:srgbClr val="1A1A1A"/>
          </a:solidFill>
          <a:ln w="9525">
            <a:solidFill>
              <a:srgbClr val="1A1A1A"/>
            </a:solidFill>
            <a:prstDash val="solid"/>
          </a:ln>
          <a:effectLst>
            <a:outerShdw sx="100000" sy="100000" kx="0" ky="0" algn="bl" rotWithShape="0" blurRad="25400" dist="12700" dir="5400000">
              <a:srgbClr val="000000">
                <a:alpha val="6000"/>
              </a:srgbClr>
            </a:outerShdw>
          </a:effectLst>
        </p:spPr>
      </p:sp>
      <p:sp>
        <p:nvSpPr>
          <p:cNvPr id="8" name="shape-82"/>
          <p:cNvSpPr/>
          <p:nvPr/>
        </p:nvSpPr>
        <p:spPr>
          <a:xfrm>
            <a:off x="4385733" y="2834005"/>
            <a:ext cx="3420533" cy="1968500"/>
          </a:xfrm>
          <a:prstGeom prst="roundRect">
            <a:avLst>
              <a:gd name="adj" fmla="val 5161"/>
            </a:avLst>
          </a:prstGeom>
          <a:solidFill>
            <a:srgbClr val="1A1A1A"/>
          </a:solidFill>
          <a:ln w="9525">
            <a:solidFill>
              <a:srgbClr val="1A1A1A"/>
            </a:solidFill>
            <a:prstDash val="solid"/>
          </a:ln>
          <a:effectLst>
            <a:outerShdw sx="100000" sy="100000" kx="0" ky="0" algn="bl" rotWithShape="0" blurRad="25400" dist="12700" dir="5400000">
              <a:srgbClr val="000000">
                <a:alpha val="6000"/>
              </a:srgbClr>
            </a:outerShdw>
          </a:effectLst>
        </p:spPr>
      </p:sp>
      <p:sp>
        <p:nvSpPr>
          <p:cNvPr id="9" name="shape-83"/>
          <p:cNvSpPr/>
          <p:nvPr/>
        </p:nvSpPr>
        <p:spPr>
          <a:xfrm>
            <a:off x="7958667" y="2834005"/>
            <a:ext cx="3420533" cy="1968500"/>
          </a:xfrm>
          <a:prstGeom prst="roundRect">
            <a:avLst>
              <a:gd name="adj" fmla="val 5161"/>
            </a:avLst>
          </a:prstGeom>
          <a:solidFill>
            <a:srgbClr val="1A1A1A"/>
          </a:solidFill>
          <a:ln w="9525">
            <a:solidFill>
              <a:srgbClr val="1A1A1A"/>
            </a:solidFill>
            <a:prstDash val="solid"/>
          </a:ln>
          <a:effectLst>
            <a:outerShdw sx="100000" sy="100000" kx="0" ky="0" algn="bl" rotWithShape="0" blurRad="25400" dist="12700" dir="5400000">
              <a:srgbClr val="000000">
                <a:alpha val="6000"/>
              </a:srgbClr>
            </a:outerShdw>
          </a:effectLst>
        </p:spPr>
      </p:sp>
      <p:sp>
        <p:nvSpPr>
          <p:cNvPr id="10" name="paras-84"/>
          <p:cNvSpPr txBox="1"/>
          <p:nvPr/>
        </p:nvSpPr>
        <p:spPr>
          <a:xfrm>
            <a:off x="1016000" y="3011805"/>
            <a:ext cx="3014133" cy="1612900"/>
          </a:xfrm>
          <a:prstGeom prst="rect">
            <a:avLst/>
          </a:prstGeom>
          <a:noFill/>
          <a:ln/>
        </p:spPr>
        <p:txBody>
          <a:bodyPr wrap="square" lIns="0" tIns="0" rIns="0" bIns="0" rtlCol="0" anchor="t"/>
          <a:lstStyle/>
          <a:p>
            <a:pPr indent="0" marL="0">
              <a:lnSpc>
                <a:spcPct val="115000"/>
              </a:lnSpc>
              <a:spcAft>
                <a:spcPts val="1200"/>
              </a:spcAft>
              <a:buNone/>
            </a:pPr>
            <a:r>
              <a:rPr lang="en-US" sz="1600" spc="-80" kern="0" dirty="0">
                <a:solidFill>
                  <a:srgbClr val="FFFFFF"/>
                </a:solidFill>
                <a:latin typeface="Fraunces" pitchFamily="34" charset="0"/>
                <a:ea typeface="Fraunces" pitchFamily="34" charset="-122"/>
                <a:cs typeface="Fraunces" pitchFamily="34" charset="-120"/>
              </a:rPr>
              <a:t>Breakout Reels on @aissakee</a:t>
            </a:r>
            <a:endParaRPr lang="en-US" sz="1600" dirty="0"/>
          </a:p>
          <a:p>
            <a:pPr indent="0" marL="0">
              <a:lnSpc>
                <a:spcPct val="140000"/>
              </a:lnSpc>
              <a:spcAft>
                <a:spcPts val="600"/>
              </a:spcAft>
              <a:buNone/>
            </a:pPr>
            <a:r>
              <a:rPr lang="en-US" sz="1250" dirty="0">
                <a:solidFill>
                  <a:srgbClr val="B9B9BC"/>
                </a:solidFill>
                <a:latin typeface="Inter" pitchFamily="34" charset="0"/>
                <a:ea typeface="Inter" pitchFamily="34" charset="-122"/>
                <a:cs typeface="Inter" pitchFamily="34" charset="-120"/>
              </a:rPr>
              <a:t>Every hook is built to earn one. Three a day: one series episode, one value video, one format video.</a:t>
            </a:r>
            <a:endParaRPr lang="en-US" sz="1600" dirty="0"/>
          </a:p>
        </p:txBody>
      </p:sp>
      <p:sp>
        <p:nvSpPr>
          <p:cNvPr id="11" name="paras-85"/>
          <p:cNvSpPr txBox="1"/>
          <p:nvPr/>
        </p:nvSpPr>
        <p:spPr>
          <a:xfrm>
            <a:off x="4588933" y="3011805"/>
            <a:ext cx="3014133" cy="1612900"/>
          </a:xfrm>
          <a:prstGeom prst="rect">
            <a:avLst/>
          </a:prstGeom>
          <a:noFill/>
          <a:ln/>
        </p:spPr>
        <p:txBody>
          <a:bodyPr wrap="square" lIns="0" tIns="0" rIns="0" bIns="0" rtlCol="0" anchor="t"/>
          <a:lstStyle/>
          <a:p>
            <a:pPr indent="0" marL="0">
              <a:lnSpc>
                <a:spcPct val="115000"/>
              </a:lnSpc>
              <a:spcAft>
                <a:spcPts val="1200"/>
              </a:spcAft>
              <a:buNone/>
            </a:pPr>
            <a:r>
              <a:rPr lang="en-US" sz="1600" spc="-80" kern="0" dirty="0">
                <a:solidFill>
                  <a:srgbClr val="FFFFFF"/>
                </a:solidFill>
                <a:latin typeface="Fraunces" pitchFamily="34" charset="0"/>
                <a:ea typeface="Fraunces" pitchFamily="34" charset="-122"/>
                <a:cs typeface="Fraunces" pitchFamily="34" charset="-120"/>
              </a:rPr>
              <a:t>The audience you already have</a:t>
            </a:r>
            <a:endParaRPr lang="en-US" sz="1600" dirty="0"/>
          </a:p>
          <a:p>
            <a:pPr indent="0" marL="0">
              <a:lnSpc>
                <a:spcPct val="140000"/>
              </a:lnSpc>
              <a:spcAft>
                <a:spcPts val="600"/>
              </a:spcAft>
              <a:buNone/>
            </a:pPr>
            <a:r>
              <a:rPr lang="en-US" sz="1250" dirty="0">
                <a:solidFill>
                  <a:srgbClr val="B9B9BC"/>
                </a:solidFill>
                <a:latin typeface="Inter" pitchFamily="34" charset="0"/>
                <a:ea typeface="Inter" pitchFamily="34" charset="-122"/>
                <a:cs typeface="Inter" pitchFamily="34" charset="-120"/>
              </a:rPr>
              <a:t>@keekyt does about 15K TikTok views a day. The creator-money videos carry the funnel to @aissakee; strong-topic videos stay pure.</a:t>
            </a:r>
            <a:endParaRPr lang="en-US" sz="1600" dirty="0"/>
          </a:p>
        </p:txBody>
      </p:sp>
      <p:sp>
        <p:nvSpPr>
          <p:cNvPr id="12" name="paras-86"/>
          <p:cNvSpPr txBox="1"/>
          <p:nvPr/>
        </p:nvSpPr>
        <p:spPr>
          <a:xfrm>
            <a:off x="8161867" y="3011805"/>
            <a:ext cx="3014133" cy="1612900"/>
          </a:xfrm>
          <a:prstGeom prst="rect">
            <a:avLst/>
          </a:prstGeom>
          <a:noFill/>
          <a:ln/>
        </p:spPr>
        <p:txBody>
          <a:bodyPr wrap="square" lIns="0" tIns="0" rIns="0" bIns="0" rtlCol="0" anchor="t"/>
          <a:lstStyle/>
          <a:p>
            <a:pPr indent="0" marL="0">
              <a:lnSpc>
                <a:spcPct val="115000"/>
              </a:lnSpc>
              <a:spcAft>
                <a:spcPts val="1200"/>
              </a:spcAft>
              <a:buNone/>
            </a:pPr>
            <a:r>
              <a:rPr lang="en-US" sz="1600" spc="-80" kern="0" dirty="0">
                <a:solidFill>
                  <a:srgbClr val="FFFFFF"/>
                </a:solidFill>
                <a:latin typeface="Fraunces" pitchFamily="34" charset="0"/>
                <a:ea typeface="Fraunces" pitchFamily="34" charset="-122"/>
                <a:cs typeface="Fraunces" pitchFamily="34" charset="-120"/>
              </a:rPr>
              <a:t>Collab posts with @bykreeative</a:t>
            </a:r>
            <a:endParaRPr lang="en-US" sz="1600" dirty="0"/>
          </a:p>
          <a:p>
            <a:pPr indent="0" marL="0">
              <a:lnSpc>
                <a:spcPct val="140000"/>
              </a:lnSpc>
              <a:spcAft>
                <a:spcPts val="600"/>
              </a:spcAft>
              <a:buNone/>
            </a:pPr>
            <a:r>
              <a:rPr lang="en-US" sz="1250" dirty="0">
                <a:solidFill>
                  <a:srgbClr val="B9B9BC"/>
                </a:solidFill>
                <a:latin typeface="Inter" pitchFamily="34" charset="0"/>
                <a:ea typeface="Inter" pitchFamily="34" charset="-122"/>
                <a:cs typeface="Inter" pitchFamily="34" charset="-120"/>
              </a:rPr>
              <a:t>Every business video is posted as a collab, so it sits on both grids. One studio Story a day points to @aissakee.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C"/>
        </a:solidFill>
      </p:bgPr>
    </p:bg>
    <p:spTree>
      <p:nvGrpSpPr>
        <p:cNvPr id="1" name=""/>
        <p:cNvGrpSpPr/>
        <p:nvPr/>
      </p:nvGrpSpPr>
      <p:grpSpPr>
        <a:xfrm>
          <a:off x="0" y="0"/>
          <a:ext cx="0" cy="0"/>
          <a:chOff x="0" y="0"/>
          <a:chExt cx="0" cy="0"/>
        </a:xfrm>
      </p:grpSpPr>
      <p:sp>
        <p:nvSpPr>
          <p:cNvPr id="2" name="shape-87"/>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text-88"/>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CREATORS GOING VIRAL · THE MOVE, NOT THE WORDS</a:t>
            </a:r>
            <a:endParaRPr lang="en-US" sz="1200" dirty="0"/>
          </a:p>
        </p:txBody>
      </p:sp>
      <p:sp>
        <p:nvSpPr>
          <p:cNvPr id="4" name="title-89"/>
          <p:cNvSpPr txBox="1"/>
          <p:nvPr/>
        </p:nvSpPr>
        <p:spPr>
          <a:xfrm>
            <a:off x="812800" y="1117600"/>
            <a:ext cx="10566400" cy="589280"/>
          </a:xfrm>
          <a:prstGeom prst="rect">
            <a:avLst/>
          </a:prstGeom>
          <a:noFill/>
          <a:ln/>
        </p:spPr>
        <p:txBody>
          <a:bodyPr wrap="square" lIns="0" tIns="0" rIns="0" bIns="0" rtlCol="0" anchor="t"/>
          <a:lstStyle/>
          <a:p>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Steal the </a:t>
            </a:r>
            <a:pPr algn="l" indent="0" marL="0">
              <a:lnSpc>
                <a:spcPct val="110000"/>
              </a:lnSpc>
              <a:buNone/>
            </a:pPr>
            <a:r>
              <a:rPr lang="en-US" sz="3600" i="1" spc="-216" kern="0" dirty="0">
                <a:solidFill>
                  <a:srgbClr val="FF0090"/>
                </a:solidFill>
                <a:latin typeface="Fraunces" pitchFamily="34" charset="0"/>
                <a:ea typeface="Fraunces" pitchFamily="34" charset="-122"/>
                <a:cs typeface="Fraunces" pitchFamily="34" charset="-120"/>
              </a:rPr>
              <a:t>move</a:t>
            </a:r>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 not the words</a:t>
            </a:r>
            <a:endParaRPr lang="en-US" sz="3600" dirty="0"/>
          </a:p>
        </p:txBody>
      </p:sp>
      <p:sp>
        <p:nvSpPr>
          <p:cNvPr id="5" name="shape-90"/>
          <p:cNvSpPr/>
          <p:nvPr/>
        </p:nvSpPr>
        <p:spPr>
          <a:xfrm>
            <a:off x="812800"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6" name="shape-91"/>
          <p:cNvSpPr/>
          <p:nvPr/>
        </p:nvSpPr>
        <p:spPr>
          <a:xfrm>
            <a:off x="4385733"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7" name="shape-92"/>
          <p:cNvSpPr/>
          <p:nvPr/>
        </p:nvSpPr>
        <p:spPr>
          <a:xfrm>
            <a:off x="7958667"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8" name="paras-93"/>
          <p:cNvSpPr txBox="1"/>
          <p:nvPr/>
        </p:nvSpPr>
        <p:spPr>
          <a:xfrm>
            <a:off x="990600"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Jenny Hoyos</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YouTube Shorts · 600M+ views in a year</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A stake, a number and someone to prove wrong in the first second. Shock, intrigue, satisfy: open the loop, then pay it off.</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“What does $1 get you at Starbucks?” (23M views)</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“What does $95 get you from a designer?”</a:t>
            </a:r>
            <a:endParaRPr lang="en-US" sz="1700" dirty="0"/>
          </a:p>
        </p:txBody>
      </p:sp>
      <p:sp>
        <p:nvSpPr>
          <p:cNvPr id="9" name="paras-94"/>
          <p:cNvSpPr txBox="1"/>
          <p:nvPr/>
        </p:nvSpPr>
        <p:spPr>
          <a:xfrm>
            <a:off x="4563533"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Alex Hormozi</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Business short-form</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“How I”, never “how to”. A bold claim or a confession with a number in the first half-second.</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“I paid Grant Cardone $120,000 for four hours.”</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“I charge $1,500 for a website and I’m a student. Here’s why clients pay it.”</a:t>
            </a:r>
            <a:endParaRPr lang="en-US" sz="1700" dirty="0"/>
          </a:p>
        </p:txBody>
      </p:sp>
      <p:sp>
        <p:nvSpPr>
          <p:cNvPr id="10" name="paras-95"/>
          <p:cNvSpPr txBox="1"/>
          <p:nvPr/>
        </p:nvSpPr>
        <p:spPr>
          <a:xfrm>
            <a:off x="8136467"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Dan Koe</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2.6M across platforms</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Aphorism first: a belief stated as fact, then stop. Or the “you” diagnosis that names the viewer’s condition.</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“Nobody is coming to save you.”</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“Nobody is going to DM you first.”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C"/>
        </a:solidFill>
      </p:bgPr>
    </p:bg>
    <p:spTree>
      <p:nvGrpSpPr>
        <p:cNvPr id="1" name=""/>
        <p:cNvGrpSpPr/>
        <p:nvPr/>
      </p:nvGrpSpPr>
      <p:grpSpPr>
        <a:xfrm>
          <a:off x="0" y="0"/>
          <a:ext cx="0" cy="0"/>
          <a:chOff x="0" y="0"/>
          <a:chExt cx="0" cy="0"/>
        </a:xfrm>
      </p:grpSpPr>
      <p:sp>
        <p:nvSpPr>
          <p:cNvPr id="2" name="shape-96"/>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text-97"/>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CREATORS GOING VIRAL · THE MOVE, NOT THE WORDS</a:t>
            </a:r>
            <a:endParaRPr lang="en-US" sz="1200" dirty="0"/>
          </a:p>
        </p:txBody>
      </p:sp>
      <p:sp>
        <p:nvSpPr>
          <p:cNvPr id="4" name="title-98"/>
          <p:cNvSpPr txBox="1"/>
          <p:nvPr/>
        </p:nvSpPr>
        <p:spPr>
          <a:xfrm>
            <a:off x="812800" y="1117600"/>
            <a:ext cx="10566400" cy="589280"/>
          </a:xfrm>
          <a:prstGeom prst="rect">
            <a:avLst/>
          </a:prstGeom>
          <a:noFill/>
          <a:ln/>
        </p:spPr>
        <p:txBody>
          <a:bodyPr wrap="square" lIns="0" tIns="0" rIns="0" bIns="0" rtlCol="0" anchor="t"/>
          <a:lstStyle/>
          <a:p>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Three </a:t>
            </a:r>
            <a:pPr algn="l" indent="0" marL="0">
              <a:lnSpc>
                <a:spcPct val="110000"/>
              </a:lnSpc>
              <a:buNone/>
            </a:pPr>
            <a:r>
              <a:rPr lang="en-US" sz="3600" i="1" spc="-216" kern="0" dirty="0">
                <a:solidFill>
                  <a:srgbClr val="FF0090"/>
                </a:solidFill>
                <a:latin typeface="Fraunces" pitchFamily="34" charset="0"/>
                <a:ea typeface="Fraunces" pitchFamily="34" charset="-122"/>
                <a:cs typeface="Fraunces" pitchFamily="34" charset="-120"/>
              </a:rPr>
              <a:t>more</a:t>
            </a:r>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 moves</a:t>
            </a:r>
            <a:endParaRPr lang="en-US" sz="3600" dirty="0"/>
          </a:p>
        </p:txBody>
      </p:sp>
      <p:sp>
        <p:nvSpPr>
          <p:cNvPr id="5" name="shape-99"/>
          <p:cNvSpPr/>
          <p:nvPr/>
        </p:nvSpPr>
        <p:spPr>
          <a:xfrm>
            <a:off x="812800"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6" name="shape-100"/>
          <p:cNvSpPr/>
          <p:nvPr/>
        </p:nvSpPr>
        <p:spPr>
          <a:xfrm>
            <a:off x="4385733"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7" name="shape-101"/>
          <p:cNvSpPr/>
          <p:nvPr/>
        </p:nvSpPr>
        <p:spPr>
          <a:xfrm>
            <a:off x="7958667"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8" name="paras-102"/>
          <p:cNvSpPr txBox="1"/>
          <p:nvPr/>
        </p:nvSpPr>
        <p:spPr>
          <a:xfrm>
            <a:off x="990600"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Ali Abdaal</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1M+ on YouTube</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A second-person pain question from frame 1, the promise at 3 seconds, the concept named at 5. Same move as the under-10K qualifier: “If you have under 1,000 followers, watch this.”</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“Have you ever heard of the region beta paradox? You might be suffering from it right now.”</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“You don’t need 10K followers to get PR packages. You need one page.”</a:t>
            </a:r>
            <a:endParaRPr lang="en-US" sz="1700" dirty="0"/>
          </a:p>
        </p:txBody>
      </p:sp>
      <p:sp>
        <p:nvSpPr>
          <p:cNvPr id="9" name="paras-103"/>
          <p:cNvSpPr txBox="1"/>
          <p:nvPr/>
        </p:nvSpPr>
        <p:spPr>
          <a:xfrm>
            <a:off x="4563533"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Tanner Leatherstein</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1.7M · a Hook Point case</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Cut the product open and show what it really costs. The reveal is the hook.</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Cuts luxury bags apart on camera to show what they cost to make.</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“This flyer is $95. Here’s what it actually takes.”</a:t>
            </a:r>
            <a:endParaRPr lang="en-US" sz="1700" dirty="0"/>
          </a:p>
        </p:txBody>
      </p:sp>
      <p:sp>
        <p:nvSpPr>
          <p:cNvPr id="10" name="paras-104"/>
          <p:cNvSpPr txBox="1"/>
          <p:nvPr/>
        </p:nvSpPr>
        <p:spPr>
          <a:xfrm>
            <a:off x="8136467"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Two characters, one lightbulb</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A Hook Point format</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Play the client and the designer. The expert corrects the novice’s misconception, and the viewer has the lightbulb.</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Expert and novice in one video, two outfits, hard cuts.</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“Can you do it for exposure?” / “No. Here’s what I’ll do instead.”</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C"/>
        </a:solidFill>
      </p:bgPr>
    </p:bg>
    <p:spTree>
      <p:nvGrpSpPr>
        <p:cNvPr id="1" name=""/>
        <p:cNvGrpSpPr/>
        <p:nvPr/>
      </p:nvGrpSpPr>
      <p:grpSpPr>
        <a:xfrm>
          <a:off x="0" y="0"/>
          <a:ext cx="0" cy="0"/>
          <a:chOff x="0" y="0"/>
          <a:chExt cx="0" cy="0"/>
        </a:xfrm>
      </p:grpSpPr>
      <p:sp>
        <p:nvSpPr>
          <p:cNvPr id="2" name="shape-105"/>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text-106"/>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CREATORS GOING VIRAL · THE MOVE, NOT THE WORDS</a:t>
            </a:r>
            <a:endParaRPr lang="en-US" sz="1200" dirty="0"/>
          </a:p>
        </p:txBody>
      </p:sp>
      <p:sp>
        <p:nvSpPr>
          <p:cNvPr id="4" name="title-107"/>
          <p:cNvSpPr txBox="1"/>
          <p:nvPr/>
        </p:nvSpPr>
        <p:spPr>
          <a:xfrm>
            <a:off x="812800" y="1117600"/>
            <a:ext cx="10566400" cy="589280"/>
          </a:xfrm>
          <a:prstGeom prst="rect">
            <a:avLst/>
          </a:prstGeom>
          <a:noFill/>
          <a:ln/>
        </p:spPr>
        <p:txBody>
          <a:bodyPr wrap="square" lIns="0" tIns="0" rIns="0" bIns="0" rtlCol="0" anchor="t"/>
          <a:lstStyle/>
          <a:p>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And the three your </a:t>
            </a:r>
            <a:pPr algn="l" indent="0" marL="0">
              <a:lnSpc>
                <a:spcPct val="110000"/>
              </a:lnSpc>
              <a:buNone/>
            </a:pPr>
            <a:r>
              <a:rPr lang="en-US" sz="3600" i="1" spc="-216" kern="0" dirty="0">
                <a:solidFill>
                  <a:srgbClr val="FF0090"/>
                </a:solidFill>
                <a:latin typeface="Fraunces" pitchFamily="34" charset="0"/>
                <a:ea typeface="Fraunces" pitchFamily="34" charset="-122"/>
                <a:cs typeface="Fraunces" pitchFamily="34" charset="-120"/>
              </a:rPr>
              <a:t>audience</a:t>
            </a:r>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 knows</a:t>
            </a:r>
            <a:endParaRPr lang="en-US" sz="3600" dirty="0"/>
          </a:p>
        </p:txBody>
      </p:sp>
      <p:sp>
        <p:nvSpPr>
          <p:cNvPr id="5" name="shape-108"/>
          <p:cNvSpPr/>
          <p:nvPr/>
        </p:nvSpPr>
        <p:spPr>
          <a:xfrm>
            <a:off x="812800"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6" name="shape-109"/>
          <p:cNvSpPr/>
          <p:nvPr/>
        </p:nvSpPr>
        <p:spPr>
          <a:xfrm>
            <a:off x="4385733"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7" name="shape-110"/>
          <p:cNvSpPr/>
          <p:nvPr/>
        </p:nvSpPr>
        <p:spPr>
          <a:xfrm>
            <a:off x="7958667"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8" name="paras-111"/>
          <p:cNvSpPr txBox="1"/>
          <p:nvPr/>
        </p:nvSpPr>
        <p:spPr>
          <a:xfrm>
            <a:off x="990600"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Charity Ekezie</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Nigeria · a 17M-view video</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Reply to a real comment as the hook. The viewer becomes the protagonist. Sarcasm when the comment deserves it.</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Her videos open on the ignorant comment, then she answers it.</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Every “how?” comment this week becomes a reply video.</a:t>
            </a:r>
            <a:endParaRPr lang="en-US" sz="1700" dirty="0"/>
          </a:p>
        </p:txBody>
      </p:sp>
      <p:sp>
        <p:nvSpPr>
          <p:cNvPr id="9" name="paras-112"/>
          <p:cNvSpPr txBox="1"/>
          <p:nvPr/>
        </p:nvSpPr>
        <p:spPr>
          <a:xfrm>
            <a:off x="4563533"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Jade Beason</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UK creator-business</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Series are the growth engine of a creator business. Name the series on screen every time.</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Her 2026 framework puts series content first.</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“31 → 10K, day 2” on every episode, same place, same style.</a:t>
            </a:r>
            <a:endParaRPr lang="en-US" sz="1700" dirty="0"/>
          </a:p>
        </p:txBody>
      </p:sp>
      <p:sp>
        <p:nvSpPr>
          <p:cNvPr id="10" name="paras-113"/>
          <p:cNvSpPr txBox="1"/>
          <p:nvPr/>
        </p:nvSpPr>
        <p:spPr>
          <a:xfrm>
            <a:off x="8136467"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Kone Mia, Gaelle Taglao, Rach Makosso</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Côte d’Ivoire TikTok · 1.5M, 827K, and the franc-parler</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Straight talk to camera, humour, social commentary. In 2026 Ivorian creators have pushed public bodies to respond.</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What everyone is living, said out loud.</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Your petition and call-out videos on @keekyt. Keep the humour in.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C"/>
        </a:solidFill>
      </p:bgPr>
    </p:bg>
    <p:spTree>
      <p:nvGrpSpPr>
        <p:cNvPr id="1" name=""/>
        <p:cNvGrpSpPr/>
        <p:nvPr/>
      </p:nvGrpSpPr>
      <p:grpSpPr>
        <a:xfrm>
          <a:off x="0" y="0"/>
          <a:ext cx="0" cy="0"/>
          <a:chOff x="0" y="0"/>
          <a:chExt cx="0" cy="0"/>
        </a:xfrm>
      </p:grpSpPr>
      <p:sp>
        <p:nvSpPr>
          <p:cNvPr id="2" name="shape-114"/>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text-115"/>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CREATORS GOING VIRAL · THE VIDEOS YOU SENT, 2 OCT</a:t>
            </a:r>
            <a:endParaRPr lang="en-US" sz="1200" dirty="0"/>
          </a:p>
        </p:txBody>
      </p:sp>
      <p:sp>
        <p:nvSpPr>
          <p:cNvPr id="4" name="title-116"/>
          <p:cNvSpPr txBox="1"/>
          <p:nvPr/>
        </p:nvSpPr>
        <p:spPr>
          <a:xfrm>
            <a:off x="812800" y="1117600"/>
            <a:ext cx="10566400" cy="589280"/>
          </a:xfrm>
          <a:prstGeom prst="rect">
            <a:avLst/>
          </a:prstGeom>
          <a:noFill/>
          <a:ln/>
        </p:spPr>
        <p:txBody>
          <a:bodyPr wrap="square" lIns="0" tIns="0" rIns="0" bIns="0" rtlCol="0" anchor="t"/>
          <a:lstStyle/>
          <a:p>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What the videos you </a:t>
            </a:r>
            <a:pPr algn="l" indent="0" marL="0">
              <a:lnSpc>
                <a:spcPct val="110000"/>
              </a:lnSpc>
              <a:buNone/>
            </a:pPr>
            <a:r>
              <a:rPr lang="en-US" sz="3600" i="1" spc="-216" kern="0" dirty="0">
                <a:solidFill>
                  <a:srgbClr val="FF0090"/>
                </a:solidFill>
                <a:latin typeface="Fraunces" pitchFamily="34" charset="0"/>
                <a:ea typeface="Fraunces" pitchFamily="34" charset="-122"/>
                <a:cs typeface="Fraunces" pitchFamily="34" charset="-120"/>
              </a:rPr>
              <a:t>sent</a:t>
            </a:r>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 do</a:t>
            </a:r>
            <a:endParaRPr lang="en-US" sz="3600" dirty="0"/>
          </a:p>
        </p:txBody>
      </p:sp>
      <p:sp>
        <p:nvSpPr>
          <p:cNvPr id="5" name="shape-117"/>
          <p:cNvSpPr/>
          <p:nvPr/>
        </p:nvSpPr>
        <p:spPr>
          <a:xfrm>
            <a:off x="812800"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6" name="shape-118"/>
          <p:cNvSpPr/>
          <p:nvPr/>
        </p:nvSpPr>
        <p:spPr>
          <a:xfrm>
            <a:off x="4385733"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7" name="shape-119"/>
          <p:cNvSpPr/>
          <p:nvPr/>
        </p:nvSpPr>
        <p:spPr>
          <a:xfrm>
            <a:off x="7958667"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8" name="paras-120"/>
          <p:cNvSpPr txBox="1"/>
          <p:nvPr/>
        </p:nvSpPr>
        <p:spPr>
          <a:xfrm>
            <a:off x="990600"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Pull, build, act</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Abigail · six figures on mid-tier engagement</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Each video does one job: pull (broad, for strangers), build (specific, for the people already here) or act (direct, for buyers). Doing all three at once is why a video lands nowhere. Plan by job, not by look.</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“Each video doesn’t have to go viral. It just has to pull someone in, build trust, or make someone act.”</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Episode = pull. Value video = build. The collab price videos with SPOT, SITE or FLYER = act. One job per video, visible in the first line.</a:t>
            </a:r>
            <a:endParaRPr lang="en-US" sz="1700" dirty="0"/>
          </a:p>
        </p:txBody>
      </p:sp>
      <p:sp>
        <p:nvSpPr>
          <p:cNvPr id="9" name="paras-121"/>
          <p:cNvSpPr txBox="1"/>
          <p:nvPr/>
        </p:nvSpPr>
        <p:spPr>
          <a:xfrm>
            <a:off x="4563533"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Document the pursuit</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“Stop creating, start documenting”</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Documenting is not your routine, it is your pursuit: a goal strangers can root for. Progress is the storyline, so you never run out of content.</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“Documenting isn’t about your daily routine. It’s about your pursuit. Your daily progress is the storyline.”</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31 → 10K is the pursuit. The lesson opens every episode, the number proves it, the raw diary stays in Stories.</a:t>
            </a:r>
            <a:endParaRPr lang="en-US" sz="1700" dirty="0"/>
          </a:p>
        </p:txBody>
      </p:sp>
      <p:sp>
        <p:nvSpPr>
          <p:cNvPr id="10" name="paras-122"/>
          <p:cNvSpPr txBox="1"/>
          <p:nvPr/>
        </p:nvSpPr>
        <p:spPr>
          <a:xfrm>
            <a:off x="8136467"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Four types that work when you start</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“Everything But the Edit” · a Canadian editing series</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Curiosity (a window into a life that isn’t theirs), a series (people come back daily), bold contrast, and a remake of what already worked. You don’t need new ideas; notice what worked and do more of it.</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“My Money video got over 70,000 views because people love a window into a life that isn’t theirs.”</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Curiosity = the receipts videos. Series = 31 → 10K. Contrast = $560 job vs $419 order. Remake = your TikTok outliers, filmed again.</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C"/>
        </a:solidFill>
      </p:bgPr>
    </p:bg>
    <p:spTree>
      <p:nvGrpSpPr>
        <p:cNvPr id="1" name=""/>
        <p:cNvGrpSpPr/>
        <p:nvPr/>
      </p:nvGrpSpPr>
      <p:grpSpPr>
        <a:xfrm>
          <a:off x="0" y="0"/>
          <a:ext cx="0" cy="0"/>
          <a:chOff x="0" y="0"/>
          <a:chExt cx="0" cy="0"/>
        </a:xfrm>
      </p:grpSpPr>
      <p:sp>
        <p:nvSpPr>
          <p:cNvPr id="2" name="shape-123"/>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text-124"/>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CREATORS GOING VIRAL · THE VIDEOS YOU SENT, 2 OCT</a:t>
            </a:r>
            <a:endParaRPr lang="en-US" sz="1200" dirty="0"/>
          </a:p>
        </p:txBody>
      </p:sp>
      <p:sp>
        <p:nvSpPr>
          <p:cNvPr id="4" name="title-125"/>
          <p:cNvSpPr txBox="1"/>
          <p:nvPr/>
        </p:nvSpPr>
        <p:spPr>
          <a:xfrm>
            <a:off x="812800" y="1117600"/>
            <a:ext cx="10566400" cy="589280"/>
          </a:xfrm>
          <a:prstGeom prst="rect">
            <a:avLst/>
          </a:prstGeom>
          <a:noFill/>
          <a:ln/>
        </p:spPr>
        <p:txBody>
          <a:bodyPr wrap="square" lIns="0" tIns="0" rIns="0" bIns="0" rtlCol="0" anchor="t"/>
          <a:lstStyle/>
          <a:p>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…and the </a:t>
            </a:r>
            <a:pPr algn="l" indent="0" marL="0">
              <a:lnSpc>
                <a:spcPct val="110000"/>
              </a:lnSpc>
              <a:buNone/>
            </a:pPr>
            <a:r>
              <a:rPr lang="en-US" sz="3600" i="1" spc="-216" kern="0" dirty="0">
                <a:solidFill>
                  <a:srgbClr val="FF0090"/>
                </a:solidFill>
                <a:latin typeface="Fraunces" pitchFamily="34" charset="0"/>
                <a:ea typeface="Fraunces" pitchFamily="34" charset="-122"/>
                <a:cs typeface="Fraunces" pitchFamily="34" charset="-120"/>
              </a:rPr>
              <a:t>talk-to-camera</a:t>
            </a:r>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 moves</a:t>
            </a:r>
            <a:endParaRPr lang="en-US" sz="3600" dirty="0"/>
          </a:p>
        </p:txBody>
      </p:sp>
      <p:sp>
        <p:nvSpPr>
          <p:cNvPr id="5" name="shape-126"/>
          <p:cNvSpPr/>
          <p:nvPr/>
        </p:nvSpPr>
        <p:spPr>
          <a:xfrm>
            <a:off x="812800"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6" name="shape-127"/>
          <p:cNvSpPr/>
          <p:nvPr/>
        </p:nvSpPr>
        <p:spPr>
          <a:xfrm>
            <a:off x="4385733"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7" name="shape-128"/>
          <p:cNvSpPr/>
          <p:nvPr/>
        </p:nvSpPr>
        <p:spPr>
          <a:xfrm>
            <a:off x="7958667" y="1859280"/>
            <a:ext cx="3420533" cy="436372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8" name="paras-129"/>
          <p:cNvSpPr txBox="1"/>
          <p:nvPr/>
        </p:nvSpPr>
        <p:spPr>
          <a:xfrm>
            <a:off x="990600"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The urgency rant</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“There is a slow epidemic”</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Name the condition, then the contrast: everyone wants the money, the body, the PR, and nobody moves. A run of short questions, no softening, one line the viewer repeats to a friend.</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“Why is it taking you nine months to think about a name? You have nothing to lose.”</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“You’ve had the idea for nine months. I started this account at 31 followers last week.” Strong topic: TikTok first, French hook on screen.</a:t>
            </a:r>
            <a:endParaRPr lang="en-US" sz="1700" dirty="0"/>
          </a:p>
        </p:txBody>
      </p:sp>
      <p:sp>
        <p:nvSpPr>
          <p:cNvPr id="9" name="paras-130"/>
          <p:cNvSpPr txBox="1"/>
          <p:nvPr/>
        </p:nvSpPr>
        <p:spPr>
          <a:xfrm>
            <a:off x="4563533"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The question everyone asks</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“Where should I start?”</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Open on the question, then the uncomfortable stat behind it. The answer is consistency, imperfection, the cringe and people one step ahead of you. Never gear.</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“Everyone who asked me that has never posted more than five videos.”</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“How do I get clients?” Everyone who asks me that has sent zero DMs. Here are the five I send a day. Reply-video format.</a:t>
            </a:r>
            <a:endParaRPr lang="en-US" sz="1700" dirty="0"/>
          </a:p>
        </p:txBody>
      </p:sp>
      <p:sp>
        <p:nvSpPr>
          <p:cNvPr id="10" name="paras-131"/>
          <p:cNvSpPr txBox="1"/>
          <p:nvPr/>
        </p:nvSpPr>
        <p:spPr>
          <a:xfrm>
            <a:off x="8136467" y="2024380"/>
            <a:ext cx="3064933" cy="4033520"/>
          </a:xfrm>
          <a:prstGeom prst="rect">
            <a:avLst/>
          </a:prstGeom>
          <a:noFill/>
          <a:ln/>
        </p:spPr>
        <p:txBody>
          <a:bodyPr wrap="square" lIns="0" tIns="0" rIns="0" bIns="0" rtlCol="0" anchor="t"/>
          <a:lstStyle/>
          <a:p>
            <a:pPr indent="0" marL="0">
              <a:lnSpc>
                <a:spcPct val="110000"/>
              </a:lnSpc>
              <a:spcAft>
                <a:spcPts val="400"/>
              </a:spcAft>
              <a:buNone/>
            </a:pPr>
            <a:r>
              <a:rPr lang="en-US" sz="1700" spc="-100" kern="0" dirty="0">
                <a:solidFill>
                  <a:srgbClr val="0F0F0F"/>
                </a:solidFill>
                <a:latin typeface="Fraunces" pitchFamily="34" charset="0"/>
                <a:ea typeface="Fraunces" pitchFamily="34" charset="-122"/>
                <a:cs typeface="Fraunces" pitchFamily="34" charset="-120"/>
              </a:rPr>
              <a:t>Say what others won’t, then outcare</a:t>
            </a:r>
            <a:endParaRPr lang="en-US" sz="1700" dirty="0"/>
          </a:p>
          <a:p>
            <a:pPr indent="0" marL="0">
              <a:lnSpc>
                <a:spcPct val="130000"/>
              </a:lnSpc>
              <a:spcAft>
                <a:spcPts val="1000"/>
              </a:spcAft>
              <a:buNone/>
            </a:pPr>
            <a:r>
              <a:rPr lang="en-US" sz="1200" dirty="0">
                <a:solidFill>
                  <a:srgbClr val="6F6F6F"/>
                </a:solidFill>
                <a:latin typeface="DM Mono" pitchFamily="34" charset="0"/>
                <a:ea typeface="DM Mono" pitchFamily="34" charset="-122"/>
                <a:cs typeface="DM Mono" pitchFamily="34" charset="-120"/>
              </a:rPr>
              <a:t>“My entire content strategy in 60 seconds”</a:t>
            </a:r>
            <a:endParaRPr lang="en-US" sz="1700" dirty="0"/>
          </a:p>
          <a:p>
            <a:pPr indent="0" marL="0">
              <a:lnSpc>
                <a:spcPct val="132000"/>
              </a:lnSpc>
              <a:spcAft>
                <a:spcPts val="1000"/>
              </a:spcAft>
              <a:buNone/>
            </a:pPr>
            <a:r>
              <a:rPr lang="en-US" sz="1150" dirty="0">
                <a:solidFill>
                  <a:srgbClr val="313336"/>
                </a:solidFill>
                <a:latin typeface="Inter" pitchFamily="34" charset="0"/>
                <a:ea typeface="Inter" pitchFamily="34" charset="-122"/>
                <a:cs typeface="Inter" pitchFamily="34" charset="-120"/>
              </a:rPr>
              <a:t>Describe what the viewer feels better than they can. Say the thing people think but won’t. Don’t gatekeep, invite the follow, open loops across videos, repost your outliers every 90 days.</a:t>
            </a:r>
            <a:endParaRPr lang="en-US" sz="1700" dirty="0"/>
          </a:p>
          <a:p>
            <a:pPr indent="0" marL="0">
              <a:lnSpc>
                <a:spcPct val="125000"/>
              </a:lnSpc>
              <a:spcAft>
                <a:spcPts val="1000"/>
              </a:spcAft>
              <a:buNone/>
            </a:pPr>
            <a:r>
              <a:rPr lang="en-US" sz="1300" i="1" spc="-40" kern="0" dirty="0">
                <a:solidFill>
                  <a:srgbClr val="313336"/>
                </a:solidFill>
                <a:latin typeface="Fraunces" pitchFamily="34" charset="0"/>
                <a:ea typeface="Fraunces" pitchFamily="34" charset="-122"/>
                <a:cs typeface="Fraunces" pitchFamily="34" charset="-120"/>
              </a:rPr>
              <a:t>“I make six figures with mid-tier engagement. A lot of you have more engagement than me. What’s the difference?”</a:t>
            </a:r>
            <a:endParaRPr lang="en-US" sz="1700" dirty="0"/>
          </a:p>
          <a:p>
            <a:pPr indent="0" marL="0">
              <a:lnSpc>
                <a:spcPct val="132000"/>
              </a:lnSpc>
              <a:spcAft>
                <a:spcPts val="600"/>
              </a:spcAft>
              <a:buNone/>
            </a:pPr>
            <a:r>
              <a:rPr lang="en-US" sz="1150" dirty="0">
                <a:solidFill>
                  <a:srgbClr val="C20070"/>
                </a:solidFill>
                <a:latin typeface="Inter" pitchFamily="34" charset="0"/>
                <a:ea typeface="Inter" pitchFamily="34" charset="-122"/>
                <a:cs typeface="Inter" pitchFamily="34" charset="-120"/>
              </a:rPr>
              <a:t>Yours · </a:t>
            </a:r>
            <a:pPr indent="0" marL="0">
              <a:lnSpc>
                <a:spcPct val="132000"/>
              </a:lnSpc>
              <a:spcAft>
                <a:spcPts val="600"/>
              </a:spcAft>
              <a:buNone/>
            </a:pPr>
            <a:r>
              <a:rPr lang="en-US" sz="1150" dirty="0">
                <a:solidFill>
                  <a:srgbClr val="0F0F0F"/>
                </a:solidFill>
                <a:latin typeface="Inter" pitchFamily="34" charset="0"/>
                <a:ea typeface="Inter" pitchFamily="34" charset="-122"/>
                <a:cs typeface="Inter" pitchFamily="34" charset="-120"/>
              </a:rPr>
              <a:t>“4 million views paid me $0. One order paid $419. Here’s the difference.” Every episode ends on an open loop for the next one.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C"/>
        </a:solidFill>
      </p:bgPr>
    </p:bg>
    <p:spTree>
      <p:nvGrpSpPr>
        <p:cNvPr id="1" name=""/>
        <p:cNvGrpSpPr/>
        <p:nvPr/>
      </p:nvGrpSpPr>
      <p:grpSpPr>
        <a:xfrm>
          <a:off x="0" y="0"/>
          <a:ext cx="0" cy="0"/>
          <a:chOff x="0" y="0"/>
          <a:chExt cx="0" cy="0"/>
        </a:xfrm>
      </p:grpSpPr>
      <p:sp>
        <p:nvSpPr>
          <p:cNvPr id="2" name="shape-132"/>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text-133"/>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HOW A HOOK WORKS HERE</a:t>
            </a:r>
            <a:endParaRPr lang="en-US" sz="1200" dirty="0"/>
          </a:p>
        </p:txBody>
      </p:sp>
      <p:sp>
        <p:nvSpPr>
          <p:cNvPr id="4" name="title-134"/>
          <p:cNvSpPr txBox="1"/>
          <p:nvPr/>
        </p:nvSpPr>
        <p:spPr>
          <a:xfrm>
            <a:off x="812800" y="1117600"/>
            <a:ext cx="10566400" cy="589280"/>
          </a:xfrm>
          <a:prstGeom prst="rect">
            <a:avLst/>
          </a:prstGeom>
          <a:noFill/>
          <a:ln/>
        </p:spPr>
        <p:txBody>
          <a:bodyPr wrap="square" lIns="0" tIns="0" rIns="0" bIns="0" rtlCol="0" anchor="t"/>
          <a:lstStyle/>
          <a:p>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Five rules for the </a:t>
            </a:r>
            <a:pPr algn="l" indent="0" marL="0">
              <a:lnSpc>
                <a:spcPct val="110000"/>
              </a:lnSpc>
              <a:buNone/>
            </a:pPr>
            <a:r>
              <a:rPr lang="en-US" sz="3600" i="1" spc="-216" kern="0" dirty="0">
                <a:solidFill>
                  <a:srgbClr val="FF0090"/>
                </a:solidFill>
                <a:latin typeface="Fraunces" pitchFamily="34" charset="0"/>
                <a:ea typeface="Fraunces" pitchFamily="34" charset="-122"/>
                <a:cs typeface="Fraunces" pitchFamily="34" charset="-120"/>
              </a:rPr>
              <a:t>first second</a:t>
            </a:r>
            <a:endParaRPr lang="en-US" sz="3600" dirty="0"/>
          </a:p>
        </p:txBody>
      </p:sp>
      <p:sp>
        <p:nvSpPr>
          <p:cNvPr id="5" name="text-135"/>
          <p:cNvSpPr txBox="1"/>
          <p:nvPr/>
        </p:nvSpPr>
        <p:spPr>
          <a:xfrm>
            <a:off x="812800" y="1846580"/>
            <a:ext cx="457200" cy="508000"/>
          </a:xfrm>
          <a:prstGeom prst="rect">
            <a:avLst/>
          </a:prstGeom>
          <a:noFill/>
          <a:ln/>
        </p:spPr>
        <p:txBody>
          <a:bodyPr wrap="square" lIns="0" tIns="0" rIns="0" bIns="0" rtlCol="0" anchor="t"/>
          <a:lstStyle/>
          <a:p>
            <a:pPr algn="l" indent="0" marL="0">
              <a:lnSpc>
                <a:spcPct val="100000"/>
              </a:lnSpc>
              <a:buNone/>
            </a:pPr>
            <a:r>
              <a:rPr lang="en-US" sz="3200" i="1" dirty="0">
                <a:solidFill>
                  <a:srgbClr val="FF0090"/>
                </a:solidFill>
                <a:latin typeface="Fraunces" pitchFamily="34" charset="0"/>
                <a:ea typeface="Fraunces" pitchFamily="34" charset="-122"/>
                <a:cs typeface="Fraunces" pitchFamily="34" charset="-120"/>
              </a:rPr>
              <a:t>1</a:t>
            </a:r>
            <a:endParaRPr lang="en-US" sz="3200" dirty="0"/>
          </a:p>
        </p:txBody>
      </p:sp>
      <p:sp>
        <p:nvSpPr>
          <p:cNvPr id="6" name="text-136"/>
          <p:cNvSpPr txBox="1"/>
          <p:nvPr/>
        </p:nvSpPr>
        <p:spPr>
          <a:xfrm>
            <a:off x="1384300" y="1884680"/>
            <a:ext cx="9994900" cy="497205"/>
          </a:xfrm>
          <a:prstGeom prst="rect">
            <a:avLst/>
          </a:prstGeom>
          <a:noFill/>
          <a:ln/>
        </p:spPr>
        <p:txBody>
          <a:bodyPr wrap="square" lIns="0" tIns="0" rIns="0" bIns="0" rtlCol="0" anchor="t"/>
          <a:lstStyle/>
          <a:p>
            <a:pPr algn="l" indent="0" marL="0">
              <a:lnSpc>
                <a:spcPct val="145000"/>
              </a:lnSpc>
              <a:buNone/>
            </a:pPr>
            <a:r>
              <a:rPr lang="en-US" sz="1350" dirty="0">
                <a:solidFill>
                  <a:srgbClr val="313336"/>
                </a:solidFill>
                <a:latin typeface="Inter" pitchFamily="34" charset="0"/>
                <a:ea typeface="Inter" pitchFamily="34" charset="-122"/>
                <a:cs typeface="Inter" pitchFamily="34" charset="-120"/>
              </a:rPr>
              <a:t>Frame 1 has the text. Five to eight words, inside the safe zone, never on your face. Most people watch muted.</a:t>
            </a:r>
            <a:endParaRPr lang="en-US" sz="1350" dirty="0"/>
          </a:p>
        </p:txBody>
      </p:sp>
      <p:sp>
        <p:nvSpPr>
          <p:cNvPr id="7" name="text-137"/>
          <p:cNvSpPr txBox="1"/>
          <p:nvPr/>
        </p:nvSpPr>
        <p:spPr>
          <a:xfrm>
            <a:off x="812800" y="2483485"/>
            <a:ext cx="457200" cy="508000"/>
          </a:xfrm>
          <a:prstGeom prst="rect">
            <a:avLst/>
          </a:prstGeom>
          <a:noFill/>
          <a:ln/>
        </p:spPr>
        <p:txBody>
          <a:bodyPr wrap="square" lIns="0" tIns="0" rIns="0" bIns="0" rtlCol="0" anchor="t"/>
          <a:lstStyle/>
          <a:p>
            <a:pPr algn="l" indent="0" marL="0">
              <a:lnSpc>
                <a:spcPct val="100000"/>
              </a:lnSpc>
              <a:buNone/>
            </a:pPr>
            <a:r>
              <a:rPr lang="en-US" sz="3200" i="1" dirty="0">
                <a:solidFill>
                  <a:srgbClr val="FF0090"/>
                </a:solidFill>
                <a:latin typeface="Fraunces" pitchFamily="34" charset="0"/>
                <a:ea typeface="Fraunces" pitchFamily="34" charset="-122"/>
                <a:cs typeface="Fraunces" pitchFamily="34" charset="-120"/>
              </a:rPr>
              <a:t>2</a:t>
            </a:r>
            <a:endParaRPr lang="en-US" sz="3200" dirty="0"/>
          </a:p>
        </p:txBody>
      </p:sp>
      <p:sp>
        <p:nvSpPr>
          <p:cNvPr id="8" name="text-138"/>
          <p:cNvSpPr txBox="1"/>
          <p:nvPr/>
        </p:nvSpPr>
        <p:spPr>
          <a:xfrm>
            <a:off x="1384300" y="2521585"/>
            <a:ext cx="9994900" cy="444500"/>
          </a:xfrm>
          <a:prstGeom prst="rect">
            <a:avLst/>
          </a:prstGeom>
          <a:noFill/>
          <a:ln/>
        </p:spPr>
        <p:txBody>
          <a:bodyPr wrap="square" lIns="0" tIns="0" rIns="0" bIns="0" rtlCol="0" anchor="t"/>
          <a:lstStyle/>
          <a:p>
            <a:pPr algn="l" indent="0" marL="0">
              <a:lnSpc>
                <a:spcPct val="145000"/>
              </a:lnSpc>
              <a:buNone/>
            </a:pPr>
            <a:r>
              <a:rPr lang="en-US" sz="1350" dirty="0">
                <a:solidFill>
                  <a:srgbClr val="313336"/>
                </a:solidFill>
                <a:latin typeface="Inter" pitchFamily="34" charset="0"/>
                <a:ea typeface="Inter" pitchFamily="34" charset="-122"/>
                <a:cs typeface="Inter" pitchFamily="34" charset="-120"/>
              </a:rPr>
              <a:t>Say the hook before anything else. No “hey guys”, no intro. Cut the first half-second of silence.</a:t>
            </a:r>
            <a:endParaRPr lang="en-US" sz="1350" dirty="0"/>
          </a:p>
        </p:txBody>
      </p:sp>
      <p:sp>
        <p:nvSpPr>
          <p:cNvPr id="9" name="text-139"/>
          <p:cNvSpPr txBox="1"/>
          <p:nvPr/>
        </p:nvSpPr>
        <p:spPr>
          <a:xfrm>
            <a:off x="812800" y="3067685"/>
            <a:ext cx="457200" cy="508000"/>
          </a:xfrm>
          <a:prstGeom prst="rect">
            <a:avLst/>
          </a:prstGeom>
          <a:noFill/>
          <a:ln/>
        </p:spPr>
        <p:txBody>
          <a:bodyPr wrap="square" lIns="0" tIns="0" rIns="0" bIns="0" rtlCol="0" anchor="t"/>
          <a:lstStyle/>
          <a:p>
            <a:pPr algn="l" indent="0" marL="0">
              <a:lnSpc>
                <a:spcPct val="100000"/>
              </a:lnSpc>
              <a:buNone/>
            </a:pPr>
            <a:r>
              <a:rPr lang="en-US" sz="3200" i="1" dirty="0">
                <a:solidFill>
                  <a:srgbClr val="FF0090"/>
                </a:solidFill>
                <a:latin typeface="Fraunces" pitchFamily="34" charset="0"/>
                <a:ea typeface="Fraunces" pitchFamily="34" charset="-122"/>
                <a:cs typeface="Fraunces" pitchFamily="34" charset="-120"/>
              </a:rPr>
              <a:t>3</a:t>
            </a:r>
            <a:endParaRPr lang="en-US" sz="3200" dirty="0"/>
          </a:p>
        </p:txBody>
      </p:sp>
      <p:sp>
        <p:nvSpPr>
          <p:cNvPr id="10" name="text-140"/>
          <p:cNvSpPr txBox="1"/>
          <p:nvPr/>
        </p:nvSpPr>
        <p:spPr>
          <a:xfrm>
            <a:off x="1384300" y="3105785"/>
            <a:ext cx="9994900" cy="444500"/>
          </a:xfrm>
          <a:prstGeom prst="rect">
            <a:avLst/>
          </a:prstGeom>
          <a:noFill/>
          <a:ln/>
        </p:spPr>
        <p:txBody>
          <a:bodyPr wrap="square" lIns="0" tIns="0" rIns="0" bIns="0" rtlCol="0" anchor="t"/>
          <a:lstStyle/>
          <a:p>
            <a:pPr algn="l" indent="0" marL="0">
              <a:lnSpc>
                <a:spcPct val="145000"/>
              </a:lnSpc>
              <a:buNone/>
            </a:pPr>
            <a:r>
              <a:rPr lang="en-US" sz="1350" dirty="0">
                <a:solidFill>
                  <a:srgbClr val="313336"/>
                </a:solidFill>
                <a:latin typeface="Inter" pitchFamily="34" charset="0"/>
                <a:ea typeface="Inter" pitchFamily="34" charset="-122"/>
                <a:cs typeface="Inter" pitchFamily="34" charset="-120"/>
              </a:rPr>
              <a:t>Put a specific number or situation in it. “31 followers”, “$95”, “five DMs a day” beat “how to grow”.</a:t>
            </a:r>
            <a:endParaRPr lang="en-US" sz="1350" dirty="0"/>
          </a:p>
        </p:txBody>
      </p:sp>
      <p:sp>
        <p:nvSpPr>
          <p:cNvPr id="11" name="text-141"/>
          <p:cNvSpPr txBox="1"/>
          <p:nvPr/>
        </p:nvSpPr>
        <p:spPr>
          <a:xfrm>
            <a:off x="812800" y="3651885"/>
            <a:ext cx="457200" cy="508000"/>
          </a:xfrm>
          <a:prstGeom prst="rect">
            <a:avLst/>
          </a:prstGeom>
          <a:noFill/>
          <a:ln/>
        </p:spPr>
        <p:txBody>
          <a:bodyPr wrap="square" lIns="0" tIns="0" rIns="0" bIns="0" rtlCol="0" anchor="t"/>
          <a:lstStyle/>
          <a:p>
            <a:pPr algn="l" indent="0" marL="0">
              <a:lnSpc>
                <a:spcPct val="100000"/>
              </a:lnSpc>
              <a:buNone/>
            </a:pPr>
            <a:r>
              <a:rPr lang="en-US" sz="3200" i="1" dirty="0">
                <a:solidFill>
                  <a:srgbClr val="FF0090"/>
                </a:solidFill>
                <a:latin typeface="Fraunces" pitchFamily="34" charset="0"/>
                <a:ea typeface="Fraunces" pitchFamily="34" charset="-122"/>
                <a:cs typeface="Fraunces" pitchFamily="34" charset="-120"/>
              </a:rPr>
              <a:t>4</a:t>
            </a:r>
            <a:endParaRPr lang="en-US" sz="3200" dirty="0"/>
          </a:p>
        </p:txBody>
      </p:sp>
      <p:sp>
        <p:nvSpPr>
          <p:cNvPr id="12" name="text-142"/>
          <p:cNvSpPr txBox="1"/>
          <p:nvPr/>
        </p:nvSpPr>
        <p:spPr>
          <a:xfrm>
            <a:off x="1384300" y="3689985"/>
            <a:ext cx="9994900" cy="444500"/>
          </a:xfrm>
          <a:prstGeom prst="rect">
            <a:avLst/>
          </a:prstGeom>
          <a:noFill/>
          <a:ln/>
        </p:spPr>
        <p:txBody>
          <a:bodyPr wrap="square" lIns="0" tIns="0" rIns="0" bIns="0" rtlCol="0" anchor="t"/>
          <a:lstStyle/>
          <a:p>
            <a:pPr algn="l" indent="0" marL="0">
              <a:lnSpc>
                <a:spcPct val="145000"/>
              </a:lnSpc>
              <a:buNone/>
            </a:pPr>
            <a:r>
              <a:rPr lang="en-US" sz="1350" dirty="0">
                <a:solidFill>
                  <a:srgbClr val="313336"/>
                </a:solidFill>
                <a:latin typeface="Inter" pitchFamily="34" charset="0"/>
                <a:ea typeface="Inter" pitchFamily="34" charset="-122"/>
                <a:cs typeface="Inter" pitchFamily="34" charset="-120"/>
              </a:rPr>
              <a:t>One sentence of promise or tension, then a reason to stay: “and the third one is the one nobody does.”</a:t>
            </a:r>
            <a:endParaRPr lang="en-US" sz="1350" dirty="0"/>
          </a:p>
        </p:txBody>
      </p:sp>
      <p:sp>
        <p:nvSpPr>
          <p:cNvPr id="13" name="text-143"/>
          <p:cNvSpPr txBox="1"/>
          <p:nvPr/>
        </p:nvSpPr>
        <p:spPr>
          <a:xfrm>
            <a:off x="812800" y="4236085"/>
            <a:ext cx="457200" cy="508000"/>
          </a:xfrm>
          <a:prstGeom prst="rect">
            <a:avLst/>
          </a:prstGeom>
          <a:noFill/>
          <a:ln/>
        </p:spPr>
        <p:txBody>
          <a:bodyPr wrap="square" lIns="0" tIns="0" rIns="0" bIns="0" rtlCol="0" anchor="t"/>
          <a:lstStyle/>
          <a:p>
            <a:pPr algn="l" indent="0" marL="0">
              <a:lnSpc>
                <a:spcPct val="100000"/>
              </a:lnSpc>
              <a:buNone/>
            </a:pPr>
            <a:r>
              <a:rPr lang="en-US" sz="3200" i="1" dirty="0">
                <a:solidFill>
                  <a:srgbClr val="FF0090"/>
                </a:solidFill>
                <a:latin typeface="Fraunces" pitchFamily="34" charset="0"/>
                <a:ea typeface="Fraunces" pitchFamily="34" charset="-122"/>
                <a:cs typeface="Fraunces" pitchFamily="34" charset="-120"/>
              </a:rPr>
              <a:t>5</a:t>
            </a:r>
            <a:endParaRPr lang="en-US" sz="3200" dirty="0"/>
          </a:p>
        </p:txBody>
      </p:sp>
      <p:sp>
        <p:nvSpPr>
          <p:cNvPr id="14" name="text-144"/>
          <p:cNvSpPr txBox="1"/>
          <p:nvPr/>
        </p:nvSpPr>
        <p:spPr>
          <a:xfrm>
            <a:off x="1384300" y="4274185"/>
            <a:ext cx="9994900" cy="497205"/>
          </a:xfrm>
          <a:prstGeom prst="rect">
            <a:avLst/>
          </a:prstGeom>
          <a:noFill/>
          <a:ln/>
        </p:spPr>
        <p:txBody>
          <a:bodyPr wrap="square" lIns="0" tIns="0" rIns="0" bIns="0" rtlCol="0" anchor="t"/>
          <a:lstStyle/>
          <a:p>
            <a:pPr algn="l" indent="0" marL="0">
              <a:lnSpc>
                <a:spcPct val="145000"/>
              </a:lnSpc>
              <a:buNone/>
            </a:pPr>
            <a:r>
              <a:rPr lang="en-US" sz="1350" dirty="0">
                <a:solidFill>
                  <a:srgbClr val="313336"/>
                </a:solidFill>
                <a:latin typeface="Inter" pitchFamily="34" charset="0"/>
                <a:ea typeface="Inter" pitchFamily="34" charset="-122"/>
                <a:cs typeface="Inter" pitchFamily="34" charset="-120"/>
              </a:rPr>
              <a:t>Film the hook twice with different first lines. Post the second take as a Trial Reel and let the audience pick.</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C"/>
        </a:solidFill>
      </p:bgPr>
    </p:bg>
    <p:spTree>
      <p:nvGrpSpPr>
        <p:cNvPr id="1" name=""/>
        <p:cNvGrpSpPr/>
        <p:nvPr/>
      </p:nvGrpSpPr>
      <p:grpSpPr>
        <a:xfrm>
          <a:off x="0" y="0"/>
          <a:ext cx="0" cy="0"/>
          <a:chOff x="0" y="0"/>
          <a:chExt cx="0" cy="0"/>
        </a:xfrm>
      </p:grpSpPr>
      <p:sp>
        <p:nvSpPr>
          <p:cNvPr id="2" name="shape-145"/>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text-146"/>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THE “I MADE X. HERE’S HOW.” HOOKS · ALL TRUE, FROM THE RECEIPTS</a:t>
            </a:r>
            <a:endParaRPr lang="en-US" sz="1200" dirty="0"/>
          </a:p>
        </p:txBody>
      </p:sp>
      <p:sp>
        <p:nvSpPr>
          <p:cNvPr id="4" name="title-147"/>
          <p:cNvSpPr txBox="1"/>
          <p:nvPr/>
        </p:nvSpPr>
        <p:spPr>
          <a:xfrm>
            <a:off x="812800" y="1117600"/>
            <a:ext cx="10566400" cy="530860"/>
          </a:xfrm>
          <a:prstGeom prst="rect">
            <a:avLst/>
          </a:prstGeom>
          <a:noFill/>
          <a:ln/>
        </p:spPr>
        <p:txBody>
          <a:bodyPr wrap="square" lIns="0" tIns="0" rIns="0" bIns="0" rtlCol="0" anchor="t"/>
          <a:lstStyle/>
          <a:p>
            <a:pPr algn="l" indent="0" marL="0">
              <a:lnSpc>
                <a:spcPct val="110000"/>
              </a:lnSpc>
              <a:buNone/>
            </a:pPr>
            <a:r>
              <a:rPr lang="en-US" sz="3200" spc="-192" kern="0" dirty="0">
                <a:solidFill>
                  <a:srgbClr val="0F0F0F"/>
                </a:solidFill>
                <a:latin typeface="Fraunces" pitchFamily="34" charset="0"/>
                <a:ea typeface="Fraunces" pitchFamily="34" charset="-122"/>
                <a:cs typeface="Fraunces" pitchFamily="34" charset="-120"/>
              </a:rPr>
              <a:t>A number, a source, a </a:t>
            </a:r>
            <a:pPr algn="l" indent="0" marL="0">
              <a:lnSpc>
                <a:spcPct val="110000"/>
              </a:lnSpc>
              <a:buNone/>
            </a:pPr>
            <a:r>
              <a:rPr lang="en-US" sz="3200" i="1" spc="-192" kern="0" dirty="0">
                <a:solidFill>
                  <a:srgbClr val="FF0090"/>
                </a:solidFill>
                <a:latin typeface="Fraunces" pitchFamily="34" charset="0"/>
                <a:ea typeface="Fraunces" pitchFamily="34" charset="-122"/>
                <a:cs typeface="Fraunces" pitchFamily="34" charset="-120"/>
              </a:rPr>
              <a:t>promise</a:t>
            </a:r>
            <a:endParaRPr lang="en-US" sz="3200" dirty="0"/>
          </a:p>
        </p:txBody>
      </p:sp>
      <p:sp>
        <p:nvSpPr>
          <p:cNvPr id="5" name="shape-148"/>
          <p:cNvSpPr/>
          <p:nvPr/>
        </p:nvSpPr>
        <p:spPr>
          <a:xfrm>
            <a:off x="812800" y="1788160"/>
            <a:ext cx="3420533" cy="1879600"/>
          </a:xfrm>
          <a:prstGeom prst="roundRect">
            <a:avLst>
              <a:gd name="adj" fmla="val 5405"/>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6" name="shape-149"/>
          <p:cNvSpPr/>
          <p:nvPr/>
        </p:nvSpPr>
        <p:spPr>
          <a:xfrm>
            <a:off x="4385733" y="1788160"/>
            <a:ext cx="3420533" cy="1879600"/>
          </a:xfrm>
          <a:prstGeom prst="roundRect">
            <a:avLst>
              <a:gd name="adj" fmla="val 5405"/>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7" name="shape-150"/>
          <p:cNvSpPr/>
          <p:nvPr/>
        </p:nvSpPr>
        <p:spPr>
          <a:xfrm>
            <a:off x="7958667" y="1788160"/>
            <a:ext cx="3420533" cy="1879600"/>
          </a:xfrm>
          <a:prstGeom prst="roundRect">
            <a:avLst>
              <a:gd name="adj" fmla="val 5405"/>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8" name="paras-151"/>
          <p:cNvSpPr txBox="1"/>
          <p:nvPr/>
        </p:nvSpPr>
        <p:spPr>
          <a:xfrm>
            <a:off x="965200" y="1927860"/>
            <a:ext cx="3115733" cy="1600200"/>
          </a:xfrm>
          <a:prstGeom prst="rect">
            <a:avLst/>
          </a:prstGeom>
          <a:noFill/>
          <a:ln/>
        </p:spPr>
        <p:txBody>
          <a:bodyPr wrap="square" lIns="0" tIns="0" rIns="0" bIns="0" rtlCol="0" anchor="t"/>
          <a:lstStyle/>
          <a:p>
            <a:pPr indent="0" marL="0">
              <a:lnSpc>
                <a:spcPct val="130000"/>
              </a:lnSpc>
              <a:spcAft>
                <a:spcPts val="800"/>
              </a:spcAft>
              <a:buNone/>
            </a:pPr>
            <a:r>
              <a:rPr lang="en-US" sz="1200" dirty="0">
                <a:solidFill>
                  <a:srgbClr val="C20070"/>
                </a:solidFill>
                <a:latin typeface="DM Mono" pitchFamily="34" charset="0"/>
                <a:ea typeface="DM Mono" pitchFamily="34" charset="-122"/>
                <a:cs typeface="DM Mono" pitchFamily="34" charset="-120"/>
              </a:rPr>
              <a:t>$419, one order</a:t>
            </a:r>
            <a:endParaRPr lang="en-US" sz="1200" dirty="0"/>
          </a:p>
          <a:p>
            <a:pPr indent="0" marL="0">
              <a:lnSpc>
                <a:spcPct val="120000"/>
              </a:lnSpc>
              <a:spcAft>
                <a:spcPts val="800"/>
              </a:spcAft>
              <a:buNone/>
            </a:pPr>
            <a:r>
              <a:rPr lang="en-US" sz="1400" i="1" spc="-40" kern="0" dirty="0">
                <a:solidFill>
                  <a:srgbClr val="0F0F0F"/>
                </a:solidFill>
                <a:latin typeface="Fraunces" pitchFamily="34" charset="0"/>
                <a:ea typeface="Fraunces" pitchFamily="34" charset="-122"/>
                <a:cs typeface="Fraunces" pitchFamily="34" charset="-120"/>
              </a:rPr>
              <a:t>I made $419 from one order in my shop. Here’s how, step by step.</a:t>
            </a:r>
            <a:endParaRPr lang="en-US" sz="1200" dirty="0"/>
          </a:p>
          <a:p>
            <a:pPr indent="0" marL="0">
              <a:lnSpc>
                <a:spcPct val="130000"/>
              </a:lnSpc>
              <a:spcAft>
                <a:spcPts val="600"/>
              </a:spcAft>
              <a:buNone/>
            </a:pPr>
            <a:r>
              <a:rPr lang="en-US" sz="1100" dirty="0">
                <a:solidFill>
                  <a:srgbClr val="313336"/>
                </a:solidFill>
                <a:latin typeface="Inter" pitchFamily="34" charset="0"/>
                <a:ea typeface="Inter" pitchFamily="34" charset="-122"/>
                <a:cs typeface="Inter" pitchFamily="34" charset="-120"/>
              </a:rPr>
              <a:t>Receipt #1002, 9 August, name blurred. It is a hair-extensions order (The Ivory Sukundu), so the “how” is the product page and where the buyer came from, not design.</a:t>
            </a:r>
            <a:endParaRPr lang="en-US" sz="1200" dirty="0"/>
          </a:p>
        </p:txBody>
      </p:sp>
      <p:sp>
        <p:nvSpPr>
          <p:cNvPr id="9" name="paras-152"/>
          <p:cNvSpPr txBox="1"/>
          <p:nvPr/>
        </p:nvSpPr>
        <p:spPr>
          <a:xfrm>
            <a:off x="4538133" y="1927860"/>
            <a:ext cx="3115733" cy="1600200"/>
          </a:xfrm>
          <a:prstGeom prst="rect">
            <a:avLst/>
          </a:prstGeom>
          <a:noFill/>
          <a:ln/>
        </p:spPr>
        <p:txBody>
          <a:bodyPr wrap="square" lIns="0" tIns="0" rIns="0" bIns="0" rtlCol="0" anchor="t"/>
          <a:lstStyle/>
          <a:p>
            <a:pPr indent="0" marL="0">
              <a:lnSpc>
                <a:spcPct val="130000"/>
              </a:lnSpc>
              <a:spcAft>
                <a:spcPts val="800"/>
              </a:spcAft>
              <a:buNone/>
            </a:pPr>
            <a:r>
              <a:rPr lang="en-US" sz="1200" dirty="0">
                <a:solidFill>
                  <a:srgbClr val="C20070"/>
                </a:solidFill>
                <a:latin typeface="DM Mono" pitchFamily="34" charset="0"/>
                <a:ea typeface="DM Mono" pitchFamily="34" charset="-122"/>
                <a:cs typeface="DM Mono" pitchFamily="34" charset="-120"/>
              </a:rPr>
              <a:t>$0 → $419</a:t>
            </a:r>
            <a:endParaRPr lang="en-US" sz="1200" dirty="0"/>
          </a:p>
          <a:p>
            <a:pPr indent="0" marL="0">
              <a:lnSpc>
                <a:spcPct val="120000"/>
              </a:lnSpc>
              <a:spcAft>
                <a:spcPts val="800"/>
              </a:spcAft>
              <a:buNone/>
            </a:pPr>
            <a:r>
              <a:rPr lang="en-US" sz="1400" i="1" spc="-40" kern="0" dirty="0">
                <a:solidFill>
                  <a:srgbClr val="0F0F0F"/>
                </a:solidFill>
                <a:latin typeface="Fraunces" pitchFamily="34" charset="0"/>
                <a:ea typeface="Fraunces" pitchFamily="34" charset="-122"/>
                <a:cs typeface="Fraunces" pitchFamily="34" charset="-120"/>
              </a:rPr>
              <a:t>I made $0.00 on my first order. It was me, testing. Here’s how I got the second one: $419.</a:t>
            </a:r>
            <a:endParaRPr lang="en-US" sz="1200" dirty="0"/>
          </a:p>
          <a:p>
            <a:pPr indent="0" marL="0">
              <a:lnSpc>
                <a:spcPct val="130000"/>
              </a:lnSpc>
              <a:spcAft>
                <a:spcPts val="600"/>
              </a:spcAft>
              <a:buNone/>
            </a:pPr>
            <a:r>
              <a:rPr lang="en-US" sz="1100" dirty="0">
                <a:solidFill>
                  <a:srgbClr val="313336"/>
                </a:solidFill>
                <a:latin typeface="Inter" pitchFamily="34" charset="0"/>
                <a:ea typeface="Inter" pitchFamily="34" charset="-122"/>
                <a:cs typeface="Inter" pitchFamily="34" charset="-120"/>
              </a:rPr>
              <a:t>Confession plus open loop. Receipts #1001 and #1002.</a:t>
            </a:r>
            <a:endParaRPr lang="en-US" sz="1200" dirty="0"/>
          </a:p>
        </p:txBody>
      </p:sp>
      <p:sp>
        <p:nvSpPr>
          <p:cNvPr id="10" name="paras-153"/>
          <p:cNvSpPr txBox="1"/>
          <p:nvPr/>
        </p:nvSpPr>
        <p:spPr>
          <a:xfrm>
            <a:off x="8111067" y="1927860"/>
            <a:ext cx="3115733" cy="1600200"/>
          </a:xfrm>
          <a:prstGeom prst="rect">
            <a:avLst/>
          </a:prstGeom>
          <a:noFill/>
          <a:ln/>
        </p:spPr>
        <p:txBody>
          <a:bodyPr wrap="square" lIns="0" tIns="0" rIns="0" bIns="0" rtlCol="0" anchor="t"/>
          <a:lstStyle/>
          <a:p>
            <a:pPr indent="0" marL="0">
              <a:lnSpc>
                <a:spcPct val="130000"/>
              </a:lnSpc>
              <a:spcAft>
                <a:spcPts val="800"/>
              </a:spcAft>
              <a:buNone/>
            </a:pPr>
            <a:r>
              <a:rPr lang="en-US" sz="1200" dirty="0">
                <a:solidFill>
                  <a:srgbClr val="C20070"/>
                </a:solidFill>
                <a:latin typeface="DM Mono" pitchFamily="34" charset="0"/>
                <a:ea typeface="DM Mono" pitchFamily="34" charset="-122"/>
                <a:cs typeface="DM Mono" pitchFamily="34" charset="-120"/>
              </a:rPr>
              <a:t>$268, three items</a:t>
            </a:r>
            <a:endParaRPr lang="en-US" sz="1200" dirty="0"/>
          </a:p>
          <a:p>
            <a:pPr indent="0" marL="0">
              <a:lnSpc>
                <a:spcPct val="120000"/>
              </a:lnSpc>
              <a:spcAft>
                <a:spcPts val="800"/>
              </a:spcAft>
              <a:buNone/>
            </a:pPr>
            <a:r>
              <a:rPr lang="en-US" sz="1400" i="1" spc="-40" kern="0" dirty="0">
                <a:solidFill>
                  <a:srgbClr val="0F0F0F"/>
                </a:solidFill>
                <a:latin typeface="Fraunces" pitchFamily="34" charset="0"/>
                <a:ea typeface="Fraunces" pitchFamily="34" charset="-122"/>
                <a:cs typeface="Fraunces" pitchFamily="34" charset="-120"/>
              </a:rPr>
              <a:t>I made $268 from one order of three items. Here’s how I bundle.</a:t>
            </a:r>
            <a:endParaRPr lang="en-US" sz="1200" dirty="0"/>
          </a:p>
          <a:p>
            <a:pPr indent="0" marL="0">
              <a:lnSpc>
                <a:spcPct val="130000"/>
              </a:lnSpc>
              <a:spcAft>
                <a:spcPts val="600"/>
              </a:spcAft>
              <a:buNone/>
            </a:pPr>
            <a:r>
              <a:rPr lang="en-US" sz="1100" dirty="0">
                <a:solidFill>
                  <a:srgbClr val="313336"/>
                </a:solidFill>
                <a:latin typeface="Inter" pitchFamily="34" charset="0"/>
                <a:ea typeface="Inter" pitchFamily="34" charset="-122"/>
                <a:cs typeface="Inter" pitchFamily="34" charset="-120"/>
              </a:rPr>
              <a:t>Receipt #1003, 21 September.</a:t>
            </a:r>
            <a:endParaRPr lang="en-US" sz="1200" dirty="0"/>
          </a:p>
        </p:txBody>
      </p:sp>
      <p:sp>
        <p:nvSpPr>
          <p:cNvPr id="11" name="shape-154"/>
          <p:cNvSpPr/>
          <p:nvPr/>
        </p:nvSpPr>
        <p:spPr>
          <a:xfrm>
            <a:off x="812800" y="3794760"/>
            <a:ext cx="3420533" cy="1879600"/>
          </a:xfrm>
          <a:prstGeom prst="roundRect">
            <a:avLst>
              <a:gd name="adj" fmla="val 5405"/>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12" name="shape-155"/>
          <p:cNvSpPr/>
          <p:nvPr/>
        </p:nvSpPr>
        <p:spPr>
          <a:xfrm>
            <a:off x="4385733" y="3794760"/>
            <a:ext cx="3420533" cy="1879600"/>
          </a:xfrm>
          <a:prstGeom prst="roundRect">
            <a:avLst>
              <a:gd name="adj" fmla="val 5405"/>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13" name="shape-156"/>
          <p:cNvSpPr/>
          <p:nvPr/>
        </p:nvSpPr>
        <p:spPr>
          <a:xfrm>
            <a:off x="7958667" y="3794760"/>
            <a:ext cx="3420533" cy="1879600"/>
          </a:xfrm>
          <a:prstGeom prst="roundRect">
            <a:avLst>
              <a:gd name="adj" fmla="val 5405"/>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14" name="paras-157"/>
          <p:cNvSpPr txBox="1"/>
          <p:nvPr/>
        </p:nvSpPr>
        <p:spPr>
          <a:xfrm>
            <a:off x="965200" y="3934460"/>
            <a:ext cx="3115733" cy="1600200"/>
          </a:xfrm>
          <a:prstGeom prst="rect">
            <a:avLst/>
          </a:prstGeom>
          <a:noFill/>
          <a:ln/>
        </p:spPr>
        <p:txBody>
          <a:bodyPr wrap="square" lIns="0" tIns="0" rIns="0" bIns="0" rtlCol="0" anchor="t"/>
          <a:lstStyle/>
          <a:p>
            <a:pPr indent="0" marL="0">
              <a:lnSpc>
                <a:spcPct val="130000"/>
              </a:lnSpc>
              <a:spcAft>
                <a:spcPts val="800"/>
              </a:spcAft>
              <a:buNone/>
            </a:pPr>
            <a:r>
              <a:rPr lang="en-US" sz="1200" dirty="0">
                <a:solidFill>
                  <a:srgbClr val="C20070"/>
                </a:solidFill>
                <a:latin typeface="DM Mono" pitchFamily="34" charset="0"/>
                <a:ea typeface="DM Mono" pitchFamily="34" charset="-122"/>
                <a:cs typeface="DM Mono" pitchFamily="34" charset="-120"/>
              </a:rPr>
              <a:t>$687, zero from Instagram</a:t>
            </a:r>
            <a:endParaRPr lang="en-US" sz="1200" dirty="0"/>
          </a:p>
          <a:p>
            <a:pPr indent="0" marL="0">
              <a:lnSpc>
                <a:spcPct val="120000"/>
              </a:lnSpc>
              <a:spcAft>
                <a:spcPts val="800"/>
              </a:spcAft>
              <a:buNone/>
            </a:pPr>
            <a:r>
              <a:rPr lang="en-US" sz="1400" i="1" spc="-40" kern="0" dirty="0">
                <a:solidFill>
                  <a:srgbClr val="0F0F0F"/>
                </a:solidFill>
                <a:latin typeface="Fraunces" pitchFamily="34" charset="0"/>
                <a:ea typeface="Fraunces" pitchFamily="34" charset="-122"/>
                <a:cs typeface="Fraunces" pitchFamily="34" charset="-120"/>
              </a:rPr>
              <a:t>I made $687 from my shop in two months, and none of it came from Instagram. Here’s how.</a:t>
            </a:r>
            <a:endParaRPr lang="en-US" sz="1200" dirty="0"/>
          </a:p>
          <a:p>
            <a:pPr indent="0" marL="0">
              <a:lnSpc>
                <a:spcPct val="130000"/>
              </a:lnSpc>
              <a:spcAft>
                <a:spcPts val="600"/>
              </a:spcAft>
              <a:buNone/>
            </a:pPr>
            <a:r>
              <a:rPr lang="en-US" sz="1100" dirty="0">
                <a:solidFill>
                  <a:srgbClr val="313336"/>
                </a:solidFill>
                <a:latin typeface="Inter" pitchFamily="34" charset="0"/>
                <a:ea typeface="Inter" pitchFamily="34" charset="-122"/>
                <a:cs typeface="Inter" pitchFamily="34" charset="-120"/>
              </a:rPr>
              <a:t>Confirm neither buyer came from Instagram first.</a:t>
            </a:r>
            <a:endParaRPr lang="en-US" sz="1200" dirty="0"/>
          </a:p>
        </p:txBody>
      </p:sp>
      <p:sp>
        <p:nvSpPr>
          <p:cNvPr id="15" name="paras-158"/>
          <p:cNvSpPr txBox="1"/>
          <p:nvPr/>
        </p:nvSpPr>
        <p:spPr>
          <a:xfrm>
            <a:off x="4538133" y="3934460"/>
            <a:ext cx="3115733" cy="1600200"/>
          </a:xfrm>
          <a:prstGeom prst="rect">
            <a:avLst/>
          </a:prstGeom>
          <a:noFill/>
          <a:ln/>
        </p:spPr>
        <p:txBody>
          <a:bodyPr wrap="square" lIns="0" tIns="0" rIns="0" bIns="0" rtlCol="0" anchor="t"/>
          <a:lstStyle/>
          <a:p>
            <a:pPr indent="0" marL="0">
              <a:lnSpc>
                <a:spcPct val="130000"/>
              </a:lnSpc>
              <a:spcAft>
                <a:spcPts val="800"/>
              </a:spcAft>
              <a:buNone/>
            </a:pPr>
            <a:r>
              <a:rPr lang="en-US" sz="1200" dirty="0">
                <a:solidFill>
                  <a:srgbClr val="C20070"/>
                </a:solidFill>
                <a:latin typeface="DM Mono" pitchFamily="34" charset="0"/>
                <a:ea typeface="DM Mono" pitchFamily="34" charset="-122"/>
                <a:cs typeface="DM Mono" pitchFamily="34" charset="-120"/>
              </a:rPr>
              <a:t>$810, one gig</a:t>
            </a:r>
            <a:endParaRPr lang="en-US" sz="1200" dirty="0"/>
          </a:p>
          <a:p>
            <a:pPr indent="0" marL="0">
              <a:lnSpc>
                <a:spcPct val="120000"/>
              </a:lnSpc>
              <a:spcAft>
                <a:spcPts val="800"/>
              </a:spcAft>
              <a:buNone/>
            </a:pPr>
            <a:r>
              <a:rPr lang="en-US" sz="1400" i="1" spc="-40" kern="0" dirty="0">
                <a:solidFill>
                  <a:srgbClr val="0F0F0F"/>
                </a:solidFill>
                <a:latin typeface="Fraunces" pitchFamily="34" charset="0"/>
                <a:ea typeface="Fraunces" pitchFamily="34" charset="-122"/>
                <a:cs typeface="Fraunces" pitchFamily="34" charset="-120"/>
              </a:rPr>
              <a:t>I made $810 from one brand gig with a small account. Here’s how I got it.</a:t>
            </a:r>
            <a:endParaRPr lang="en-US" sz="1200" dirty="0"/>
          </a:p>
          <a:p>
            <a:pPr indent="0" marL="0">
              <a:lnSpc>
                <a:spcPct val="130000"/>
              </a:lnSpc>
              <a:spcAft>
                <a:spcPts val="600"/>
              </a:spcAft>
              <a:buNone/>
            </a:pPr>
            <a:r>
              <a:rPr lang="en-US" sz="1100" dirty="0">
                <a:solidFill>
                  <a:srgbClr val="313336"/>
                </a:solidFill>
                <a:latin typeface="Inter" pitchFamily="34" charset="0"/>
                <a:ea typeface="Inter" pitchFamily="34" charset="-122"/>
                <a:cs typeface="Inter" pitchFamily="34" charset="-120"/>
              </a:rPr>
              <a:t>Only if the gig app’s terms allow the amount. Beats: media kit, pitch, delivery.</a:t>
            </a:r>
            <a:endParaRPr lang="en-US" sz="1200" dirty="0"/>
          </a:p>
        </p:txBody>
      </p:sp>
      <p:sp>
        <p:nvSpPr>
          <p:cNvPr id="16" name="paras-159"/>
          <p:cNvSpPr txBox="1"/>
          <p:nvPr/>
        </p:nvSpPr>
        <p:spPr>
          <a:xfrm>
            <a:off x="8111067" y="3934460"/>
            <a:ext cx="3115733" cy="1600200"/>
          </a:xfrm>
          <a:prstGeom prst="rect">
            <a:avLst/>
          </a:prstGeom>
          <a:noFill/>
          <a:ln/>
        </p:spPr>
        <p:txBody>
          <a:bodyPr wrap="square" lIns="0" tIns="0" rIns="0" bIns="0" rtlCol="0" anchor="t"/>
          <a:lstStyle/>
          <a:p>
            <a:pPr indent="0" marL="0">
              <a:lnSpc>
                <a:spcPct val="130000"/>
              </a:lnSpc>
              <a:spcAft>
                <a:spcPts val="800"/>
              </a:spcAft>
              <a:buNone/>
            </a:pPr>
            <a:r>
              <a:rPr lang="en-US" sz="1200" dirty="0">
                <a:solidFill>
                  <a:srgbClr val="C20070"/>
                </a:solidFill>
                <a:latin typeface="DM Mono" pitchFamily="34" charset="0"/>
                <a:ea typeface="DM Mono" pitchFamily="34" charset="-122"/>
                <a:cs typeface="DM Mono" pitchFamily="34" charset="-120"/>
              </a:rPr>
              <a:t>$1,600 in six months</a:t>
            </a:r>
            <a:endParaRPr lang="en-US" sz="1200" dirty="0"/>
          </a:p>
          <a:p>
            <a:pPr indent="0" marL="0">
              <a:lnSpc>
                <a:spcPct val="120000"/>
              </a:lnSpc>
              <a:spcAft>
                <a:spcPts val="800"/>
              </a:spcAft>
              <a:buNone/>
            </a:pPr>
            <a:r>
              <a:rPr lang="en-US" sz="1400" i="1" spc="-40" kern="0" dirty="0">
                <a:solidFill>
                  <a:srgbClr val="0F0F0F"/>
                </a:solidFill>
                <a:latin typeface="Fraunces" pitchFamily="34" charset="0"/>
                <a:ea typeface="Fraunces" pitchFamily="34" charset="-122"/>
                <a:cs typeface="Fraunces" pitchFamily="34" charset="-120"/>
              </a:rPr>
              <a:t>I made $1,600 from my laptop in six months while working retail. Here’s how, honestly.</a:t>
            </a:r>
            <a:endParaRPr lang="en-US" sz="1200" dirty="0"/>
          </a:p>
          <a:p>
            <a:pPr indent="0" marL="0">
              <a:lnSpc>
                <a:spcPct val="130000"/>
              </a:lnSpc>
              <a:spcAft>
                <a:spcPts val="600"/>
              </a:spcAft>
              <a:buNone/>
            </a:pPr>
            <a:r>
              <a:rPr lang="en-US" sz="1100" dirty="0">
                <a:solidFill>
                  <a:srgbClr val="313336"/>
                </a:solidFill>
                <a:latin typeface="Inter" pitchFamily="34" charset="0"/>
                <a:ea typeface="Inter" pitchFamily="34" charset="-122"/>
                <a:cs typeface="Inter" pitchFamily="34" charset="-120"/>
              </a:rPr>
              <a:t>The job paid $5,400 in the same months. Say it. Laptop: shop $688, Kreeative $107, gigs $830 to confirm.</a:t>
            </a:r>
            <a:endParaRPr lang="en-US" sz="1200" dirty="0"/>
          </a:p>
        </p:txBody>
      </p:sp>
      <p:sp>
        <p:nvSpPr>
          <p:cNvPr id="17" name="text-160"/>
          <p:cNvSpPr txBox="1"/>
          <p:nvPr/>
        </p:nvSpPr>
        <p:spPr>
          <a:xfrm>
            <a:off x="812800" y="5814060"/>
            <a:ext cx="10566400" cy="434340"/>
          </a:xfrm>
          <a:prstGeom prst="rect">
            <a:avLst/>
          </a:prstGeom>
          <a:noFill/>
          <a:ln/>
        </p:spPr>
        <p:txBody>
          <a:bodyPr wrap="square" lIns="0" tIns="0" rIns="0" bIns="0" rtlCol="0" anchor="t"/>
          <a:lstStyle/>
          <a:p>
            <a:pPr algn="l" indent="0" marL="0">
              <a:lnSpc>
                <a:spcPct val="140000"/>
              </a:lnSpc>
              <a:buNone/>
            </a:pPr>
            <a:r>
              <a:rPr lang="en-US" sz="1150" dirty="0">
                <a:solidFill>
                  <a:srgbClr val="313336"/>
                </a:solidFill>
                <a:latin typeface="Inter" pitchFamily="34" charset="0"/>
                <a:ea typeface="Inter" pitchFamily="34" charset="-122"/>
                <a:cs typeface="Inter" pitchFamily="34" charset="-120"/>
              </a:rPr>
              <a:t>The “how” is always three beats: where the money came from, what you had ready, what you did. Then the one thing to copy, then the CTA. Say the number exactly as the receipt shows it.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C"/>
        </a:solidFill>
      </p:bgPr>
    </p:bg>
    <p:spTree>
      <p:nvGrpSpPr>
        <p:cNvPr id="1" name=""/>
        <p:cNvGrpSpPr/>
        <p:nvPr/>
      </p:nvGrpSpPr>
      <p:grpSpPr>
        <a:xfrm>
          <a:off x="0" y="0"/>
          <a:ext cx="0" cy="0"/>
          <a:chOff x="0" y="0"/>
          <a:chExt cx="0" cy="0"/>
        </a:xfrm>
      </p:grpSpPr>
      <p:sp>
        <p:nvSpPr>
          <p:cNvPr id="2" name="shape-161"/>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pic>
        <p:nvPicPr>
          <p:cNvPr id="3" name="pixels-162" descr="pixels-light.png">    </p:cNvPr>
          <p:cNvPicPr>
            <a:picLocks noChangeAspect="1"/>
          </p:cNvPicPr>
          <p:nvPr/>
        </p:nvPicPr>
        <p:blipFill>
          <a:blip r:embed="rId1"/>
          <a:stretch>
            <a:fillRect/>
          </a:stretch>
        </p:blipFill>
        <p:spPr>
          <a:xfrm>
            <a:off x="355600" y="6299200"/>
            <a:ext cx="11480800" cy="228600"/>
          </a:xfrm>
          <a:prstGeom prst="rect">
            <a:avLst/>
          </a:prstGeom>
        </p:spPr>
      </p:pic>
      <p:sp>
        <p:nvSpPr>
          <p:cNvPr id="4" name="text-163"/>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1 · WEDNESDAY OCTOBER 1</a:t>
            </a:r>
            <a:endParaRPr lang="en-US" sz="1200" dirty="0"/>
          </a:p>
        </p:txBody>
      </p:sp>
      <p:sp>
        <p:nvSpPr>
          <p:cNvPr id="5" name="title-164"/>
          <p:cNvSpPr txBox="1"/>
          <p:nvPr/>
        </p:nvSpPr>
        <p:spPr>
          <a:xfrm>
            <a:off x="812800" y="1117600"/>
            <a:ext cx="10566400" cy="530860"/>
          </a:xfrm>
          <a:prstGeom prst="rect">
            <a:avLst/>
          </a:prstGeom>
          <a:noFill/>
          <a:ln/>
        </p:spPr>
        <p:txBody>
          <a:bodyPr wrap="square" lIns="0" tIns="0" rIns="0" bIns="0" rtlCol="0" anchor="t"/>
          <a:lstStyle/>
          <a:p>
            <a:pPr algn="l" indent="0" marL="0">
              <a:lnSpc>
                <a:spcPct val="110000"/>
              </a:lnSpc>
              <a:buNone/>
            </a:pPr>
            <a:r>
              <a:rPr lang="en-US" sz="3200" spc="-192" kern="0" dirty="0">
                <a:solidFill>
                  <a:srgbClr val="0F0F0F"/>
                </a:solidFill>
                <a:latin typeface="Fraunces" pitchFamily="34" charset="0"/>
                <a:ea typeface="Fraunces" pitchFamily="34" charset="-122"/>
                <a:cs typeface="Fraunces" pitchFamily="34" charset="-120"/>
              </a:rPr>
              <a:t>Set up, film batch A, </a:t>
            </a:r>
            <a:pPr algn="l" indent="0" marL="0">
              <a:lnSpc>
                <a:spcPct val="110000"/>
              </a:lnSpc>
              <a:buNone/>
            </a:pPr>
            <a:r>
              <a:rPr lang="en-US" sz="3200" i="1" spc="-192" kern="0" dirty="0">
                <a:solidFill>
                  <a:srgbClr val="FF0090"/>
                </a:solidFill>
                <a:latin typeface="Fraunces" pitchFamily="34" charset="0"/>
                <a:ea typeface="Fraunces" pitchFamily="34" charset="-122"/>
                <a:cs typeface="Fraunces" pitchFamily="34" charset="-120"/>
              </a:rPr>
              <a:t>post three</a:t>
            </a:r>
            <a:endParaRPr lang="en-US" sz="3200" dirty="0"/>
          </a:p>
        </p:txBody>
      </p:sp>
      <p:sp>
        <p:nvSpPr>
          <p:cNvPr id="6" name="shape-165"/>
          <p:cNvSpPr/>
          <p:nvPr/>
        </p:nvSpPr>
        <p:spPr>
          <a:xfrm>
            <a:off x="812800"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7" name="shape-166"/>
          <p:cNvSpPr/>
          <p:nvPr/>
        </p:nvSpPr>
        <p:spPr>
          <a:xfrm>
            <a:off x="4385733"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8" name="shape-167"/>
          <p:cNvSpPr/>
          <p:nvPr/>
        </p:nvSpPr>
        <p:spPr>
          <a:xfrm>
            <a:off x="7958667"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9" name="paras-168"/>
          <p:cNvSpPr txBox="1"/>
          <p:nvPr/>
        </p:nvSpPr>
        <p:spPr>
          <a:xfrm>
            <a:off x="990600"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Instagram @aissakee</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Now: profile, bios, proof bank (45 min). Film batch A: videos 1, 2, 3, 5, 6, 14.</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As soon as it is cut: video 1, The challenge. Pin it. Story with a poll.</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5 pm: video 2, How I make money online, collab @bykreeative.</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8:30 pm: video 3, What $95 gets you, collab @bykreeative.</a:t>
            </a:r>
            <a:endParaRPr lang="en-US" sz="1600" dirty="0"/>
          </a:p>
        </p:txBody>
      </p:sp>
      <p:sp>
        <p:nvSpPr>
          <p:cNvPr id="10" name="paras-169"/>
          <p:cNvSpPr txBox="1"/>
          <p:nvPr/>
        </p:nvSpPr>
        <p:spPr>
          <a:xfrm>
            <a:off x="4563533"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TikTok @keekyt</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Film T1 (the restaurant, part 2: how I caught it) and post it when cut.</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6 pm: T2, where a creator’s money comes from. Ends on “day by day on @aissakee”.</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Bio: add “new: IG @aissakee”.</a:t>
            </a:r>
            <a:endParaRPr lang="en-US" sz="1600" dirty="0"/>
          </a:p>
        </p:txBody>
      </p:sp>
      <p:sp>
        <p:nvSpPr>
          <p:cNvPr id="11" name="paras-170"/>
          <p:cNvSpPr txBox="1"/>
          <p:nvPr/>
        </p:nvSpPr>
        <p:spPr>
          <a:xfrm>
            <a:off x="8136467"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Stories, DMs, funnel</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Stories: poll “web design or UGC, which should I teach first?”, filming behind the scenes, “DM me SITE or FLYER”.</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Five DMs to businesses with the four-line DM and a concept.</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@bykreeative Story pointing to @aissakee.</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10 pm: first scoreboard. Note tomorrow’s best hook.</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C"/>
        </a:solidFill>
      </p:bgPr>
    </p:bg>
    <p:spTree>
      <p:nvGrpSpPr>
        <p:cNvPr id="1" name=""/>
        <p:cNvGrpSpPr/>
        <p:nvPr/>
      </p:nvGrpSpPr>
      <p:grpSpPr>
        <a:xfrm>
          <a:off x="0" y="0"/>
          <a:ext cx="0" cy="0"/>
          <a:chOff x="0" y="0"/>
          <a:chExt cx="0" cy="0"/>
        </a:xfrm>
      </p:grpSpPr>
      <p:sp>
        <p:nvSpPr>
          <p:cNvPr id="2" name="shape-171"/>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172"/>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173"/>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174"/>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31 → 10K by Sunday. Steal what works.</a:t>
            </a:r>
            <a:endParaRPr lang="en-US" sz="1200" dirty="0"/>
          </a:p>
        </p:txBody>
      </p:sp>
      <p:sp>
        <p:nvSpPr>
          <p:cNvPr id="6" name="phone-dot-175"/>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176"/>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177"/>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1 · WED OCT 1 · VIDEO 01 OF 15 · TALKING HEAD · PIN IT</a:t>
            </a:r>
            <a:endParaRPr lang="en-US" sz="1200" dirty="0"/>
          </a:p>
        </p:txBody>
      </p:sp>
      <p:sp>
        <p:nvSpPr>
          <p:cNvPr id="9" name="title-178"/>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The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challenge</a:t>
            </a:r>
            <a:endParaRPr lang="en-US" sz="3000" dirty="0"/>
          </a:p>
        </p:txBody>
      </p:sp>
      <p:sp>
        <p:nvSpPr>
          <p:cNvPr id="10" name="shape-179"/>
          <p:cNvSpPr/>
          <p:nvPr/>
        </p:nvSpPr>
        <p:spPr>
          <a:xfrm>
            <a:off x="812800" y="1746250"/>
            <a:ext cx="2241550" cy="292100"/>
          </a:xfrm>
          <a:prstGeom prst="roundRect">
            <a:avLst>
              <a:gd name="adj" fmla="val 17391"/>
            </a:avLst>
          </a:prstGeom>
          <a:solidFill>
            <a:srgbClr val="FFFFFF"/>
          </a:solidFill>
          <a:ln w="9525">
            <a:solidFill>
              <a:srgbClr val="313336">
                <a:alpha val="30000"/>
              </a:srgbClr>
            </a:solidFill>
            <a:prstDash val="dash"/>
          </a:ln>
        </p:spPr>
      </p:sp>
      <p:sp>
        <p:nvSpPr>
          <p:cNvPr id="11" name="text-180"/>
          <p:cNvSpPr txBox="1"/>
          <p:nvPr/>
        </p:nvSpPr>
        <p:spPr>
          <a:xfrm>
            <a:off x="812800" y="1746250"/>
            <a:ext cx="22415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student creative</a:t>
            </a:r>
            <a:endParaRPr lang="en-US" sz="1200" dirty="0"/>
          </a:p>
        </p:txBody>
      </p:sp>
      <p:sp>
        <p:nvSpPr>
          <p:cNvPr id="12" name="shape-181"/>
          <p:cNvSpPr/>
          <p:nvPr/>
        </p:nvSpPr>
        <p:spPr>
          <a:xfrm>
            <a:off x="3105150" y="1746250"/>
            <a:ext cx="3346450" cy="292100"/>
          </a:xfrm>
          <a:prstGeom prst="roundRect">
            <a:avLst>
              <a:gd name="adj" fmla="val 17391"/>
            </a:avLst>
          </a:prstGeom>
          <a:solidFill>
            <a:srgbClr val="FFFFFF"/>
          </a:solidFill>
          <a:ln w="9525">
            <a:solidFill>
              <a:srgbClr val="313336">
                <a:alpha val="30000"/>
              </a:srgbClr>
            </a:solidFill>
            <a:prstDash val="dash"/>
          </a:ln>
        </p:spPr>
      </p:sp>
      <p:sp>
        <p:nvSpPr>
          <p:cNvPr id="13" name="text-182"/>
          <p:cNvSpPr txBox="1"/>
          <p:nvPr/>
        </p:nvSpPr>
        <p:spPr>
          <a:xfrm>
            <a:off x="3105150" y="1746250"/>
            <a:ext cx="33464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Move: Hoyos open loop + Beason series</a:t>
            </a:r>
            <a:endParaRPr lang="en-US" sz="1200" dirty="0"/>
          </a:p>
        </p:txBody>
      </p:sp>
      <p:sp>
        <p:nvSpPr>
          <p:cNvPr id="14" name="text-183"/>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184"/>
          <p:cNvSpPr txBox="1"/>
          <p:nvPr/>
        </p:nvSpPr>
        <p:spPr>
          <a:xfrm>
            <a:off x="1333500" y="2228850"/>
            <a:ext cx="7734300" cy="72136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31 followers. I’m trying to hit 10K by Sunday, and every hook that works, I’m giving you.</a:t>
            </a:r>
            <a:endParaRPr lang="en-US" sz="2200" dirty="0"/>
          </a:p>
        </p:txBody>
      </p:sp>
      <p:sp>
        <p:nvSpPr>
          <p:cNvPr id="16" name="text-185"/>
          <p:cNvSpPr txBox="1"/>
          <p:nvPr/>
        </p:nvSpPr>
        <p:spPr>
          <a:xfrm>
            <a:off x="812800" y="324231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186"/>
          <p:cNvSpPr/>
          <p:nvPr/>
        </p:nvSpPr>
        <p:spPr>
          <a:xfrm>
            <a:off x="2768600" y="3140710"/>
            <a:ext cx="446405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187"/>
          <p:cNvSpPr txBox="1"/>
          <p:nvPr/>
        </p:nvSpPr>
        <p:spPr>
          <a:xfrm>
            <a:off x="2768600" y="3140710"/>
            <a:ext cx="446405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31 → 10K by Sunday. Steal what works.</a:t>
            </a:r>
            <a:endParaRPr lang="en-US" sz="1500" dirty="0"/>
          </a:p>
        </p:txBody>
      </p:sp>
      <p:sp>
        <p:nvSpPr>
          <p:cNvPr id="19" name="text-188"/>
          <p:cNvSpPr txBox="1"/>
          <p:nvPr/>
        </p:nvSpPr>
        <p:spPr>
          <a:xfrm>
            <a:off x="812800" y="369951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189"/>
          <p:cNvSpPr txBox="1"/>
          <p:nvPr/>
        </p:nvSpPr>
        <p:spPr>
          <a:xfrm>
            <a:off x="812800" y="395351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190"/>
          <p:cNvSpPr txBox="1"/>
          <p:nvPr/>
        </p:nvSpPr>
        <p:spPr>
          <a:xfrm>
            <a:off x="1130300" y="3953510"/>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Day 1 of taking this account from 31 followers to 10K. Copy what works, skip what flops.</a:t>
            </a:r>
            <a:endParaRPr lang="en-US" sz="1250" dirty="0"/>
          </a:p>
        </p:txBody>
      </p:sp>
      <p:sp>
        <p:nvSpPr>
          <p:cNvPr id="22" name="text-191"/>
          <p:cNvSpPr txBox="1"/>
          <p:nvPr/>
        </p:nvSpPr>
        <p:spPr>
          <a:xfrm>
            <a:off x="812800" y="4259898"/>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192"/>
          <p:cNvSpPr txBox="1"/>
          <p:nvPr/>
        </p:nvSpPr>
        <p:spPr>
          <a:xfrm>
            <a:off x="1130300" y="4259898"/>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Nobody starts at 10K. I’m starting at 31. Watch what works.</a:t>
            </a:r>
            <a:endParaRPr lang="en-US" sz="1250" dirty="0"/>
          </a:p>
        </p:txBody>
      </p:sp>
      <p:sp>
        <p:nvSpPr>
          <p:cNvPr id="24" name="text-193"/>
          <p:cNvSpPr txBox="1"/>
          <p:nvPr/>
        </p:nvSpPr>
        <p:spPr>
          <a:xfrm>
            <a:off x="8128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194"/>
          <p:cNvSpPr txBox="1"/>
          <p:nvPr/>
        </p:nvSpPr>
        <p:spPr>
          <a:xfrm>
            <a:off x="50927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195"/>
          <p:cNvSpPr txBox="1"/>
          <p:nvPr/>
        </p:nvSpPr>
        <p:spPr>
          <a:xfrm>
            <a:off x="812800" y="4947285"/>
            <a:ext cx="3975100" cy="46736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Your profile on screen showing 31, then a hard cut to your face already talking.</a:t>
            </a:r>
            <a:endParaRPr lang="en-US" sz="1200" dirty="0"/>
          </a:p>
        </p:txBody>
      </p:sp>
      <p:sp>
        <p:nvSpPr>
          <p:cNvPr id="27" name="text-196"/>
          <p:cNvSpPr txBox="1"/>
          <p:nvPr/>
        </p:nvSpPr>
        <p:spPr>
          <a:xfrm>
            <a:off x="5092700" y="494728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“If you think I can’t, comment no way.”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C"/>
        </a:solidFill>
      </p:bgPr>
    </p:bg>
    <p:spTree>
      <p:nvGrpSpPr>
        <p:cNvPr id="1" name=""/>
        <p:cNvGrpSpPr/>
        <p:nvPr/>
      </p:nvGrpSpPr>
      <p:grpSpPr>
        <a:xfrm>
          <a:off x="0" y="0"/>
          <a:ext cx="0" cy="0"/>
          <a:chOff x="0" y="0"/>
          <a:chExt cx="0" cy="0"/>
        </a:xfrm>
      </p:grpSpPr>
      <p:sp>
        <p:nvSpPr>
          <p:cNvPr id="2" name="shape-197"/>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198"/>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199"/>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200"/>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$560 job vs $419 one order</a:t>
            </a:r>
            <a:endParaRPr lang="en-US" sz="1200" dirty="0"/>
          </a:p>
        </p:txBody>
      </p:sp>
      <p:sp>
        <p:nvSpPr>
          <p:cNvPr id="6" name="phone-dot-201"/>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202"/>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203"/>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1 · WED OCT 1 · VIDEO 02 OF 15 · TALKING HEAD + RECEIPTS ON SCREEN · COLLAB @BYKREEATIVE</a:t>
            </a:r>
            <a:endParaRPr lang="en-US" sz="1200" dirty="0"/>
          </a:p>
        </p:txBody>
      </p:sp>
      <p:sp>
        <p:nvSpPr>
          <p:cNvPr id="9" name="title-204"/>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Where my money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actually</a:t>
            </a:r>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 comes from</a:t>
            </a:r>
            <a:endParaRPr lang="en-US" sz="3000" dirty="0"/>
          </a:p>
        </p:txBody>
      </p:sp>
      <p:sp>
        <p:nvSpPr>
          <p:cNvPr id="10" name="shape-205"/>
          <p:cNvSpPr/>
          <p:nvPr/>
        </p:nvSpPr>
        <p:spPr>
          <a:xfrm>
            <a:off x="812800" y="1746250"/>
            <a:ext cx="2241550" cy="292100"/>
          </a:xfrm>
          <a:prstGeom prst="roundRect">
            <a:avLst>
              <a:gd name="adj" fmla="val 17391"/>
            </a:avLst>
          </a:prstGeom>
          <a:solidFill>
            <a:srgbClr val="FFFFFF"/>
          </a:solidFill>
          <a:ln w="9525">
            <a:solidFill>
              <a:srgbClr val="313336">
                <a:alpha val="30000"/>
              </a:srgbClr>
            </a:solidFill>
            <a:prstDash val="dash"/>
          </a:ln>
        </p:spPr>
      </p:sp>
      <p:sp>
        <p:nvSpPr>
          <p:cNvPr id="11" name="text-206"/>
          <p:cNvSpPr txBox="1"/>
          <p:nvPr/>
        </p:nvSpPr>
        <p:spPr>
          <a:xfrm>
            <a:off x="812800" y="1746250"/>
            <a:ext cx="22415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student creative</a:t>
            </a:r>
            <a:endParaRPr lang="en-US" sz="1200" dirty="0"/>
          </a:p>
        </p:txBody>
      </p:sp>
      <p:sp>
        <p:nvSpPr>
          <p:cNvPr id="12" name="shape-207"/>
          <p:cNvSpPr/>
          <p:nvPr/>
        </p:nvSpPr>
        <p:spPr>
          <a:xfrm>
            <a:off x="3105150" y="1746250"/>
            <a:ext cx="4711700" cy="292100"/>
          </a:xfrm>
          <a:prstGeom prst="roundRect">
            <a:avLst>
              <a:gd name="adj" fmla="val 17391"/>
            </a:avLst>
          </a:prstGeom>
          <a:solidFill>
            <a:srgbClr val="FFFFFF"/>
          </a:solidFill>
          <a:ln w="9525">
            <a:solidFill>
              <a:srgbClr val="313336">
                <a:alpha val="30000"/>
              </a:srgbClr>
            </a:solidFill>
            <a:prstDash val="dash"/>
          </a:ln>
        </p:spPr>
      </p:sp>
      <p:sp>
        <p:nvSpPr>
          <p:cNvPr id="13" name="text-208"/>
          <p:cNvSpPr txBox="1"/>
          <p:nvPr/>
        </p:nvSpPr>
        <p:spPr>
          <a:xfrm>
            <a:off x="3105150" y="1746250"/>
            <a:ext cx="47117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Move: Hormozi number confession + Leatherstein reveal</a:t>
            </a:r>
            <a:endParaRPr lang="en-US" sz="1200" dirty="0"/>
          </a:p>
        </p:txBody>
      </p:sp>
      <p:sp>
        <p:nvSpPr>
          <p:cNvPr id="14" name="text-209"/>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210"/>
          <p:cNvSpPr txBox="1"/>
          <p:nvPr/>
        </p:nvSpPr>
        <p:spPr>
          <a:xfrm>
            <a:off x="1333500" y="2228850"/>
            <a:ext cx="7734300" cy="105664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My part-time job paid me $560 for two weeks. One order from my shop paid $419. Here’s where my money actually comes from.</a:t>
            </a:r>
            <a:endParaRPr lang="en-US" sz="2200" dirty="0"/>
          </a:p>
        </p:txBody>
      </p:sp>
      <p:sp>
        <p:nvSpPr>
          <p:cNvPr id="16" name="text-211"/>
          <p:cNvSpPr txBox="1"/>
          <p:nvPr/>
        </p:nvSpPr>
        <p:spPr>
          <a:xfrm>
            <a:off x="812800" y="357759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212"/>
          <p:cNvSpPr/>
          <p:nvPr/>
        </p:nvSpPr>
        <p:spPr>
          <a:xfrm>
            <a:off x="2768600" y="3475990"/>
            <a:ext cx="321945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213"/>
          <p:cNvSpPr txBox="1"/>
          <p:nvPr/>
        </p:nvSpPr>
        <p:spPr>
          <a:xfrm>
            <a:off x="2768600" y="3475990"/>
            <a:ext cx="321945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$560 job vs $419 one order</a:t>
            </a:r>
            <a:endParaRPr lang="en-US" sz="1500" dirty="0"/>
          </a:p>
        </p:txBody>
      </p:sp>
      <p:sp>
        <p:nvSpPr>
          <p:cNvPr id="19" name="text-214"/>
          <p:cNvSpPr txBox="1"/>
          <p:nvPr/>
        </p:nvSpPr>
        <p:spPr>
          <a:xfrm>
            <a:off x="812800" y="403479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215"/>
          <p:cNvSpPr txBox="1"/>
          <p:nvPr/>
        </p:nvSpPr>
        <p:spPr>
          <a:xfrm>
            <a:off x="812800" y="428879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216"/>
          <p:cNvSpPr txBox="1"/>
          <p:nvPr/>
        </p:nvSpPr>
        <p:spPr>
          <a:xfrm>
            <a:off x="1130300" y="4288790"/>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How I make money online as a student. Not dropshipping. Not crypto. Design, self-taught.</a:t>
            </a:r>
            <a:endParaRPr lang="en-US" sz="1250" dirty="0"/>
          </a:p>
        </p:txBody>
      </p:sp>
      <p:sp>
        <p:nvSpPr>
          <p:cNvPr id="22" name="text-217"/>
          <p:cNvSpPr txBox="1"/>
          <p:nvPr/>
        </p:nvSpPr>
        <p:spPr>
          <a:xfrm>
            <a:off x="812800" y="4595178"/>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218"/>
          <p:cNvSpPr txBox="1"/>
          <p:nvPr/>
        </p:nvSpPr>
        <p:spPr>
          <a:xfrm>
            <a:off x="1130300" y="4595178"/>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Three income streams, one laptop. Real numbers, nothing rounded up.</a:t>
            </a:r>
            <a:endParaRPr lang="en-US" sz="1250" dirty="0"/>
          </a:p>
        </p:txBody>
      </p:sp>
      <p:sp>
        <p:nvSpPr>
          <p:cNvPr id="24" name="text-219"/>
          <p:cNvSpPr txBox="1"/>
          <p:nvPr/>
        </p:nvSpPr>
        <p:spPr>
          <a:xfrm>
            <a:off x="812800" y="504126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220"/>
          <p:cNvSpPr txBox="1"/>
          <p:nvPr/>
        </p:nvSpPr>
        <p:spPr>
          <a:xfrm>
            <a:off x="5092700" y="504126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221"/>
          <p:cNvSpPr txBox="1"/>
          <p:nvPr/>
        </p:nvSpPr>
        <p:spPr>
          <a:xfrm>
            <a:off x="812800" y="5282565"/>
            <a:ext cx="3975100" cy="68834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The paycheque and the order side by side, employer and client names blurred, balances cropped, then you.</a:t>
            </a:r>
            <a:endParaRPr lang="en-US" sz="1200" dirty="0"/>
          </a:p>
        </p:txBody>
      </p:sp>
      <p:sp>
        <p:nvSpPr>
          <p:cNvPr id="27" name="text-222"/>
          <p:cNvSpPr txBox="1"/>
          <p:nvPr/>
        </p:nvSpPr>
        <p:spPr>
          <a:xfrm>
            <a:off x="5092700" y="5282565"/>
            <a:ext cx="3975100" cy="46736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“Follow. Each stream gets its own video this week.”</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C"/>
        </a:solidFill>
      </p:bgPr>
    </p:bg>
    <p:spTree>
      <p:nvGrpSpPr>
        <p:cNvPr id="1" name=""/>
        <p:cNvGrpSpPr/>
        <p:nvPr/>
      </p:nvGrpSpPr>
      <p:grpSpPr>
        <a:xfrm>
          <a:off x="0" y="0"/>
          <a:ext cx="0" cy="0"/>
          <a:chOff x="0" y="0"/>
          <a:chExt cx="0" cy="0"/>
        </a:xfrm>
      </p:grpSpPr>
      <p:sp>
        <p:nvSpPr>
          <p:cNvPr id="2" name="shape-223"/>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224"/>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225"/>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226"/>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What does $95 get you?</a:t>
            </a:r>
            <a:endParaRPr lang="en-US" sz="1200" dirty="0"/>
          </a:p>
        </p:txBody>
      </p:sp>
      <p:sp>
        <p:nvSpPr>
          <p:cNvPr id="6" name="phone-dot-227"/>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228"/>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229"/>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1 · WED OCT 1 · VIDEO 03 OF 15 · TALKING HEAD + PRICE CARDS · COLLAB @BYKREEATIVE</a:t>
            </a:r>
            <a:endParaRPr lang="en-US" sz="1200" dirty="0"/>
          </a:p>
        </p:txBody>
      </p:sp>
      <p:sp>
        <p:nvSpPr>
          <p:cNvPr id="9" name="title-230"/>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What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$95</a:t>
            </a:r>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 gets you</a:t>
            </a:r>
            <a:endParaRPr lang="en-US" sz="3000" dirty="0"/>
          </a:p>
        </p:txBody>
      </p:sp>
      <p:sp>
        <p:nvSpPr>
          <p:cNvPr id="10" name="shape-231"/>
          <p:cNvSpPr/>
          <p:nvPr/>
        </p:nvSpPr>
        <p:spPr>
          <a:xfrm>
            <a:off x="812800" y="1746250"/>
            <a:ext cx="2070100" cy="292100"/>
          </a:xfrm>
          <a:prstGeom prst="roundRect">
            <a:avLst>
              <a:gd name="adj" fmla="val 17391"/>
            </a:avLst>
          </a:prstGeom>
          <a:solidFill>
            <a:srgbClr val="FFFFFF"/>
          </a:solidFill>
          <a:ln w="9525">
            <a:solidFill>
              <a:srgbClr val="313336">
                <a:alpha val="30000"/>
              </a:srgbClr>
            </a:solidFill>
            <a:prstDash val="dash"/>
          </a:ln>
        </p:spPr>
      </p:sp>
      <p:sp>
        <p:nvSpPr>
          <p:cNvPr id="11" name="text-232"/>
          <p:cNvSpPr txBox="1"/>
          <p:nvPr/>
        </p:nvSpPr>
        <p:spPr>
          <a:xfrm>
            <a:off x="812800" y="1746250"/>
            <a:ext cx="20701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business owner</a:t>
            </a:r>
            <a:endParaRPr lang="en-US" sz="1200" dirty="0"/>
          </a:p>
        </p:txBody>
      </p:sp>
      <p:sp>
        <p:nvSpPr>
          <p:cNvPr id="12" name="shape-233"/>
          <p:cNvSpPr/>
          <p:nvPr/>
        </p:nvSpPr>
        <p:spPr>
          <a:xfrm>
            <a:off x="2933700" y="1746250"/>
            <a:ext cx="3606800" cy="292100"/>
          </a:xfrm>
          <a:prstGeom prst="roundRect">
            <a:avLst>
              <a:gd name="adj" fmla="val 17391"/>
            </a:avLst>
          </a:prstGeom>
          <a:solidFill>
            <a:srgbClr val="FFFFFF"/>
          </a:solidFill>
          <a:ln w="9525">
            <a:solidFill>
              <a:srgbClr val="313336">
                <a:alpha val="30000"/>
              </a:srgbClr>
            </a:solidFill>
            <a:prstDash val="dash"/>
          </a:ln>
        </p:spPr>
      </p:sp>
      <p:sp>
        <p:nvSpPr>
          <p:cNvPr id="13" name="text-234"/>
          <p:cNvSpPr txBox="1"/>
          <p:nvPr/>
        </p:nvSpPr>
        <p:spPr>
          <a:xfrm>
            <a:off x="2933700" y="1746250"/>
            <a:ext cx="36068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Move: Hoyos number + Leatherstein reveal</a:t>
            </a:r>
            <a:endParaRPr lang="en-US" sz="1200" dirty="0"/>
          </a:p>
        </p:txBody>
      </p:sp>
      <p:sp>
        <p:nvSpPr>
          <p:cNvPr id="14" name="text-235"/>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236"/>
          <p:cNvSpPr txBox="1"/>
          <p:nvPr/>
        </p:nvSpPr>
        <p:spPr>
          <a:xfrm>
            <a:off x="1333500" y="2228850"/>
            <a:ext cx="7734300" cy="38608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What does $95 get you from a designer?</a:t>
            </a:r>
            <a:endParaRPr lang="en-US" sz="2200" dirty="0"/>
          </a:p>
        </p:txBody>
      </p:sp>
      <p:sp>
        <p:nvSpPr>
          <p:cNvPr id="16" name="text-237"/>
          <p:cNvSpPr txBox="1"/>
          <p:nvPr/>
        </p:nvSpPr>
        <p:spPr>
          <a:xfrm>
            <a:off x="812800" y="290703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238"/>
          <p:cNvSpPr/>
          <p:nvPr/>
        </p:nvSpPr>
        <p:spPr>
          <a:xfrm>
            <a:off x="2768600" y="2805430"/>
            <a:ext cx="276860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239"/>
          <p:cNvSpPr txBox="1"/>
          <p:nvPr/>
        </p:nvSpPr>
        <p:spPr>
          <a:xfrm>
            <a:off x="2768600" y="2805430"/>
            <a:ext cx="276860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What does $95 get you?</a:t>
            </a:r>
            <a:endParaRPr lang="en-US" sz="1500" dirty="0"/>
          </a:p>
        </p:txBody>
      </p:sp>
      <p:sp>
        <p:nvSpPr>
          <p:cNvPr id="19" name="text-240"/>
          <p:cNvSpPr txBox="1"/>
          <p:nvPr/>
        </p:nvSpPr>
        <p:spPr>
          <a:xfrm>
            <a:off x="812800" y="336423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241"/>
          <p:cNvSpPr txBox="1"/>
          <p:nvPr/>
        </p:nvSpPr>
        <p:spPr>
          <a:xfrm>
            <a:off x="812800" y="361823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242"/>
          <p:cNvSpPr txBox="1"/>
          <p:nvPr/>
        </p:nvSpPr>
        <p:spPr>
          <a:xfrm>
            <a:off x="1130300" y="3618230"/>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Here’s what $95, $160 and $1,500 get you from a self-taught designer.</a:t>
            </a:r>
            <a:endParaRPr lang="en-US" sz="1250" dirty="0"/>
          </a:p>
        </p:txBody>
      </p:sp>
      <p:sp>
        <p:nvSpPr>
          <p:cNvPr id="22" name="text-243"/>
          <p:cNvSpPr txBox="1"/>
          <p:nvPr/>
        </p:nvSpPr>
        <p:spPr>
          <a:xfrm>
            <a:off x="812800" y="3924617"/>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244"/>
          <p:cNvSpPr txBox="1"/>
          <p:nvPr/>
        </p:nvSpPr>
        <p:spPr>
          <a:xfrm>
            <a:off x="1130300" y="3924617"/>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If you’ve ever wondered what a website actually costs, number by number.</a:t>
            </a:r>
            <a:endParaRPr lang="en-US" sz="1250" dirty="0"/>
          </a:p>
        </p:txBody>
      </p:sp>
      <p:sp>
        <p:nvSpPr>
          <p:cNvPr id="24" name="text-245"/>
          <p:cNvSpPr txBox="1"/>
          <p:nvPr/>
        </p:nvSpPr>
        <p:spPr>
          <a:xfrm>
            <a:off x="812800" y="437070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246"/>
          <p:cNvSpPr txBox="1"/>
          <p:nvPr/>
        </p:nvSpPr>
        <p:spPr>
          <a:xfrm>
            <a:off x="5092700" y="437070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247"/>
          <p:cNvSpPr txBox="1"/>
          <p:nvPr/>
        </p:nvSpPr>
        <p:spPr>
          <a:xfrm>
            <a:off x="812800" y="4612005"/>
            <a:ext cx="3975100" cy="46736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The $95 card slides in beside you, not over you.</a:t>
            </a:r>
            <a:endParaRPr lang="en-US" sz="1200" dirty="0"/>
          </a:p>
        </p:txBody>
      </p:sp>
      <p:sp>
        <p:nvSpPr>
          <p:cNvPr id="27" name="text-248"/>
          <p:cNvSpPr txBox="1"/>
          <p:nvPr/>
        </p:nvSpPr>
        <p:spPr>
          <a:xfrm>
            <a:off x="5092700" y="461200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“Comment SITE or FLYER.”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C"/>
        </a:solidFill>
      </p:bgPr>
    </p:bg>
    <p:spTree>
      <p:nvGrpSpPr>
        <p:cNvPr id="1" name=""/>
        <p:cNvGrpSpPr/>
        <p:nvPr/>
      </p:nvGrpSpPr>
      <p:grpSpPr>
        <a:xfrm>
          <a:off x="0" y="0"/>
          <a:ext cx="0" cy="0"/>
          <a:chOff x="0" y="0"/>
          <a:chExt cx="0" cy="0"/>
        </a:xfrm>
      </p:grpSpPr>
      <p:sp>
        <p:nvSpPr>
          <p:cNvPr id="2" name="shape-249"/>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pic>
        <p:nvPicPr>
          <p:cNvPr id="3" name="pixels-250" descr="pixels-light.png">    </p:cNvPr>
          <p:cNvPicPr>
            <a:picLocks noChangeAspect="1"/>
          </p:cNvPicPr>
          <p:nvPr/>
        </p:nvPicPr>
        <p:blipFill>
          <a:blip r:embed="rId1"/>
          <a:stretch>
            <a:fillRect/>
          </a:stretch>
        </p:blipFill>
        <p:spPr>
          <a:xfrm>
            <a:off x="355600" y="6299200"/>
            <a:ext cx="11480800" cy="228600"/>
          </a:xfrm>
          <a:prstGeom prst="rect">
            <a:avLst/>
          </a:prstGeom>
        </p:spPr>
      </p:pic>
      <p:sp>
        <p:nvSpPr>
          <p:cNvPr id="4" name="text-251"/>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2 · THURSDAY OCTOBER 2</a:t>
            </a:r>
            <a:endParaRPr lang="en-US" sz="1200" dirty="0"/>
          </a:p>
        </p:txBody>
      </p:sp>
      <p:sp>
        <p:nvSpPr>
          <p:cNvPr id="5" name="title-252"/>
          <p:cNvSpPr txBox="1"/>
          <p:nvPr/>
        </p:nvSpPr>
        <p:spPr>
          <a:xfrm>
            <a:off x="812800" y="1117600"/>
            <a:ext cx="10566400" cy="530860"/>
          </a:xfrm>
          <a:prstGeom prst="rect">
            <a:avLst/>
          </a:prstGeom>
          <a:noFill/>
          <a:ln/>
        </p:spPr>
        <p:txBody>
          <a:bodyPr wrap="square" lIns="0" tIns="0" rIns="0" bIns="0" rtlCol="0" anchor="t"/>
          <a:lstStyle/>
          <a:p>
            <a:pPr algn="l" indent="0" marL="0">
              <a:lnSpc>
                <a:spcPct val="110000"/>
              </a:lnSpc>
              <a:buNone/>
            </a:pPr>
            <a:r>
              <a:rPr lang="en-US" sz="3200" spc="-192" kern="0" dirty="0">
                <a:solidFill>
                  <a:srgbClr val="0F0F0F"/>
                </a:solidFill>
                <a:latin typeface="Fraunces" pitchFamily="34" charset="0"/>
                <a:ea typeface="Fraunces" pitchFamily="34" charset="-122"/>
                <a:cs typeface="Fraunces" pitchFamily="34" charset="-120"/>
              </a:rPr>
              <a:t>The lesson from day 1, then the </a:t>
            </a:r>
            <a:pPr algn="l" indent="0" marL="0">
              <a:lnSpc>
                <a:spcPct val="110000"/>
              </a:lnSpc>
              <a:buNone/>
            </a:pPr>
            <a:r>
              <a:rPr lang="en-US" sz="3200" i="1" spc="-192" kern="0" dirty="0">
                <a:solidFill>
                  <a:srgbClr val="FF0090"/>
                </a:solidFill>
                <a:latin typeface="Fraunces" pitchFamily="34" charset="0"/>
                <a:ea typeface="Fraunces" pitchFamily="34" charset="-122"/>
                <a:cs typeface="Fraunces" pitchFamily="34" charset="-120"/>
              </a:rPr>
              <a:t>money</a:t>
            </a:r>
            <a:pPr algn="l" indent="0" marL="0">
              <a:lnSpc>
                <a:spcPct val="110000"/>
              </a:lnSpc>
              <a:buNone/>
            </a:pPr>
            <a:r>
              <a:rPr lang="en-US" sz="3200" spc="-192" kern="0" dirty="0">
                <a:solidFill>
                  <a:srgbClr val="0F0F0F"/>
                </a:solidFill>
                <a:latin typeface="Fraunces" pitchFamily="34" charset="0"/>
                <a:ea typeface="Fraunces" pitchFamily="34" charset="-122"/>
                <a:cs typeface="Fraunces" pitchFamily="34" charset="-120"/>
              </a:rPr>
              <a:t> videos</a:t>
            </a:r>
            <a:endParaRPr lang="en-US" sz="3200" dirty="0"/>
          </a:p>
        </p:txBody>
      </p:sp>
      <p:sp>
        <p:nvSpPr>
          <p:cNvPr id="6" name="shape-253"/>
          <p:cNvSpPr/>
          <p:nvPr/>
        </p:nvSpPr>
        <p:spPr>
          <a:xfrm>
            <a:off x="812800"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7" name="shape-254"/>
          <p:cNvSpPr/>
          <p:nvPr/>
        </p:nvSpPr>
        <p:spPr>
          <a:xfrm>
            <a:off x="4385733"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8" name="shape-255"/>
          <p:cNvSpPr/>
          <p:nvPr/>
        </p:nvSpPr>
        <p:spPr>
          <a:xfrm>
            <a:off x="7958667"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9" name="paras-256"/>
          <p:cNvSpPr txBox="1"/>
          <p:nvPr/>
        </p:nvSpPr>
        <p:spPr>
          <a:xfrm>
            <a:off x="990600"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Instagram @aissakee</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Morning: film video 4 with the real numbers (5 minutes).</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8 am: video 4, Episode 2: one worked, two died.</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12 pm: video 5, From $0 this week.</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7 pm: video 6, The DM that gets clients, collab @bykreeative.</a:t>
            </a:r>
            <a:endParaRPr lang="en-US" sz="1600" dirty="0"/>
          </a:p>
        </p:txBody>
      </p:sp>
      <p:sp>
        <p:nvSpPr>
          <p:cNvPr id="10" name="paras-257"/>
          <p:cNvSpPr txBox="1"/>
          <p:nvPr/>
        </p:nvSpPr>
        <p:spPr>
          <a:xfrm>
            <a:off x="4563533"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TikTok @keekyt</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7:30 am: T3, the petition video on the topic from the morning scan. Petition link in bio, title pinned in the comments.</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1:30 pm: T4, red flags in brand DMs.</a:t>
            </a:r>
            <a:endParaRPr lang="en-US" sz="1600" dirty="0"/>
          </a:p>
        </p:txBody>
      </p:sp>
      <p:sp>
        <p:nvSpPr>
          <p:cNvPr id="11" name="paras-258"/>
          <p:cNvSpPr txBox="1"/>
          <p:nvPr/>
        </p:nvSpPr>
        <p:spPr>
          <a:xfrm>
            <a:off x="8136467"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Stories, DMs, funnel</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Stories: the insights screenshot, poll “if you had $0, what would you sell first?”, “DM me SPOT”.</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Reply video for the best “how?” comment from day 1, if there is one.</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Trial Reel: the B take of yesterday’s best hook. Five DMs.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C"/>
        </a:solidFill>
      </p:bgPr>
    </p:bg>
    <p:spTree>
      <p:nvGrpSpPr>
        <p:cNvPr id="1" name=""/>
        <p:cNvGrpSpPr/>
        <p:nvPr/>
      </p:nvGrpSpPr>
      <p:grpSpPr>
        <a:xfrm>
          <a:off x="0" y="0"/>
          <a:ext cx="0" cy="0"/>
          <a:chOff x="0" y="0"/>
          <a:chExt cx="0" cy="0"/>
        </a:xfrm>
      </p:grpSpPr>
      <p:sp>
        <p:nvSpPr>
          <p:cNvPr id="2" name="shape-259"/>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260"/>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261"/>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262"/>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3 videos. 1 worked. Why.</a:t>
            </a:r>
            <a:endParaRPr lang="en-US" sz="1200" dirty="0"/>
          </a:p>
        </p:txBody>
      </p:sp>
      <p:sp>
        <p:nvSpPr>
          <p:cNvPr id="6" name="phone-dot-263"/>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264"/>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265"/>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2 · THU OCT 2 · VIDEO 04 OF 15 · EPISODE · 5 MINUTES TO FILM</a:t>
            </a:r>
            <a:endParaRPr lang="en-US" sz="1200" dirty="0"/>
          </a:p>
        </p:txBody>
      </p:sp>
      <p:sp>
        <p:nvSpPr>
          <p:cNvPr id="9" name="title-266"/>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Episode 2: one worked,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two died</a:t>
            </a:r>
            <a:endParaRPr lang="en-US" sz="3000" dirty="0"/>
          </a:p>
        </p:txBody>
      </p:sp>
      <p:sp>
        <p:nvSpPr>
          <p:cNvPr id="10" name="shape-267"/>
          <p:cNvSpPr/>
          <p:nvPr/>
        </p:nvSpPr>
        <p:spPr>
          <a:xfrm>
            <a:off x="812800" y="1746250"/>
            <a:ext cx="1981200" cy="292100"/>
          </a:xfrm>
          <a:prstGeom prst="roundRect">
            <a:avLst>
              <a:gd name="adj" fmla="val 17391"/>
            </a:avLst>
          </a:prstGeom>
          <a:solidFill>
            <a:srgbClr val="FFFFFF"/>
          </a:solidFill>
          <a:ln w="9525">
            <a:solidFill>
              <a:srgbClr val="313336">
                <a:alpha val="30000"/>
              </a:srgbClr>
            </a:solidFill>
            <a:prstDash val="dash"/>
          </a:ln>
        </p:spPr>
      </p:sp>
      <p:sp>
        <p:nvSpPr>
          <p:cNvPr id="11" name="text-268"/>
          <p:cNvSpPr txBox="1"/>
          <p:nvPr/>
        </p:nvSpPr>
        <p:spPr>
          <a:xfrm>
            <a:off x="812800" y="1746250"/>
            <a:ext cx="19812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small creator</a:t>
            </a:r>
            <a:endParaRPr lang="en-US" sz="1200" dirty="0"/>
          </a:p>
        </p:txBody>
      </p:sp>
      <p:sp>
        <p:nvSpPr>
          <p:cNvPr id="12" name="shape-269"/>
          <p:cNvSpPr/>
          <p:nvPr/>
        </p:nvSpPr>
        <p:spPr>
          <a:xfrm>
            <a:off x="2844800" y="1746250"/>
            <a:ext cx="3346450" cy="292100"/>
          </a:xfrm>
          <a:prstGeom prst="roundRect">
            <a:avLst>
              <a:gd name="adj" fmla="val 17391"/>
            </a:avLst>
          </a:prstGeom>
          <a:solidFill>
            <a:srgbClr val="FFFFFF"/>
          </a:solidFill>
          <a:ln w="9525">
            <a:solidFill>
              <a:srgbClr val="313336">
                <a:alpha val="30000"/>
              </a:srgbClr>
            </a:solidFill>
            <a:prstDash val="dash"/>
          </a:ln>
        </p:spPr>
      </p:sp>
      <p:sp>
        <p:nvSpPr>
          <p:cNvPr id="13" name="text-270"/>
          <p:cNvSpPr txBox="1"/>
          <p:nvPr/>
        </p:nvSpPr>
        <p:spPr>
          <a:xfrm>
            <a:off x="2844800" y="1746250"/>
            <a:ext cx="33464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Move: Hoyos satisfy, the lesson first</a:t>
            </a:r>
            <a:endParaRPr lang="en-US" sz="1200" dirty="0"/>
          </a:p>
        </p:txBody>
      </p:sp>
      <p:sp>
        <p:nvSpPr>
          <p:cNvPr id="14" name="text-271"/>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272"/>
          <p:cNvSpPr txBox="1"/>
          <p:nvPr/>
        </p:nvSpPr>
        <p:spPr>
          <a:xfrm>
            <a:off x="1333500" y="2228850"/>
            <a:ext cx="7734300" cy="72136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I posted three videos yesterday. One worked, two died. Here’s the difference.</a:t>
            </a:r>
            <a:endParaRPr lang="en-US" sz="2200" dirty="0"/>
          </a:p>
        </p:txBody>
      </p:sp>
      <p:sp>
        <p:nvSpPr>
          <p:cNvPr id="16" name="text-273"/>
          <p:cNvSpPr txBox="1"/>
          <p:nvPr/>
        </p:nvSpPr>
        <p:spPr>
          <a:xfrm>
            <a:off x="812800" y="324231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274"/>
          <p:cNvSpPr/>
          <p:nvPr/>
        </p:nvSpPr>
        <p:spPr>
          <a:xfrm>
            <a:off x="2768600" y="3140710"/>
            <a:ext cx="299085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275"/>
          <p:cNvSpPr txBox="1"/>
          <p:nvPr/>
        </p:nvSpPr>
        <p:spPr>
          <a:xfrm>
            <a:off x="2768600" y="3140710"/>
            <a:ext cx="299085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3 videos. 1 worked. Why.</a:t>
            </a:r>
            <a:endParaRPr lang="en-US" sz="1500" dirty="0"/>
          </a:p>
        </p:txBody>
      </p:sp>
      <p:sp>
        <p:nvSpPr>
          <p:cNvPr id="19" name="text-276"/>
          <p:cNvSpPr txBox="1"/>
          <p:nvPr/>
        </p:nvSpPr>
        <p:spPr>
          <a:xfrm>
            <a:off x="812800" y="369951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277"/>
          <p:cNvSpPr txBox="1"/>
          <p:nvPr/>
        </p:nvSpPr>
        <p:spPr>
          <a:xfrm>
            <a:off x="812800" y="395351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278"/>
          <p:cNvSpPr txBox="1"/>
          <p:nvPr/>
        </p:nvSpPr>
        <p:spPr>
          <a:xfrm>
            <a:off x="1130300" y="3953510"/>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Day 2 of 31 to 10K: [number] followers, and the hook that did it.</a:t>
            </a:r>
            <a:endParaRPr lang="en-US" sz="1250" dirty="0"/>
          </a:p>
        </p:txBody>
      </p:sp>
      <p:sp>
        <p:nvSpPr>
          <p:cNvPr id="22" name="text-279"/>
          <p:cNvSpPr txBox="1"/>
          <p:nvPr/>
        </p:nvSpPr>
        <p:spPr>
          <a:xfrm>
            <a:off x="812800" y="4259898"/>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280"/>
          <p:cNvSpPr txBox="1"/>
          <p:nvPr/>
        </p:nvSpPr>
        <p:spPr>
          <a:xfrm>
            <a:off x="1130300" y="4259898"/>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The video I expected to flop is the one that worked. Here’s why.</a:t>
            </a:r>
            <a:endParaRPr lang="en-US" sz="1250" dirty="0"/>
          </a:p>
        </p:txBody>
      </p:sp>
      <p:sp>
        <p:nvSpPr>
          <p:cNvPr id="24" name="text-281"/>
          <p:cNvSpPr txBox="1"/>
          <p:nvPr/>
        </p:nvSpPr>
        <p:spPr>
          <a:xfrm>
            <a:off x="8128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282"/>
          <p:cNvSpPr txBox="1"/>
          <p:nvPr/>
        </p:nvSpPr>
        <p:spPr>
          <a:xfrm>
            <a:off x="50927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283"/>
          <p:cNvSpPr txBox="1"/>
          <p:nvPr/>
        </p:nvSpPr>
        <p:spPr>
          <a:xfrm>
            <a:off x="812800" y="494728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The insights screenshot first, then you.</a:t>
            </a:r>
            <a:endParaRPr lang="en-US" sz="1200" dirty="0"/>
          </a:p>
        </p:txBody>
      </p:sp>
      <p:sp>
        <p:nvSpPr>
          <p:cNvPr id="27" name="text-284"/>
          <p:cNvSpPr txBox="1"/>
          <p:nvPr/>
        </p:nvSpPr>
        <p:spPr>
          <a:xfrm>
            <a:off x="5092700" y="494728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“Tell me which video to make next.”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C"/>
        </a:solidFill>
      </p:bgPr>
    </p:bg>
    <p:spTree>
      <p:nvGrpSpPr>
        <p:cNvPr id="1" name=""/>
        <p:cNvGrpSpPr/>
        <p:nvPr/>
      </p:nvGrpSpPr>
      <p:grpSpPr>
        <a:xfrm>
          <a:off x="0" y="0"/>
          <a:ext cx="0" cy="0"/>
          <a:chOff x="0" y="0"/>
          <a:chExt cx="0" cy="0"/>
        </a:xfrm>
      </p:grpSpPr>
      <p:sp>
        <p:nvSpPr>
          <p:cNvPr id="2" name="shape-285"/>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286"/>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287"/>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288"/>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$[X] as a student. Free PDF: comment GUIDE</a:t>
            </a:r>
            <a:endParaRPr lang="en-US" sz="1200" dirty="0"/>
          </a:p>
        </p:txBody>
      </p:sp>
      <p:sp>
        <p:nvSpPr>
          <p:cNvPr id="6" name="phone-dot-289"/>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290"/>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291"/>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2 · THU OCT 2 · VIDEO 05 OF 15 · LEAD MAGNET · NEEDS THE PDF AND THE GUIDE KEYWORD LIVE</a:t>
            </a:r>
            <a:endParaRPr lang="en-US" sz="1200" dirty="0"/>
          </a:p>
        </p:txBody>
      </p:sp>
      <p:sp>
        <p:nvSpPr>
          <p:cNvPr id="9" name="title-292"/>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I made $X as a student.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Here’s how.</a:t>
            </a:r>
            <a:endParaRPr lang="en-US" sz="3000" dirty="0"/>
          </a:p>
        </p:txBody>
      </p:sp>
      <p:sp>
        <p:nvSpPr>
          <p:cNvPr id="10" name="shape-293"/>
          <p:cNvSpPr/>
          <p:nvPr/>
        </p:nvSpPr>
        <p:spPr>
          <a:xfrm>
            <a:off x="812800" y="1746250"/>
            <a:ext cx="2241550" cy="292100"/>
          </a:xfrm>
          <a:prstGeom prst="roundRect">
            <a:avLst>
              <a:gd name="adj" fmla="val 17391"/>
            </a:avLst>
          </a:prstGeom>
          <a:solidFill>
            <a:srgbClr val="FFFFFF"/>
          </a:solidFill>
          <a:ln w="9525">
            <a:solidFill>
              <a:srgbClr val="313336">
                <a:alpha val="30000"/>
              </a:srgbClr>
            </a:solidFill>
            <a:prstDash val="dash"/>
          </a:ln>
        </p:spPr>
      </p:sp>
      <p:sp>
        <p:nvSpPr>
          <p:cNvPr id="11" name="text-294"/>
          <p:cNvSpPr txBox="1"/>
          <p:nvPr/>
        </p:nvSpPr>
        <p:spPr>
          <a:xfrm>
            <a:off x="812800" y="1746250"/>
            <a:ext cx="22415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student creative</a:t>
            </a:r>
            <a:endParaRPr lang="en-US" sz="1200" dirty="0"/>
          </a:p>
        </p:txBody>
      </p:sp>
      <p:sp>
        <p:nvSpPr>
          <p:cNvPr id="12" name="shape-295"/>
          <p:cNvSpPr/>
          <p:nvPr/>
        </p:nvSpPr>
        <p:spPr>
          <a:xfrm>
            <a:off x="3105150" y="1746250"/>
            <a:ext cx="3771900" cy="292100"/>
          </a:xfrm>
          <a:prstGeom prst="roundRect">
            <a:avLst>
              <a:gd name="adj" fmla="val 17391"/>
            </a:avLst>
          </a:prstGeom>
          <a:solidFill>
            <a:srgbClr val="FFFFFF"/>
          </a:solidFill>
          <a:ln w="9525">
            <a:solidFill>
              <a:srgbClr val="313336">
                <a:alpha val="30000"/>
              </a:srgbClr>
            </a:solidFill>
            <a:prstDash val="dash"/>
          </a:ln>
        </p:spPr>
      </p:sp>
      <p:sp>
        <p:nvSpPr>
          <p:cNvPr id="13" name="text-296"/>
          <p:cNvSpPr txBox="1"/>
          <p:nvPr/>
        </p:nvSpPr>
        <p:spPr>
          <a:xfrm>
            <a:off x="3105150" y="1746250"/>
            <a:ext cx="37719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Move: Hormozi number + free PDF by comment</a:t>
            </a:r>
            <a:endParaRPr lang="en-US" sz="1200" dirty="0"/>
          </a:p>
        </p:txBody>
      </p:sp>
      <p:sp>
        <p:nvSpPr>
          <p:cNvPr id="14" name="text-297"/>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298"/>
          <p:cNvSpPr txBox="1"/>
          <p:nvPr/>
        </p:nvSpPr>
        <p:spPr>
          <a:xfrm>
            <a:off x="1333500" y="2228850"/>
            <a:ext cx="7734300" cy="105664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I made $[laptop total] this year as a full-time student, from my laptop. Here’s how, and the exact system is free: comment GUIDE.</a:t>
            </a:r>
            <a:endParaRPr lang="en-US" sz="2200" dirty="0"/>
          </a:p>
        </p:txBody>
      </p:sp>
      <p:sp>
        <p:nvSpPr>
          <p:cNvPr id="16" name="text-299"/>
          <p:cNvSpPr txBox="1"/>
          <p:nvPr/>
        </p:nvSpPr>
        <p:spPr>
          <a:xfrm>
            <a:off x="812800" y="357759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300"/>
          <p:cNvSpPr/>
          <p:nvPr/>
        </p:nvSpPr>
        <p:spPr>
          <a:xfrm>
            <a:off x="2768600" y="3475990"/>
            <a:ext cx="502920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301"/>
          <p:cNvSpPr txBox="1"/>
          <p:nvPr/>
        </p:nvSpPr>
        <p:spPr>
          <a:xfrm>
            <a:off x="2768600" y="3475990"/>
            <a:ext cx="502920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$[X] as a student. Free PDF: comment GUIDE</a:t>
            </a:r>
            <a:endParaRPr lang="en-US" sz="1500" dirty="0"/>
          </a:p>
        </p:txBody>
      </p:sp>
      <p:sp>
        <p:nvSpPr>
          <p:cNvPr id="19" name="text-302"/>
          <p:cNvSpPr txBox="1"/>
          <p:nvPr/>
        </p:nvSpPr>
        <p:spPr>
          <a:xfrm>
            <a:off x="812800" y="403479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303"/>
          <p:cNvSpPr txBox="1"/>
          <p:nvPr/>
        </p:nvSpPr>
        <p:spPr>
          <a:xfrm>
            <a:off x="812800" y="428879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304"/>
          <p:cNvSpPr txBox="1"/>
          <p:nvPr/>
        </p:nvSpPr>
        <p:spPr>
          <a:xfrm>
            <a:off x="1130300" y="4288790"/>
            <a:ext cx="7937500" cy="473075"/>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Both numbers, the honest split: “I made $[total] this year as a student: $[job] from my job, $[laptop] from my laptop. Here’s how I’m flipping that. Comment GUIDE.”</a:t>
            </a:r>
            <a:endParaRPr lang="en-US" sz="1250" dirty="0"/>
          </a:p>
        </p:txBody>
      </p:sp>
      <p:sp>
        <p:nvSpPr>
          <p:cNvPr id="22" name="text-305"/>
          <p:cNvSpPr txBox="1"/>
          <p:nvPr/>
        </p:nvSpPr>
        <p:spPr>
          <a:xfrm>
            <a:off x="812800" y="4825365"/>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306"/>
          <p:cNvSpPr txBox="1"/>
          <p:nvPr/>
        </p:nvSpPr>
        <p:spPr>
          <a:xfrm>
            <a:off x="1130300" y="4825365"/>
            <a:ext cx="7937500" cy="473075"/>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The qualifier: “If you’re a student with a laptop and no money: I made $[laptop] with mine this year. Comment GUIDE and I’ll send you exactly how, free.”</a:t>
            </a:r>
            <a:endParaRPr lang="en-US" sz="1250" dirty="0"/>
          </a:p>
        </p:txBody>
      </p:sp>
      <p:sp>
        <p:nvSpPr>
          <p:cNvPr id="24" name="text-307"/>
          <p:cNvSpPr txBox="1"/>
          <p:nvPr/>
        </p:nvSpPr>
        <p:spPr>
          <a:xfrm>
            <a:off x="812800" y="5501640"/>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308"/>
          <p:cNvSpPr txBox="1"/>
          <p:nvPr/>
        </p:nvSpPr>
        <p:spPr>
          <a:xfrm>
            <a:off x="5092700" y="5501640"/>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309"/>
          <p:cNvSpPr txBox="1"/>
          <p:nvPr/>
        </p:nvSpPr>
        <p:spPr>
          <a:xfrm>
            <a:off x="812800" y="5742940"/>
            <a:ext cx="3975100" cy="68834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The receipts in a five-second stack: cheques, orders, gig wallet, invoices. Names blurred, balances cropped. Then you.</a:t>
            </a:r>
            <a:endParaRPr lang="en-US" sz="1200" dirty="0"/>
          </a:p>
        </p:txBody>
      </p:sp>
      <p:sp>
        <p:nvSpPr>
          <p:cNvPr id="27" name="text-310"/>
          <p:cNvSpPr txBox="1"/>
          <p:nvPr/>
        </p:nvSpPr>
        <p:spPr>
          <a:xfrm>
            <a:off x="5092700" y="5742940"/>
            <a:ext cx="3975100" cy="46736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“Comment GUIDE, follow so the DM goes through, and it’s yours. Free.”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CFC"/>
        </a:solidFill>
      </p:bgPr>
    </p:bg>
    <p:spTree>
      <p:nvGrpSpPr>
        <p:cNvPr id="1" name=""/>
        <p:cNvGrpSpPr/>
        <p:nvPr/>
      </p:nvGrpSpPr>
      <p:grpSpPr>
        <a:xfrm>
          <a:off x="0" y="0"/>
          <a:ext cx="0" cy="0"/>
          <a:chOff x="0" y="0"/>
          <a:chExt cx="0" cy="0"/>
        </a:xfrm>
      </p:grpSpPr>
      <p:sp>
        <p:nvSpPr>
          <p:cNvPr id="2" name="shape-311"/>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312"/>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313"/>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314"/>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The DM that gets clients. Copy it.</a:t>
            </a:r>
            <a:endParaRPr lang="en-US" sz="1200" dirty="0"/>
          </a:p>
        </p:txBody>
      </p:sp>
      <p:sp>
        <p:nvSpPr>
          <p:cNvPr id="6" name="phone-dot-315"/>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316"/>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317"/>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2 · THU OCT 2 · VIDEO 06 OF 15 · SCREEN RECORD + VOICE · COLLAB @BYKREEATIVE</a:t>
            </a:r>
            <a:endParaRPr lang="en-US" sz="1200" dirty="0"/>
          </a:p>
        </p:txBody>
      </p:sp>
      <p:sp>
        <p:nvSpPr>
          <p:cNvPr id="9" name="title-318"/>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The DM that gets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clients</a:t>
            </a:r>
            <a:endParaRPr lang="en-US" sz="3000" dirty="0"/>
          </a:p>
        </p:txBody>
      </p:sp>
      <p:sp>
        <p:nvSpPr>
          <p:cNvPr id="10" name="shape-319"/>
          <p:cNvSpPr/>
          <p:nvPr/>
        </p:nvSpPr>
        <p:spPr>
          <a:xfrm>
            <a:off x="812800" y="1746250"/>
            <a:ext cx="2241550" cy="292100"/>
          </a:xfrm>
          <a:prstGeom prst="roundRect">
            <a:avLst>
              <a:gd name="adj" fmla="val 17391"/>
            </a:avLst>
          </a:prstGeom>
          <a:solidFill>
            <a:srgbClr val="FFFFFF"/>
          </a:solidFill>
          <a:ln w="9525">
            <a:solidFill>
              <a:srgbClr val="313336">
                <a:alpha val="30000"/>
              </a:srgbClr>
            </a:solidFill>
            <a:prstDash val="dash"/>
          </a:ln>
        </p:spPr>
      </p:sp>
      <p:sp>
        <p:nvSpPr>
          <p:cNvPr id="11" name="text-320"/>
          <p:cNvSpPr txBox="1"/>
          <p:nvPr/>
        </p:nvSpPr>
        <p:spPr>
          <a:xfrm>
            <a:off x="812800" y="1746250"/>
            <a:ext cx="22415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student creative</a:t>
            </a:r>
            <a:endParaRPr lang="en-US" sz="1200" dirty="0"/>
          </a:p>
        </p:txBody>
      </p:sp>
      <p:sp>
        <p:nvSpPr>
          <p:cNvPr id="12" name="shape-321"/>
          <p:cNvSpPr/>
          <p:nvPr/>
        </p:nvSpPr>
        <p:spPr>
          <a:xfrm>
            <a:off x="3105150" y="1746250"/>
            <a:ext cx="2838450" cy="292100"/>
          </a:xfrm>
          <a:prstGeom prst="roundRect">
            <a:avLst>
              <a:gd name="adj" fmla="val 17391"/>
            </a:avLst>
          </a:prstGeom>
          <a:solidFill>
            <a:srgbClr val="FFFFFF"/>
          </a:solidFill>
          <a:ln w="9525">
            <a:solidFill>
              <a:srgbClr val="313336">
                <a:alpha val="30000"/>
              </a:srgbClr>
            </a:solidFill>
            <a:prstDash val="dash"/>
          </a:ln>
        </p:spPr>
      </p:sp>
      <p:sp>
        <p:nvSpPr>
          <p:cNvPr id="13" name="text-322"/>
          <p:cNvSpPr txBox="1"/>
          <p:nvPr/>
        </p:nvSpPr>
        <p:spPr>
          <a:xfrm>
            <a:off x="3105150" y="1746250"/>
            <a:ext cx="28384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Move: Hormozi “how I” + copy it</a:t>
            </a:r>
            <a:endParaRPr lang="en-US" sz="1200" dirty="0"/>
          </a:p>
        </p:txBody>
      </p:sp>
      <p:sp>
        <p:nvSpPr>
          <p:cNvPr id="14" name="text-323"/>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324"/>
          <p:cNvSpPr txBox="1"/>
          <p:nvPr/>
        </p:nvSpPr>
        <p:spPr>
          <a:xfrm>
            <a:off x="1333500" y="2228850"/>
            <a:ext cx="7734300" cy="72136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The exact DM that gets me clients. Four lines. Copy it.</a:t>
            </a:r>
            <a:endParaRPr lang="en-US" sz="2200" dirty="0"/>
          </a:p>
        </p:txBody>
      </p:sp>
      <p:sp>
        <p:nvSpPr>
          <p:cNvPr id="16" name="text-325"/>
          <p:cNvSpPr txBox="1"/>
          <p:nvPr/>
        </p:nvSpPr>
        <p:spPr>
          <a:xfrm>
            <a:off x="812800" y="324231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326"/>
          <p:cNvSpPr/>
          <p:nvPr/>
        </p:nvSpPr>
        <p:spPr>
          <a:xfrm>
            <a:off x="2768600" y="3140710"/>
            <a:ext cx="412115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327"/>
          <p:cNvSpPr txBox="1"/>
          <p:nvPr/>
        </p:nvSpPr>
        <p:spPr>
          <a:xfrm>
            <a:off x="2768600" y="3140710"/>
            <a:ext cx="412115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The DM that gets clients. Copy it.</a:t>
            </a:r>
            <a:endParaRPr lang="en-US" sz="1500" dirty="0"/>
          </a:p>
        </p:txBody>
      </p:sp>
      <p:sp>
        <p:nvSpPr>
          <p:cNvPr id="19" name="text-328"/>
          <p:cNvSpPr txBox="1"/>
          <p:nvPr/>
        </p:nvSpPr>
        <p:spPr>
          <a:xfrm>
            <a:off x="812800" y="369951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329"/>
          <p:cNvSpPr txBox="1"/>
          <p:nvPr/>
        </p:nvSpPr>
        <p:spPr>
          <a:xfrm>
            <a:off x="812800" y="395351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330"/>
          <p:cNvSpPr txBox="1"/>
          <p:nvPr/>
        </p:nvSpPr>
        <p:spPr>
          <a:xfrm>
            <a:off x="1130300" y="3953510"/>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The DM I send to businesses, five a day.</a:t>
            </a:r>
            <a:endParaRPr lang="en-US" sz="1250" dirty="0"/>
          </a:p>
        </p:txBody>
      </p:sp>
      <p:sp>
        <p:nvSpPr>
          <p:cNvPr id="22" name="text-331"/>
          <p:cNvSpPr txBox="1"/>
          <p:nvPr/>
        </p:nvSpPr>
        <p:spPr>
          <a:xfrm>
            <a:off x="812800" y="4259898"/>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332"/>
          <p:cNvSpPr txBox="1"/>
          <p:nvPr/>
        </p:nvSpPr>
        <p:spPr>
          <a:xfrm>
            <a:off x="1130300" y="4259898"/>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Stop sending “Hi, I’m a designer, need anything?” Send this.</a:t>
            </a:r>
            <a:endParaRPr lang="en-US" sz="1250" dirty="0"/>
          </a:p>
        </p:txBody>
      </p:sp>
      <p:sp>
        <p:nvSpPr>
          <p:cNvPr id="24" name="text-333"/>
          <p:cNvSpPr txBox="1"/>
          <p:nvPr/>
        </p:nvSpPr>
        <p:spPr>
          <a:xfrm>
            <a:off x="8128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334"/>
          <p:cNvSpPr txBox="1"/>
          <p:nvPr/>
        </p:nvSpPr>
        <p:spPr>
          <a:xfrm>
            <a:off x="50927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335"/>
          <p:cNvSpPr txBox="1"/>
          <p:nvPr/>
        </p:nvSpPr>
        <p:spPr>
          <a:xfrm>
            <a:off x="812800" y="4947285"/>
            <a:ext cx="3975100" cy="46736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The DM being typed on screen, your voice over it.</a:t>
            </a:r>
            <a:endParaRPr lang="en-US" sz="1200" dirty="0"/>
          </a:p>
        </p:txBody>
      </p:sp>
      <p:sp>
        <p:nvSpPr>
          <p:cNvPr id="27" name="text-336"/>
          <p:cNvSpPr txBox="1"/>
          <p:nvPr/>
        </p:nvSpPr>
        <p:spPr>
          <a:xfrm>
            <a:off x="5092700" y="494728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“Comment SPOT for my October offer.”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CFC"/>
        </a:solidFill>
      </p:bgPr>
    </p:bg>
    <p:spTree>
      <p:nvGrpSpPr>
        <p:cNvPr id="1" name=""/>
        <p:cNvGrpSpPr/>
        <p:nvPr/>
      </p:nvGrpSpPr>
      <p:grpSpPr>
        <a:xfrm>
          <a:off x="0" y="0"/>
          <a:ext cx="0" cy="0"/>
          <a:chOff x="0" y="0"/>
          <a:chExt cx="0" cy="0"/>
        </a:xfrm>
      </p:grpSpPr>
      <p:sp>
        <p:nvSpPr>
          <p:cNvPr id="2" name="shape-337"/>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pic>
        <p:nvPicPr>
          <p:cNvPr id="3" name="pixels-338" descr="pixels-light.png">    </p:cNvPr>
          <p:cNvPicPr>
            <a:picLocks noChangeAspect="1"/>
          </p:cNvPicPr>
          <p:nvPr/>
        </p:nvPicPr>
        <p:blipFill>
          <a:blip r:embed="rId1"/>
          <a:stretch>
            <a:fillRect/>
          </a:stretch>
        </p:blipFill>
        <p:spPr>
          <a:xfrm>
            <a:off x="355600" y="6299200"/>
            <a:ext cx="11480800" cy="228600"/>
          </a:xfrm>
          <a:prstGeom prst="rect">
            <a:avLst/>
          </a:prstGeom>
        </p:spPr>
      </p:pic>
      <p:sp>
        <p:nvSpPr>
          <p:cNvPr id="4" name="text-339"/>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3 · FRIDAY OCTOBER 3</a:t>
            </a:r>
            <a:endParaRPr lang="en-US" sz="1200" dirty="0"/>
          </a:p>
        </p:txBody>
      </p:sp>
      <p:sp>
        <p:nvSpPr>
          <p:cNvPr id="5" name="title-340"/>
          <p:cNvSpPr txBox="1"/>
          <p:nvPr/>
        </p:nvSpPr>
        <p:spPr>
          <a:xfrm>
            <a:off x="812800" y="1117600"/>
            <a:ext cx="10566400" cy="530860"/>
          </a:xfrm>
          <a:prstGeom prst="rect">
            <a:avLst/>
          </a:prstGeom>
          <a:noFill/>
          <a:ln/>
        </p:spPr>
        <p:txBody>
          <a:bodyPr wrap="square" lIns="0" tIns="0" rIns="0" bIns="0" rtlCol="0" anchor="t"/>
          <a:lstStyle/>
          <a:p>
            <a:pPr algn="l" indent="0" marL="0">
              <a:lnSpc>
                <a:spcPct val="110000"/>
              </a:lnSpc>
              <a:buNone/>
            </a:pPr>
            <a:r>
              <a:rPr lang="en-US" sz="3200" spc="-192" kern="0" dirty="0">
                <a:solidFill>
                  <a:srgbClr val="0F0F0F"/>
                </a:solidFill>
                <a:latin typeface="Fraunces" pitchFamily="34" charset="0"/>
                <a:ea typeface="Fraunces" pitchFamily="34" charset="-122"/>
                <a:cs typeface="Fraunces" pitchFamily="34" charset="-120"/>
              </a:rPr>
              <a:t>Batch B, the </a:t>
            </a:r>
            <a:pPr algn="l" indent="0" marL="0">
              <a:lnSpc>
                <a:spcPct val="110000"/>
              </a:lnSpc>
              <a:buNone/>
            </a:pPr>
            <a:r>
              <a:rPr lang="en-US" sz="3200" i="1" spc="-192" kern="0" dirty="0">
                <a:solidFill>
                  <a:srgbClr val="FF0090"/>
                </a:solidFill>
                <a:latin typeface="Fraunces" pitchFamily="34" charset="0"/>
                <a:ea typeface="Fraunces" pitchFamily="34" charset="-122"/>
                <a:cs typeface="Fraunces" pitchFamily="34" charset="-120"/>
              </a:rPr>
              <a:t>reveal</a:t>
            </a:r>
            <a:pPr algn="l" indent="0" marL="0">
              <a:lnSpc>
                <a:spcPct val="110000"/>
              </a:lnSpc>
              <a:buNone/>
            </a:pPr>
            <a:r>
              <a:rPr lang="en-US" sz="3200" spc="-192" kern="0" dirty="0">
                <a:solidFill>
                  <a:srgbClr val="0F0F0F"/>
                </a:solidFill>
                <a:latin typeface="Fraunces" pitchFamily="34" charset="0"/>
                <a:ea typeface="Fraunces" pitchFamily="34" charset="-122"/>
                <a:cs typeface="Fraunces" pitchFamily="34" charset="-120"/>
              </a:rPr>
              <a:t> and the PR page</a:t>
            </a:r>
            <a:endParaRPr lang="en-US" sz="3200" dirty="0"/>
          </a:p>
        </p:txBody>
      </p:sp>
      <p:sp>
        <p:nvSpPr>
          <p:cNvPr id="6" name="shape-341"/>
          <p:cNvSpPr/>
          <p:nvPr/>
        </p:nvSpPr>
        <p:spPr>
          <a:xfrm>
            <a:off x="812800"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7" name="shape-342"/>
          <p:cNvSpPr/>
          <p:nvPr/>
        </p:nvSpPr>
        <p:spPr>
          <a:xfrm>
            <a:off x="4385733"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8" name="shape-343"/>
          <p:cNvSpPr/>
          <p:nvPr/>
        </p:nvSpPr>
        <p:spPr>
          <a:xfrm>
            <a:off x="7958667"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9" name="paras-344"/>
          <p:cNvSpPr txBox="1"/>
          <p:nvPr/>
        </p:nvSpPr>
        <p:spPr>
          <a:xfrm>
            <a:off x="990600"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Instagram @aissakee</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Morning: film batch B (videos 8, 9, 11, 12, 15) plus video 7.</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8 am: video 7, Episode 3: three a day, the truth.</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12 pm: video 8, The $95 flyer, collab @bykreeative.</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7 pm: video 9, PR packages, one page. Pin it.</a:t>
            </a:r>
            <a:endParaRPr lang="en-US" sz="1600" dirty="0"/>
          </a:p>
        </p:txBody>
      </p:sp>
      <p:sp>
        <p:nvSpPr>
          <p:cNvPr id="10" name="paras-345"/>
          <p:cNvSpPr txBox="1"/>
          <p:nvPr/>
        </p:nvSpPr>
        <p:spPr>
          <a:xfrm>
            <a:off x="4563533"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TikTok @keekyt</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7:30 am: T5, “travailler” a man so he loves you is not normal. Film a fully French version too and post it as a second video.</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1:30 pm: T6, if I had 0 FCFA and 0 dollars this month. Ends on “the exact DM is on @aissakee”.</a:t>
            </a:r>
            <a:endParaRPr lang="en-US" sz="1600" dirty="0"/>
          </a:p>
        </p:txBody>
      </p:sp>
      <p:sp>
        <p:nvSpPr>
          <p:cNvPr id="11" name="paras-346"/>
          <p:cNvSpPr txBox="1"/>
          <p:nvPr/>
        </p:nvSpPr>
        <p:spPr>
          <a:xfrm>
            <a:off x="8136467"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Stories, DMs, funnel</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Stories: flyer timelapse behind the scenes, the verse of the day, “comment KIT for the free guide”.</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Reply videos for the comments on T5 and video 7.</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Five DMs. Scoreboard at 10 pm.</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CFC"/>
        </a:solidFill>
      </p:bgPr>
    </p:bg>
    <p:spTree>
      <p:nvGrpSpPr>
        <p:cNvPr id="1" name=""/>
        <p:cNvGrpSpPr/>
        <p:nvPr/>
      </p:nvGrpSpPr>
      <p:grpSpPr>
        <a:xfrm>
          <a:off x="0" y="0"/>
          <a:ext cx="0" cy="0"/>
          <a:chOff x="0" y="0"/>
          <a:chExt cx="0" cy="0"/>
        </a:xfrm>
      </p:grpSpPr>
      <p:sp>
        <p:nvSpPr>
          <p:cNvPr id="2" name="shape-347"/>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348"/>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349"/>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350"/>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3 posts a day for 3 days: the truth</a:t>
            </a:r>
            <a:endParaRPr lang="en-US" sz="1200" dirty="0"/>
          </a:p>
        </p:txBody>
      </p:sp>
      <p:sp>
        <p:nvSpPr>
          <p:cNvPr id="6" name="phone-dot-351"/>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352"/>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353"/>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3 · FRI OCT 3 · VIDEO 07 OF 15 · EPISODE · FILM BATCH B THIS MORNING</a:t>
            </a:r>
            <a:endParaRPr lang="en-US" sz="1200" dirty="0"/>
          </a:p>
        </p:txBody>
      </p:sp>
      <p:sp>
        <p:nvSpPr>
          <p:cNvPr id="9" name="title-354"/>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Episode 3: three a day,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the truth</a:t>
            </a:r>
            <a:endParaRPr lang="en-US" sz="3000" dirty="0"/>
          </a:p>
        </p:txBody>
      </p:sp>
      <p:sp>
        <p:nvSpPr>
          <p:cNvPr id="10" name="shape-355"/>
          <p:cNvSpPr/>
          <p:nvPr/>
        </p:nvSpPr>
        <p:spPr>
          <a:xfrm>
            <a:off x="812800" y="1746250"/>
            <a:ext cx="1981200" cy="292100"/>
          </a:xfrm>
          <a:prstGeom prst="roundRect">
            <a:avLst>
              <a:gd name="adj" fmla="val 17391"/>
            </a:avLst>
          </a:prstGeom>
          <a:solidFill>
            <a:srgbClr val="FFFFFF"/>
          </a:solidFill>
          <a:ln w="9525">
            <a:solidFill>
              <a:srgbClr val="313336">
                <a:alpha val="30000"/>
              </a:srgbClr>
            </a:solidFill>
            <a:prstDash val="dash"/>
          </a:ln>
        </p:spPr>
      </p:sp>
      <p:sp>
        <p:nvSpPr>
          <p:cNvPr id="11" name="text-356"/>
          <p:cNvSpPr txBox="1"/>
          <p:nvPr/>
        </p:nvSpPr>
        <p:spPr>
          <a:xfrm>
            <a:off x="812800" y="1746250"/>
            <a:ext cx="19812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small creator</a:t>
            </a:r>
            <a:endParaRPr lang="en-US" sz="1200" dirty="0"/>
          </a:p>
        </p:txBody>
      </p:sp>
      <p:sp>
        <p:nvSpPr>
          <p:cNvPr id="12" name="shape-357"/>
          <p:cNvSpPr/>
          <p:nvPr/>
        </p:nvSpPr>
        <p:spPr>
          <a:xfrm>
            <a:off x="2844800" y="1746250"/>
            <a:ext cx="2749550" cy="292100"/>
          </a:xfrm>
          <a:prstGeom prst="roundRect">
            <a:avLst>
              <a:gd name="adj" fmla="val 17391"/>
            </a:avLst>
          </a:prstGeom>
          <a:solidFill>
            <a:srgbClr val="FFFFFF"/>
          </a:solidFill>
          <a:ln w="9525">
            <a:solidFill>
              <a:srgbClr val="313336">
                <a:alpha val="30000"/>
              </a:srgbClr>
            </a:solidFill>
            <a:prstDash val="dash"/>
          </a:ln>
        </p:spPr>
      </p:sp>
      <p:sp>
        <p:nvSpPr>
          <p:cNvPr id="13" name="text-358"/>
          <p:cNvSpPr txBox="1"/>
          <p:nvPr/>
        </p:nvSpPr>
        <p:spPr>
          <a:xfrm>
            <a:off x="2844800" y="1746250"/>
            <a:ext cx="27495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Move: Koe aphorism, contrarian</a:t>
            </a:r>
            <a:endParaRPr lang="en-US" sz="1200" dirty="0"/>
          </a:p>
        </p:txBody>
      </p:sp>
      <p:sp>
        <p:nvSpPr>
          <p:cNvPr id="14" name="text-359"/>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360"/>
          <p:cNvSpPr txBox="1"/>
          <p:nvPr/>
        </p:nvSpPr>
        <p:spPr>
          <a:xfrm>
            <a:off x="1333500" y="2228850"/>
            <a:ext cx="7734300" cy="72136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Everyone says post three times a day. I did, for three days. Here’s what actually happened.</a:t>
            </a:r>
            <a:endParaRPr lang="en-US" sz="2200" dirty="0"/>
          </a:p>
        </p:txBody>
      </p:sp>
      <p:sp>
        <p:nvSpPr>
          <p:cNvPr id="16" name="text-361"/>
          <p:cNvSpPr txBox="1"/>
          <p:nvPr/>
        </p:nvSpPr>
        <p:spPr>
          <a:xfrm>
            <a:off x="812800" y="324231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362"/>
          <p:cNvSpPr/>
          <p:nvPr/>
        </p:nvSpPr>
        <p:spPr>
          <a:xfrm>
            <a:off x="2768600" y="3140710"/>
            <a:ext cx="423545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363"/>
          <p:cNvSpPr txBox="1"/>
          <p:nvPr/>
        </p:nvSpPr>
        <p:spPr>
          <a:xfrm>
            <a:off x="2768600" y="3140710"/>
            <a:ext cx="423545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3 posts a day for 3 days: the truth</a:t>
            </a:r>
            <a:endParaRPr lang="en-US" sz="1500" dirty="0"/>
          </a:p>
        </p:txBody>
      </p:sp>
      <p:sp>
        <p:nvSpPr>
          <p:cNvPr id="19" name="text-364"/>
          <p:cNvSpPr txBox="1"/>
          <p:nvPr/>
        </p:nvSpPr>
        <p:spPr>
          <a:xfrm>
            <a:off x="812800" y="369951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365"/>
          <p:cNvSpPr txBox="1"/>
          <p:nvPr/>
        </p:nvSpPr>
        <p:spPr>
          <a:xfrm>
            <a:off x="812800" y="395351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366"/>
          <p:cNvSpPr txBox="1"/>
          <p:nvPr/>
        </p:nvSpPr>
        <p:spPr>
          <a:xfrm>
            <a:off x="1130300" y="3953510"/>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[number] followers in three days. The part nobody shows you.</a:t>
            </a:r>
            <a:endParaRPr lang="en-US" sz="1250" dirty="0"/>
          </a:p>
        </p:txBody>
      </p:sp>
      <p:sp>
        <p:nvSpPr>
          <p:cNvPr id="22" name="text-367"/>
          <p:cNvSpPr txBox="1"/>
          <p:nvPr/>
        </p:nvSpPr>
        <p:spPr>
          <a:xfrm>
            <a:off x="812800" y="4259898"/>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368"/>
          <p:cNvSpPr txBox="1"/>
          <p:nvPr/>
        </p:nvSpPr>
        <p:spPr>
          <a:xfrm>
            <a:off x="1130300" y="4259898"/>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Six videos in 48 hours. One worked. Here’s why.</a:t>
            </a:r>
            <a:endParaRPr lang="en-US" sz="1250" dirty="0"/>
          </a:p>
        </p:txBody>
      </p:sp>
      <p:sp>
        <p:nvSpPr>
          <p:cNvPr id="24" name="text-369"/>
          <p:cNvSpPr txBox="1"/>
          <p:nvPr/>
        </p:nvSpPr>
        <p:spPr>
          <a:xfrm>
            <a:off x="8128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370"/>
          <p:cNvSpPr txBox="1"/>
          <p:nvPr/>
        </p:nvSpPr>
        <p:spPr>
          <a:xfrm>
            <a:off x="50927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371"/>
          <p:cNvSpPr txBox="1"/>
          <p:nvPr/>
        </p:nvSpPr>
        <p:spPr>
          <a:xfrm>
            <a:off x="812800" y="494728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You, tired, honest, no smile until the number.</a:t>
            </a:r>
            <a:endParaRPr lang="en-US" sz="1200" dirty="0"/>
          </a:p>
        </p:txBody>
      </p:sp>
      <p:sp>
        <p:nvSpPr>
          <p:cNvPr id="27" name="text-372"/>
          <p:cNvSpPr txBox="1"/>
          <p:nvPr/>
        </p:nvSpPr>
        <p:spPr>
          <a:xfrm>
            <a:off x="5092700" y="494728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“Follow for day 4.”</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CFC"/>
        </a:solidFill>
      </p:bgPr>
    </p:bg>
    <p:spTree>
      <p:nvGrpSpPr>
        <p:cNvPr id="1" name=""/>
        <p:cNvGrpSpPr/>
        <p:nvPr/>
      </p:nvGrpSpPr>
      <p:grpSpPr>
        <a:xfrm>
          <a:off x="0" y="0"/>
          <a:ext cx="0" cy="0"/>
          <a:chOff x="0" y="0"/>
          <a:chExt cx="0" cy="0"/>
        </a:xfrm>
      </p:grpSpPr>
      <p:sp>
        <p:nvSpPr>
          <p:cNvPr id="2" name="shape-373"/>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374"/>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375"/>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376"/>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$95 flyer, start to finish</a:t>
            </a:r>
            <a:endParaRPr lang="en-US" sz="1200" dirty="0"/>
          </a:p>
        </p:txBody>
      </p:sp>
      <p:sp>
        <p:nvSpPr>
          <p:cNvPr id="6" name="phone-dot-377"/>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378"/>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379"/>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3 · FRI OCT 3 · VIDEO 08 OF 15 · SCREEN TIMELAPSE + VOICE · COLLAB @BYKREEATIVE</a:t>
            </a:r>
            <a:endParaRPr lang="en-US" sz="1200" dirty="0"/>
          </a:p>
        </p:txBody>
      </p:sp>
      <p:sp>
        <p:nvSpPr>
          <p:cNvPr id="9" name="title-380"/>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The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$95</a:t>
            </a:r>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 flyer</a:t>
            </a:r>
            <a:endParaRPr lang="en-US" sz="3000" dirty="0"/>
          </a:p>
        </p:txBody>
      </p:sp>
      <p:sp>
        <p:nvSpPr>
          <p:cNvPr id="10" name="shape-381"/>
          <p:cNvSpPr/>
          <p:nvPr/>
        </p:nvSpPr>
        <p:spPr>
          <a:xfrm>
            <a:off x="812800" y="1746250"/>
            <a:ext cx="2070100" cy="292100"/>
          </a:xfrm>
          <a:prstGeom prst="roundRect">
            <a:avLst>
              <a:gd name="adj" fmla="val 17391"/>
            </a:avLst>
          </a:prstGeom>
          <a:solidFill>
            <a:srgbClr val="FFFFFF"/>
          </a:solidFill>
          <a:ln w="9525">
            <a:solidFill>
              <a:srgbClr val="313336">
                <a:alpha val="30000"/>
              </a:srgbClr>
            </a:solidFill>
            <a:prstDash val="dash"/>
          </a:ln>
        </p:spPr>
      </p:sp>
      <p:sp>
        <p:nvSpPr>
          <p:cNvPr id="11" name="text-382"/>
          <p:cNvSpPr txBox="1"/>
          <p:nvPr/>
        </p:nvSpPr>
        <p:spPr>
          <a:xfrm>
            <a:off x="812800" y="1746250"/>
            <a:ext cx="20701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business owner</a:t>
            </a:r>
            <a:endParaRPr lang="en-US" sz="1200" dirty="0"/>
          </a:p>
        </p:txBody>
      </p:sp>
      <p:sp>
        <p:nvSpPr>
          <p:cNvPr id="12" name="shape-383"/>
          <p:cNvSpPr/>
          <p:nvPr/>
        </p:nvSpPr>
        <p:spPr>
          <a:xfrm>
            <a:off x="2933700" y="1746250"/>
            <a:ext cx="2324100" cy="292100"/>
          </a:xfrm>
          <a:prstGeom prst="roundRect">
            <a:avLst>
              <a:gd name="adj" fmla="val 17391"/>
            </a:avLst>
          </a:prstGeom>
          <a:solidFill>
            <a:srgbClr val="FFFFFF"/>
          </a:solidFill>
          <a:ln w="9525">
            <a:solidFill>
              <a:srgbClr val="313336">
                <a:alpha val="30000"/>
              </a:srgbClr>
            </a:solidFill>
            <a:prstDash val="dash"/>
          </a:ln>
        </p:spPr>
      </p:sp>
      <p:sp>
        <p:nvSpPr>
          <p:cNvPr id="13" name="text-384"/>
          <p:cNvSpPr txBox="1"/>
          <p:nvPr/>
        </p:nvSpPr>
        <p:spPr>
          <a:xfrm>
            <a:off x="2933700" y="1746250"/>
            <a:ext cx="23241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Move: Leatherstein reveal</a:t>
            </a:r>
            <a:endParaRPr lang="en-US" sz="1200" dirty="0"/>
          </a:p>
        </p:txBody>
      </p:sp>
      <p:sp>
        <p:nvSpPr>
          <p:cNvPr id="14" name="text-385"/>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386"/>
          <p:cNvSpPr txBox="1"/>
          <p:nvPr/>
        </p:nvSpPr>
        <p:spPr>
          <a:xfrm>
            <a:off x="1333500" y="2228850"/>
            <a:ext cx="7734300" cy="38608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This flyer is $95. Here’s what it actually takes.</a:t>
            </a:r>
            <a:endParaRPr lang="en-US" sz="2200" dirty="0"/>
          </a:p>
        </p:txBody>
      </p:sp>
      <p:sp>
        <p:nvSpPr>
          <p:cNvPr id="16" name="text-387"/>
          <p:cNvSpPr txBox="1"/>
          <p:nvPr/>
        </p:nvSpPr>
        <p:spPr>
          <a:xfrm>
            <a:off x="812800" y="290703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388"/>
          <p:cNvSpPr/>
          <p:nvPr/>
        </p:nvSpPr>
        <p:spPr>
          <a:xfrm>
            <a:off x="2768600" y="2805430"/>
            <a:ext cx="321945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389"/>
          <p:cNvSpPr txBox="1"/>
          <p:nvPr/>
        </p:nvSpPr>
        <p:spPr>
          <a:xfrm>
            <a:off x="2768600" y="2805430"/>
            <a:ext cx="321945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$95 flyer, start to finish</a:t>
            </a:r>
            <a:endParaRPr lang="en-US" sz="1500" dirty="0"/>
          </a:p>
        </p:txBody>
      </p:sp>
      <p:sp>
        <p:nvSpPr>
          <p:cNvPr id="19" name="text-390"/>
          <p:cNvSpPr txBox="1"/>
          <p:nvPr/>
        </p:nvSpPr>
        <p:spPr>
          <a:xfrm>
            <a:off x="812800" y="336423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391"/>
          <p:cNvSpPr txBox="1"/>
          <p:nvPr/>
        </p:nvSpPr>
        <p:spPr>
          <a:xfrm>
            <a:off x="812800" y="361823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392"/>
          <p:cNvSpPr txBox="1"/>
          <p:nvPr/>
        </p:nvSpPr>
        <p:spPr>
          <a:xfrm>
            <a:off x="1130300" y="3618230"/>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20 minutes of design. Two years of learning. Watch.</a:t>
            </a:r>
            <a:endParaRPr lang="en-US" sz="1250" dirty="0"/>
          </a:p>
        </p:txBody>
      </p:sp>
      <p:sp>
        <p:nvSpPr>
          <p:cNvPr id="22" name="text-393"/>
          <p:cNvSpPr txBox="1"/>
          <p:nvPr/>
        </p:nvSpPr>
        <p:spPr>
          <a:xfrm>
            <a:off x="812800" y="3924617"/>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394"/>
          <p:cNvSpPr txBox="1"/>
          <p:nvPr/>
        </p:nvSpPr>
        <p:spPr>
          <a:xfrm>
            <a:off x="1130300" y="3924617"/>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A $95 flyer in 60 seconds.</a:t>
            </a:r>
            <a:endParaRPr lang="en-US" sz="1250" dirty="0"/>
          </a:p>
        </p:txBody>
      </p:sp>
      <p:sp>
        <p:nvSpPr>
          <p:cNvPr id="24" name="text-395"/>
          <p:cNvSpPr txBox="1"/>
          <p:nvPr/>
        </p:nvSpPr>
        <p:spPr>
          <a:xfrm>
            <a:off x="812800" y="437070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396"/>
          <p:cNvSpPr txBox="1"/>
          <p:nvPr/>
        </p:nvSpPr>
        <p:spPr>
          <a:xfrm>
            <a:off x="5092700" y="437070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397"/>
          <p:cNvSpPr txBox="1"/>
          <p:nvPr/>
        </p:nvSpPr>
        <p:spPr>
          <a:xfrm>
            <a:off x="812800" y="4612005"/>
            <a:ext cx="3975100" cy="46736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The finished flyer first, then rewind to the blank canvas.</a:t>
            </a:r>
            <a:endParaRPr lang="en-US" sz="1200" dirty="0"/>
          </a:p>
        </p:txBody>
      </p:sp>
      <p:sp>
        <p:nvSpPr>
          <p:cNvPr id="27" name="text-398"/>
          <p:cNvSpPr txBox="1"/>
          <p:nvPr/>
        </p:nvSpPr>
        <p:spPr>
          <a:xfrm>
            <a:off x="5092700" y="461200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“Comment FLYER for the October spots.”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CFC"/>
        </a:solidFill>
      </p:bgPr>
    </p:bg>
    <p:spTree>
      <p:nvGrpSpPr>
        <p:cNvPr id="1" name=""/>
        <p:cNvGrpSpPr/>
        <p:nvPr/>
      </p:nvGrpSpPr>
      <p:grpSpPr>
        <a:xfrm>
          <a:off x="0" y="0"/>
          <a:ext cx="0" cy="0"/>
          <a:chOff x="0" y="0"/>
          <a:chExt cx="0" cy="0"/>
        </a:xfrm>
      </p:grpSpPr>
      <p:sp>
        <p:nvSpPr>
          <p:cNvPr id="2" name="shape-399"/>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400"/>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401"/>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402"/>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PR packages: one page, not 10K followers</a:t>
            </a:r>
            <a:endParaRPr lang="en-US" sz="1200" dirty="0"/>
          </a:p>
        </p:txBody>
      </p:sp>
      <p:sp>
        <p:nvSpPr>
          <p:cNvPr id="6" name="phone-dot-403"/>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404"/>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405"/>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3 · FRI OCT 3 · VIDEO 09 OF 15 · TALKING HEAD + MEDIA KIT · PIN IT</a:t>
            </a:r>
            <a:endParaRPr lang="en-US" sz="1200" dirty="0"/>
          </a:p>
        </p:txBody>
      </p:sp>
      <p:sp>
        <p:nvSpPr>
          <p:cNvPr id="9" name="title-406"/>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PR packages,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one page</a:t>
            </a:r>
            <a:endParaRPr lang="en-US" sz="3000" dirty="0"/>
          </a:p>
        </p:txBody>
      </p:sp>
      <p:sp>
        <p:nvSpPr>
          <p:cNvPr id="10" name="shape-407"/>
          <p:cNvSpPr/>
          <p:nvPr/>
        </p:nvSpPr>
        <p:spPr>
          <a:xfrm>
            <a:off x="812800" y="1746250"/>
            <a:ext cx="1981200" cy="292100"/>
          </a:xfrm>
          <a:prstGeom prst="roundRect">
            <a:avLst>
              <a:gd name="adj" fmla="val 17391"/>
            </a:avLst>
          </a:prstGeom>
          <a:solidFill>
            <a:srgbClr val="FFFFFF"/>
          </a:solidFill>
          <a:ln w="9525">
            <a:solidFill>
              <a:srgbClr val="313336">
                <a:alpha val="30000"/>
              </a:srgbClr>
            </a:solidFill>
            <a:prstDash val="dash"/>
          </a:ln>
        </p:spPr>
      </p:sp>
      <p:sp>
        <p:nvSpPr>
          <p:cNvPr id="11" name="text-408"/>
          <p:cNvSpPr txBox="1"/>
          <p:nvPr/>
        </p:nvSpPr>
        <p:spPr>
          <a:xfrm>
            <a:off x="812800" y="1746250"/>
            <a:ext cx="19812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small creator</a:t>
            </a:r>
            <a:endParaRPr lang="en-US" sz="1200" dirty="0"/>
          </a:p>
        </p:txBody>
      </p:sp>
      <p:sp>
        <p:nvSpPr>
          <p:cNvPr id="12" name="shape-409"/>
          <p:cNvSpPr/>
          <p:nvPr/>
        </p:nvSpPr>
        <p:spPr>
          <a:xfrm>
            <a:off x="2844800" y="1746250"/>
            <a:ext cx="4711700" cy="292100"/>
          </a:xfrm>
          <a:prstGeom prst="roundRect">
            <a:avLst>
              <a:gd name="adj" fmla="val 17391"/>
            </a:avLst>
          </a:prstGeom>
          <a:solidFill>
            <a:srgbClr val="FFFFFF"/>
          </a:solidFill>
          <a:ln w="9525">
            <a:solidFill>
              <a:srgbClr val="313336">
                <a:alpha val="30000"/>
              </a:srgbClr>
            </a:solidFill>
            <a:prstDash val="dash"/>
          </a:ln>
        </p:spPr>
      </p:sp>
      <p:sp>
        <p:nvSpPr>
          <p:cNvPr id="13" name="text-410"/>
          <p:cNvSpPr txBox="1"/>
          <p:nvPr/>
        </p:nvSpPr>
        <p:spPr>
          <a:xfrm>
            <a:off x="2844800" y="1746250"/>
            <a:ext cx="47117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Move: Abdaal “you” question + the under-10K qualifier</a:t>
            </a:r>
            <a:endParaRPr lang="en-US" sz="1200" dirty="0"/>
          </a:p>
        </p:txBody>
      </p:sp>
      <p:sp>
        <p:nvSpPr>
          <p:cNvPr id="14" name="text-411"/>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412"/>
          <p:cNvSpPr txBox="1"/>
          <p:nvPr/>
        </p:nvSpPr>
        <p:spPr>
          <a:xfrm>
            <a:off x="1333500" y="2228850"/>
            <a:ext cx="7734300" cy="72136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You don’t need 10K followers to get PR packages. You need one page.</a:t>
            </a:r>
            <a:endParaRPr lang="en-US" sz="2200" dirty="0"/>
          </a:p>
        </p:txBody>
      </p:sp>
      <p:sp>
        <p:nvSpPr>
          <p:cNvPr id="16" name="text-413"/>
          <p:cNvSpPr txBox="1"/>
          <p:nvPr/>
        </p:nvSpPr>
        <p:spPr>
          <a:xfrm>
            <a:off x="812800" y="324231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414"/>
          <p:cNvSpPr/>
          <p:nvPr/>
        </p:nvSpPr>
        <p:spPr>
          <a:xfrm>
            <a:off x="2768600" y="3140710"/>
            <a:ext cx="480060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415"/>
          <p:cNvSpPr txBox="1"/>
          <p:nvPr/>
        </p:nvSpPr>
        <p:spPr>
          <a:xfrm>
            <a:off x="2768600" y="3140710"/>
            <a:ext cx="480060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PR packages: one page, not 10K followers</a:t>
            </a:r>
            <a:endParaRPr lang="en-US" sz="1500" dirty="0"/>
          </a:p>
        </p:txBody>
      </p:sp>
      <p:sp>
        <p:nvSpPr>
          <p:cNvPr id="19" name="text-416"/>
          <p:cNvSpPr txBox="1"/>
          <p:nvPr/>
        </p:nvSpPr>
        <p:spPr>
          <a:xfrm>
            <a:off x="812800" y="369951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417"/>
          <p:cNvSpPr txBox="1"/>
          <p:nvPr/>
        </p:nvSpPr>
        <p:spPr>
          <a:xfrm>
            <a:off x="812800" y="395351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418"/>
          <p:cNvSpPr txBox="1"/>
          <p:nvPr/>
        </p:nvSpPr>
        <p:spPr>
          <a:xfrm>
            <a:off x="1130300" y="3953510"/>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How I got PR packages with a small account.</a:t>
            </a:r>
            <a:endParaRPr lang="en-US" sz="1250" dirty="0"/>
          </a:p>
        </p:txBody>
      </p:sp>
      <p:sp>
        <p:nvSpPr>
          <p:cNvPr id="22" name="text-419"/>
          <p:cNvSpPr txBox="1"/>
          <p:nvPr/>
        </p:nvSpPr>
        <p:spPr>
          <a:xfrm>
            <a:off x="812800" y="4259898"/>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420"/>
          <p:cNvSpPr txBox="1"/>
          <p:nvPr/>
        </p:nvSpPr>
        <p:spPr>
          <a:xfrm>
            <a:off x="1130300" y="4259898"/>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Ever wonder why brands send PR packages to tiny accounts? It’s one page.</a:t>
            </a:r>
            <a:endParaRPr lang="en-US" sz="1250" dirty="0"/>
          </a:p>
        </p:txBody>
      </p:sp>
      <p:sp>
        <p:nvSpPr>
          <p:cNvPr id="24" name="text-421"/>
          <p:cNvSpPr txBox="1"/>
          <p:nvPr/>
        </p:nvSpPr>
        <p:spPr>
          <a:xfrm>
            <a:off x="8128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422"/>
          <p:cNvSpPr txBox="1"/>
          <p:nvPr/>
        </p:nvSpPr>
        <p:spPr>
          <a:xfrm>
            <a:off x="50927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423"/>
          <p:cNvSpPr txBox="1"/>
          <p:nvPr/>
        </p:nvSpPr>
        <p:spPr>
          <a:xfrm>
            <a:off x="812800" y="4947285"/>
            <a:ext cx="3975100" cy="46736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A package or the media kit page in hand, then you.</a:t>
            </a:r>
            <a:endParaRPr lang="en-US" sz="1200" dirty="0"/>
          </a:p>
        </p:txBody>
      </p:sp>
      <p:sp>
        <p:nvSpPr>
          <p:cNvPr id="27" name="text-424"/>
          <p:cNvSpPr txBox="1"/>
          <p:nvPr/>
        </p:nvSpPr>
        <p:spPr>
          <a:xfrm>
            <a:off x="5092700" y="494728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“Comment KIT, or first link in bio.”</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CFC"/>
        </a:solidFill>
      </p:bgPr>
    </p:bg>
    <p:spTree>
      <p:nvGrpSpPr>
        <p:cNvPr id="1" name=""/>
        <p:cNvGrpSpPr/>
        <p:nvPr/>
      </p:nvGrpSpPr>
      <p:grpSpPr>
        <a:xfrm>
          <a:off x="0" y="0"/>
          <a:ext cx="0" cy="0"/>
          <a:chOff x="0" y="0"/>
          <a:chExt cx="0" cy="0"/>
        </a:xfrm>
      </p:grpSpPr>
      <p:sp>
        <p:nvSpPr>
          <p:cNvPr id="2" name="shape-425"/>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pic>
        <p:nvPicPr>
          <p:cNvPr id="3" name="pixels-426" descr="pixels-light.png">    </p:cNvPr>
          <p:cNvPicPr>
            <a:picLocks noChangeAspect="1"/>
          </p:cNvPicPr>
          <p:nvPr/>
        </p:nvPicPr>
        <p:blipFill>
          <a:blip r:embed="rId1"/>
          <a:stretch>
            <a:fillRect/>
          </a:stretch>
        </p:blipFill>
        <p:spPr>
          <a:xfrm>
            <a:off x="355600" y="6299200"/>
            <a:ext cx="11480800" cy="228600"/>
          </a:xfrm>
          <a:prstGeom prst="rect">
            <a:avLst/>
          </a:prstGeom>
        </p:spPr>
      </p:pic>
      <p:sp>
        <p:nvSpPr>
          <p:cNvPr id="4" name="text-427"/>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4 · SATURDAY OCTOBER 4</a:t>
            </a:r>
            <a:endParaRPr lang="en-US" sz="1200" dirty="0"/>
          </a:p>
        </p:txBody>
      </p:sp>
      <p:sp>
        <p:nvSpPr>
          <p:cNvPr id="5" name="title-428"/>
          <p:cNvSpPr txBox="1"/>
          <p:nvPr/>
        </p:nvSpPr>
        <p:spPr>
          <a:xfrm>
            <a:off x="812800" y="1117600"/>
            <a:ext cx="10566400" cy="530860"/>
          </a:xfrm>
          <a:prstGeom prst="rect">
            <a:avLst/>
          </a:prstGeom>
          <a:noFill/>
          <a:ln/>
        </p:spPr>
        <p:txBody>
          <a:bodyPr wrap="square" lIns="0" tIns="0" rIns="0" bIns="0" rtlCol="0" anchor="t"/>
          <a:lstStyle/>
          <a:p>
            <a:pPr algn="l" indent="0" marL="0">
              <a:lnSpc>
                <a:spcPct val="110000"/>
              </a:lnSpc>
              <a:buNone/>
            </a:pPr>
            <a:r>
              <a:rPr lang="en-US" sz="3200" spc="-192" kern="0" dirty="0">
                <a:solidFill>
                  <a:srgbClr val="0F0F0F"/>
                </a:solidFill>
                <a:latin typeface="Fraunces" pitchFamily="34" charset="0"/>
                <a:ea typeface="Fraunces" pitchFamily="34" charset="-122"/>
                <a:cs typeface="Fraunces" pitchFamily="34" charset="-120"/>
              </a:rPr>
              <a:t>The restart lessons and the </a:t>
            </a:r>
            <a:pPr algn="l" indent="0" marL="0">
              <a:lnSpc>
                <a:spcPct val="110000"/>
              </a:lnSpc>
              <a:buNone/>
            </a:pPr>
            <a:r>
              <a:rPr lang="en-US" sz="3200" i="1" spc="-192" kern="0" dirty="0">
                <a:solidFill>
                  <a:srgbClr val="FF0090"/>
                </a:solidFill>
                <a:latin typeface="Fraunces" pitchFamily="34" charset="0"/>
                <a:ea typeface="Fraunces" pitchFamily="34" charset="-122"/>
                <a:cs typeface="Fraunces" pitchFamily="34" charset="-120"/>
              </a:rPr>
              <a:t>exposure</a:t>
            </a:r>
            <a:pPr algn="l" indent="0" marL="0">
              <a:lnSpc>
                <a:spcPct val="110000"/>
              </a:lnSpc>
              <a:buNone/>
            </a:pPr>
            <a:r>
              <a:rPr lang="en-US" sz="3200" spc="-192" kern="0" dirty="0">
                <a:solidFill>
                  <a:srgbClr val="0F0F0F"/>
                </a:solidFill>
                <a:latin typeface="Fraunces" pitchFamily="34" charset="0"/>
                <a:ea typeface="Fraunces" pitchFamily="34" charset="-122"/>
                <a:cs typeface="Fraunces" pitchFamily="34" charset="-120"/>
              </a:rPr>
              <a:t> sketch</a:t>
            </a:r>
            <a:endParaRPr lang="en-US" sz="3200" dirty="0"/>
          </a:p>
        </p:txBody>
      </p:sp>
      <p:sp>
        <p:nvSpPr>
          <p:cNvPr id="6" name="shape-429"/>
          <p:cNvSpPr/>
          <p:nvPr/>
        </p:nvSpPr>
        <p:spPr>
          <a:xfrm>
            <a:off x="812800"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7" name="shape-430"/>
          <p:cNvSpPr/>
          <p:nvPr/>
        </p:nvSpPr>
        <p:spPr>
          <a:xfrm>
            <a:off x="4385733"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8" name="shape-431"/>
          <p:cNvSpPr/>
          <p:nvPr/>
        </p:nvSpPr>
        <p:spPr>
          <a:xfrm>
            <a:off x="7958667"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9" name="paras-432"/>
          <p:cNvSpPr txBox="1"/>
          <p:nvPr/>
        </p:nvSpPr>
        <p:spPr>
          <a:xfrm>
            <a:off x="990600"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Instagram @aissakee</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Morning: film video 10 with the numbers.</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8 am: video 10, Episode 4: if I restarted.</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12 pm: video 11, “Can you do it for exposure?”, two outfits, hard cuts.</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7 pm: video 12, Three skills that pay.</a:t>
            </a:r>
            <a:endParaRPr lang="en-US" sz="1600" dirty="0"/>
          </a:p>
        </p:txBody>
      </p:sp>
      <p:sp>
        <p:nvSpPr>
          <p:cNvPr id="10" name="paras-433"/>
          <p:cNvSpPr txBox="1"/>
          <p:nvPr/>
        </p:nvSpPr>
        <p:spPr>
          <a:xfrm>
            <a:off x="4563533"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TikTok @keekyt</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7:30 am: T7, a designer’s take on a public decision (template; the currency-design kind). Source on screen.</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1:30 pm: T8, five red flags we ignore because he is nice at the start.</a:t>
            </a:r>
            <a:endParaRPr lang="en-US" sz="1600" dirty="0"/>
          </a:p>
        </p:txBody>
      </p:sp>
      <p:sp>
        <p:nvSpPr>
          <p:cNvPr id="11" name="paras-434"/>
          <p:cNvSpPr txBox="1"/>
          <p:nvPr/>
        </p:nvSpPr>
        <p:spPr>
          <a:xfrm>
            <a:off x="8136467"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Stories, DMs, funnel</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Stories: the day in the life (classes, client call, flyer, DMs), poll “which skill first?”, “DM me SPOT”.</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Reply video to the week’s best thread.</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Five DMs. Scoreboard: what tomorrow decides.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CFCFC"/>
        </a:solidFill>
      </p:bgPr>
    </p:bg>
    <p:spTree>
      <p:nvGrpSpPr>
        <p:cNvPr id="1" name=""/>
        <p:cNvGrpSpPr/>
        <p:nvPr/>
      </p:nvGrpSpPr>
      <p:grpSpPr>
        <a:xfrm>
          <a:off x="0" y="0"/>
          <a:ext cx="0" cy="0"/>
          <a:chOff x="0" y="0"/>
          <a:chExt cx="0" cy="0"/>
        </a:xfrm>
      </p:grpSpPr>
      <p:sp>
        <p:nvSpPr>
          <p:cNvPr id="2" name="shape-435"/>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436"/>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437"/>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438"/>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If I restarted this account</a:t>
            </a:r>
            <a:endParaRPr lang="en-US" sz="1200" dirty="0"/>
          </a:p>
        </p:txBody>
      </p:sp>
      <p:sp>
        <p:nvSpPr>
          <p:cNvPr id="6" name="phone-dot-439"/>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440"/>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441"/>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4 · SAT OCT 4 · VIDEO 10 OF 15 · EPISODE</a:t>
            </a:r>
            <a:endParaRPr lang="en-US" sz="1200" dirty="0"/>
          </a:p>
        </p:txBody>
      </p:sp>
      <p:sp>
        <p:nvSpPr>
          <p:cNvPr id="9" name="title-442"/>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Episode 4: if I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restarted</a:t>
            </a:r>
            <a:endParaRPr lang="en-US" sz="3000" dirty="0"/>
          </a:p>
        </p:txBody>
      </p:sp>
      <p:sp>
        <p:nvSpPr>
          <p:cNvPr id="10" name="shape-443"/>
          <p:cNvSpPr/>
          <p:nvPr/>
        </p:nvSpPr>
        <p:spPr>
          <a:xfrm>
            <a:off x="812800" y="1746250"/>
            <a:ext cx="2241550" cy="292100"/>
          </a:xfrm>
          <a:prstGeom prst="roundRect">
            <a:avLst>
              <a:gd name="adj" fmla="val 17391"/>
            </a:avLst>
          </a:prstGeom>
          <a:solidFill>
            <a:srgbClr val="FFFFFF"/>
          </a:solidFill>
          <a:ln w="9525">
            <a:solidFill>
              <a:srgbClr val="313336">
                <a:alpha val="30000"/>
              </a:srgbClr>
            </a:solidFill>
            <a:prstDash val="dash"/>
          </a:ln>
        </p:spPr>
      </p:sp>
      <p:sp>
        <p:nvSpPr>
          <p:cNvPr id="11" name="text-444"/>
          <p:cNvSpPr txBox="1"/>
          <p:nvPr/>
        </p:nvSpPr>
        <p:spPr>
          <a:xfrm>
            <a:off x="812800" y="1746250"/>
            <a:ext cx="22415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student creative</a:t>
            </a:r>
            <a:endParaRPr lang="en-US" sz="1200" dirty="0"/>
          </a:p>
        </p:txBody>
      </p:sp>
      <p:sp>
        <p:nvSpPr>
          <p:cNvPr id="12" name="shape-445"/>
          <p:cNvSpPr/>
          <p:nvPr/>
        </p:nvSpPr>
        <p:spPr>
          <a:xfrm>
            <a:off x="3105150" y="1746250"/>
            <a:ext cx="1809750" cy="292100"/>
          </a:xfrm>
          <a:prstGeom prst="roundRect">
            <a:avLst>
              <a:gd name="adj" fmla="val 17391"/>
            </a:avLst>
          </a:prstGeom>
          <a:solidFill>
            <a:srgbClr val="FFFFFF"/>
          </a:solidFill>
          <a:ln w="9525">
            <a:solidFill>
              <a:srgbClr val="313336">
                <a:alpha val="30000"/>
              </a:srgbClr>
            </a:solidFill>
            <a:prstDash val="dash"/>
          </a:ln>
        </p:spPr>
      </p:sp>
      <p:sp>
        <p:nvSpPr>
          <p:cNvPr id="13" name="text-446"/>
          <p:cNvSpPr txBox="1"/>
          <p:nvPr/>
        </p:nvSpPr>
        <p:spPr>
          <a:xfrm>
            <a:off x="3105150" y="1746250"/>
            <a:ext cx="18097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Move: Hoyos satisfy</a:t>
            </a:r>
            <a:endParaRPr lang="en-US" sz="1200" dirty="0"/>
          </a:p>
        </p:txBody>
      </p:sp>
      <p:sp>
        <p:nvSpPr>
          <p:cNvPr id="14" name="text-447"/>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448"/>
          <p:cNvSpPr txBox="1"/>
          <p:nvPr/>
        </p:nvSpPr>
        <p:spPr>
          <a:xfrm>
            <a:off x="1333500" y="2228850"/>
            <a:ext cx="7734300" cy="72136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Three things I’d do differently if I started this account again.</a:t>
            </a:r>
            <a:endParaRPr lang="en-US" sz="2200" dirty="0"/>
          </a:p>
        </p:txBody>
      </p:sp>
      <p:sp>
        <p:nvSpPr>
          <p:cNvPr id="16" name="text-449"/>
          <p:cNvSpPr txBox="1"/>
          <p:nvPr/>
        </p:nvSpPr>
        <p:spPr>
          <a:xfrm>
            <a:off x="812800" y="324231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450"/>
          <p:cNvSpPr/>
          <p:nvPr/>
        </p:nvSpPr>
        <p:spPr>
          <a:xfrm>
            <a:off x="2768600" y="3140710"/>
            <a:ext cx="333375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451"/>
          <p:cNvSpPr txBox="1"/>
          <p:nvPr/>
        </p:nvSpPr>
        <p:spPr>
          <a:xfrm>
            <a:off x="2768600" y="3140710"/>
            <a:ext cx="333375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If I restarted this account</a:t>
            </a:r>
            <a:endParaRPr lang="en-US" sz="1500" dirty="0"/>
          </a:p>
        </p:txBody>
      </p:sp>
      <p:sp>
        <p:nvSpPr>
          <p:cNvPr id="19" name="text-452"/>
          <p:cNvSpPr txBox="1"/>
          <p:nvPr/>
        </p:nvSpPr>
        <p:spPr>
          <a:xfrm>
            <a:off x="812800" y="369951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453"/>
          <p:cNvSpPr txBox="1"/>
          <p:nvPr/>
        </p:nvSpPr>
        <p:spPr>
          <a:xfrm>
            <a:off x="812800" y="395351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454"/>
          <p:cNvSpPr txBox="1"/>
          <p:nvPr/>
        </p:nvSpPr>
        <p:spPr>
          <a:xfrm>
            <a:off x="1130300" y="3953510"/>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Day 4 of 31 to 10K: [number] followers. Here’s what I got wrong.</a:t>
            </a:r>
            <a:endParaRPr lang="en-US" sz="1250" dirty="0"/>
          </a:p>
        </p:txBody>
      </p:sp>
      <p:sp>
        <p:nvSpPr>
          <p:cNvPr id="22" name="text-455"/>
          <p:cNvSpPr txBox="1"/>
          <p:nvPr/>
        </p:nvSpPr>
        <p:spPr>
          <a:xfrm>
            <a:off x="812800" y="4259898"/>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456"/>
          <p:cNvSpPr txBox="1"/>
          <p:nvPr/>
        </p:nvSpPr>
        <p:spPr>
          <a:xfrm>
            <a:off x="1130300" y="4259898"/>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[number] followers in four days. Tomorrow decides.</a:t>
            </a:r>
            <a:endParaRPr lang="en-US" sz="1250" dirty="0"/>
          </a:p>
        </p:txBody>
      </p:sp>
      <p:sp>
        <p:nvSpPr>
          <p:cNvPr id="24" name="text-457"/>
          <p:cNvSpPr txBox="1"/>
          <p:nvPr/>
        </p:nvSpPr>
        <p:spPr>
          <a:xfrm>
            <a:off x="8128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458"/>
          <p:cNvSpPr txBox="1"/>
          <p:nvPr/>
        </p:nvSpPr>
        <p:spPr>
          <a:xfrm>
            <a:off x="50927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459"/>
          <p:cNvSpPr txBox="1"/>
          <p:nvPr/>
        </p:nvSpPr>
        <p:spPr>
          <a:xfrm>
            <a:off x="812800" y="494728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The scoreboard on screen, then you.</a:t>
            </a:r>
            <a:endParaRPr lang="en-US" sz="1200" dirty="0"/>
          </a:p>
        </p:txBody>
      </p:sp>
      <p:sp>
        <p:nvSpPr>
          <p:cNvPr id="27" name="text-460"/>
          <p:cNvSpPr txBox="1"/>
          <p:nvPr/>
        </p:nvSpPr>
        <p:spPr>
          <a:xfrm>
            <a:off x="5092700" y="494728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“Follow for tomorrow’s result.”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CFCFC"/>
        </a:solidFill>
      </p:bgPr>
    </p:bg>
    <p:spTree>
      <p:nvGrpSpPr>
        <p:cNvPr id="1" name=""/>
        <p:cNvGrpSpPr/>
        <p:nvPr/>
      </p:nvGrpSpPr>
      <p:grpSpPr>
        <a:xfrm>
          <a:off x="0" y="0"/>
          <a:ext cx="0" cy="0"/>
          <a:chOff x="0" y="0"/>
          <a:chExt cx="0" cy="0"/>
        </a:xfrm>
      </p:grpSpPr>
      <p:sp>
        <p:nvSpPr>
          <p:cNvPr id="2" name="shape-461"/>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462"/>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463"/>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464"/>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“Can you do it for exposure?”</a:t>
            </a:r>
            <a:endParaRPr lang="en-US" sz="1200" dirty="0"/>
          </a:p>
        </p:txBody>
      </p:sp>
      <p:sp>
        <p:nvSpPr>
          <p:cNvPr id="6" name="phone-dot-465"/>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466"/>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467"/>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4 · SAT OCT 4 · VIDEO 11 OF 15 · TWO CHARACTERS, ONE LIGHTBULB · TWO OUTFITS</a:t>
            </a:r>
            <a:endParaRPr lang="en-US" sz="1200" dirty="0"/>
          </a:p>
        </p:txBody>
      </p:sp>
      <p:sp>
        <p:nvSpPr>
          <p:cNvPr id="9" name="title-468"/>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“Can you do it for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exposure</a:t>
            </a:r>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a:t>
            </a:r>
            <a:endParaRPr lang="en-US" sz="3000" dirty="0"/>
          </a:p>
        </p:txBody>
      </p:sp>
      <p:sp>
        <p:nvSpPr>
          <p:cNvPr id="10" name="shape-469"/>
          <p:cNvSpPr/>
          <p:nvPr/>
        </p:nvSpPr>
        <p:spPr>
          <a:xfrm>
            <a:off x="812800" y="1746250"/>
            <a:ext cx="4203700" cy="292100"/>
          </a:xfrm>
          <a:prstGeom prst="roundRect">
            <a:avLst>
              <a:gd name="adj" fmla="val 17391"/>
            </a:avLst>
          </a:prstGeom>
          <a:solidFill>
            <a:srgbClr val="FFFFFF"/>
          </a:solidFill>
          <a:ln w="9525">
            <a:solidFill>
              <a:srgbClr val="313336">
                <a:alpha val="30000"/>
              </a:srgbClr>
            </a:solidFill>
            <a:prstDash val="dash"/>
          </a:ln>
        </p:spPr>
      </p:sp>
      <p:sp>
        <p:nvSpPr>
          <p:cNvPr id="11" name="text-470"/>
          <p:cNvSpPr txBox="1"/>
          <p:nvPr/>
        </p:nvSpPr>
        <p:spPr>
          <a:xfrm>
            <a:off x="812800" y="1746250"/>
            <a:ext cx="42037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business owner and the student creative</a:t>
            </a:r>
            <a:endParaRPr lang="en-US" sz="1200" dirty="0"/>
          </a:p>
        </p:txBody>
      </p:sp>
      <p:sp>
        <p:nvSpPr>
          <p:cNvPr id="12" name="shape-471"/>
          <p:cNvSpPr/>
          <p:nvPr/>
        </p:nvSpPr>
        <p:spPr>
          <a:xfrm>
            <a:off x="5067300" y="1746250"/>
            <a:ext cx="2495550" cy="292100"/>
          </a:xfrm>
          <a:prstGeom prst="roundRect">
            <a:avLst>
              <a:gd name="adj" fmla="val 17391"/>
            </a:avLst>
          </a:prstGeom>
          <a:solidFill>
            <a:srgbClr val="FFFFFF"/>
          </a:solidFill>
          <a:ln w="9525">
            <a:solidFill>
              <a:srgbClr val="313336">
                <a:alpha val="30000"/>
              </a:srgbClr>
            </a:solidFill>
            <a:prstDash val="dash"/>
          </a:ln>
        </p:spPr>
      </p:sp>
      <p:sp>
        <p:nvSpPr>
          <p:cNvPr id="13" name="text-472"/>
          <p:cNvSpPr txBox="1"/>
          <p:nvPr/>
        </p:nvSpPr>
        <p:spPr>
          <a:xfrm>
            <a:off x="5067300" y="1746250"/>
            <a:ext cx="24955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Move: the Hook Point sketch</a:t>
            </a:r>
            <a:endParaRPr lang="en-US" sz="1200" dirty="0"/>
          </a:p>
        </p:txBody>
      </p:sp>
      <p:sp>
        <p:nvSpPr>
          <p:cNvPr id="14" name="text-473"/>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474"/>
          <p:cNvSpPr txBox="1"/>
          <p:nvPr/>
        </p:nvSpPr>
        <p:spPr>
          <a:xfrm>
            <a:off x="1333500" y="2228850"/>
            <a:ext cx="7734300" cy="105664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Client: “Can you do the flyer for exposure? We have 2,000 followers.” Cut. Designer: “No. Here’s what I’ll do instead.”</a:t>
            </a:r>
            <a:endParaRPr lang="en-US" sz="2200" dirty="0"/>
          </a:p>
        </p:txBody>
      </p:sp>
      <p:sp>
        <p:nvSpPr>
          <p:cNvPr id="16" name="text-475"/>
          <p:cNvSpPr txBox="1"/>
          <p:nvPr/>
        </p:nvSpPr>
        <p:spPr>
          <a:xfrm>
            <a:off x="812800" y="357759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476"/>
          <p:cNvSpPr/>
          <p:nvPr/>
        </p:nvSpPr>
        <p:spPr>
          <a:xfrm>
            <a:off x="2768600" y="3475990"/>
            <a:ext cx="355600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477"/>
          <p:cNvSpPr txBox="1"/>
          <p:nvPr/>
        </p:nvSpPr>
        <p:spPr>
          <a:xfrm>
            <a:off x="2768600" y="3475990"/>
            <a:ext cx="355600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“Can you do it for exposure?”</a:t>
            </a:r>
            <a:endParaRPr lang="en-US" sz="1500" dirty="0"/>
          </a:p>
        </p:txBody>
      </p:sp>
      <p:sp>
        <p:nvSpPr>
          <p:cNvPr id="19" name="text-478"/>
          <p:cNvSpPr txBox="1"/>
          <p:nvPr/>
        </p:nvSpPr>
        <p:spPr>
          <a:xfrm>
            <a:off x="812800" y="403479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479"/>
          <p:cNvSpPr txBox="1"/>
          <p:nvPr/>
        </p:nvSpPr>
        <p:spPr>
          <a:xfrm>
            <a:off x="812800" y="428879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480"/>
          <p:cNvSpPr txBox="1"/>
          <p:nvPr/>
        </p:nvSpPr>
        <p:spPr>
          <a:xfrm>
            <a:off x="1130300" y="4288790"/>
            <a:ext cx="7937500" cy="473075"/>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Client: “Can you make it cheaper? It’s just a flyer.” Designer: “It’s $95. Here’s what’s in it.”</a:t>
            </a:r>
            <a:endParaRPr lang="en-US" sz="1250" dirty="0"/>
          </a:p>
        </p:txBody>
      </p:sp>
      <p:sp>
        <p:nvSpPr>
          <p:cNvPr id="22" name="text-481"/>
          <p:cNvSpPr txBox="1"/>
          <p:nvPr/>
        </p:nvSpPr>
        <p:spPr>
          <a:xfrm>
            <a:off x="812800" y="4825365"/>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482"/>
          <p:cNvSpPr txBox="1"/>
          <p:nvPr/>
        </p:nvSpPr>
        <p:spPr>
          <a:xfrm>
            <a:off x="1130300" y="4825365"/>
            <a:ext cx="7937500" cy="473075"/>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Client: “My cousin can do it on Canva.” Designer: “Great. Here’s what happens when he does.”</a:t>
            </a:r>
            <a:endParaRPr lang="en-US" sz="1250" dirty="0"/>
          </a:p>
        </p:txBody>
      </p:sp>
      <p:sp>
        <p:nvSpPr>
          <p:cNvPr id="24" name="text-483"/>
          <p:cNvSpPr txBox="1"/>
          <p:nvPr/>
        </p:nvSpPr>
        <p:spPr>
          <a:xfrm>
            <a:off x="812800" y="5501640"/>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484"/>
          <p:cNvSpPr txBox="1"/>
          <p:nvPr/>
        </p:nvSpPr>
        <p:spPr>
          <a:xfrm>
            <a:off x="5092700" y="5501640"/>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485"/>
          <p:cNvSpPr txBox="1"/>
          <p:nvPr/>
        </p:nvSpPr>
        <p:spPr>
          <a:xfrm>
            <a:off x="812800" y="5742940"/>
            <a:ext cx="3975100" cy="46736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The client line in one outfit, hard cut, your face as the designer in another.</a:t>
            </a:r>
            <a:endParaRPr lang="en-US" sz="1200" dirty="0"/>
          </a:p>
        </p:txBody>
      </p:sp>
      <p:sp>
        <p:nvSpPr>
          <p:cNvPr id="27" name="text-486"/>
          <p:cNvSpPr txBox="1"/>
          <p:nvPr/>
        </p:nvSpPr>
        <p:spPr>
          <a:xfrm>
            <a:off x="5092700" y="5742940"/>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“Comment FLYER if you want the real version.”</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CFCFC"/>
        </a:solidFill>
      </p:bgPr>
    </p:bg>
    <p:spTree>
      <p:nvGrpSpPr>
        <p:cNvPr id="1" name=""/>
        <p:cNvGrpSpPr/>
        <p:nvPr/>
      </p:nvGrpSpPr>
      <p:grpSpPr>
        <a:xfrm>
          <a:off x="0" y="0"/>
          <a:ext cx="0" cy="0"/>
          <a:chOff x="0" y="0"/>
          <a:chExt cx="0" cy="0"/>
        </a:xfrm>
      </p:grpSpPr>
      <p:sp>
        <p:nvSpPr>
          <p:cNvPr id="2" name="shape-487"/>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488"/>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489"/>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490"/>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3 skills that pay</a:t>
            </a:r>
            <a:endParaRPr lang="en-US" sz="1200" dirty="0"/>
          </a:p>
        </p:txBody>
      </p:sp>
      <p:sp>
        <p:nvSpPr>
          <p:cNvPr id="6" name="phone-dot-491"/>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492"/>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493"/>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4 · SAT OCT 4 · VIDEO 12 OF 15 · TALKING HEAD + SCREEN</a:t>
            </a:r>
            <a:endParaRPr lang="en-US" sz="1200" dirty="0"/>
          </a:p>
        </p:txBody>
      </p:sp>
      <p:sp>
        <p:nvSpPr>
          <p:cNvPr id="9" name="title-494"/>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Three skills that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pay</a:t>
            </a:r>
            <a:endParaRPr lang="en-US" sz="3000" dirty="0"/>
          </a:p>
        </p:txBody>
      </p:sp>
      <p:sp>
        <p:nvSpPr>
          <p:cNvPr id="10" name="shape-495"/>
          <p:cNvSpPr/>
          <p:nvPr/>
        </p:nvSpPr>
        <p:spPr>
          <a:xfrm>
            <a:off x="812800" y="1746250"/>
            <a:ext cx="2241550" cy="292100"/>
          </a:xfrm>
          <a:prstGeom prst="roundRect">
            <a:avLst>
              <a:gd name="adj" fmla="val 17391"/>
            </a:avLst>
          </a:prstGeom>
          <a:solidFill>
            <a:srgbClr val="FFFFFF"/>
          </a:solidFill>
          <a:ln w="9525">
            <a:solidFill>
              <a:srgbClr val="313336">
                <a:alpha val="30000"/>
              </a:srgbClr>
            </a:solidFill>
            <a:prstDash val="dash"/>
          </a:ln>
        </p:spPr>
      </p:sp>
      <p:sp>
        <p:nvSpPr>
          <p:cNvPr id="11" name="text-496"/>
          <p:cNvSpPr txBox="1"/>
          <p:nvPr/>
        </p:nvSpPr>
        <p:spPr>
          <a:xfrm>
            <a:off x="812800" y="1746250"/>
            <a:ext cx="22415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student creative</a:t>
            </a:r>
            <a:endParaRPr lang="en-US" sz="1200" dirty="0"/>
          </a:p>
        </p:txBody>
      </p:sp>
      <p:sp>
        <p:nvSpPr>
          <p:cNvPr id="12" name="shape-497"/>
          <p:cNvSpPr/>
          <p:nvPr/>
        </p:nvSpPr>
        <p:spPr>
          <a:xfrm>
            <a:off x="3105150" y="1746250"/>
            <a:ext cx="3771900" cy="292100"/>
          </a:xfrm>
          <a:prstGeom prst="roundRect">
            <a:avLst>
              <a:gd name="adj" fmla="val 17391"/>
            </a:avLst>
          </a:prstGeom>
          <a:solidFill>
            <a:srgbClr val="FFFFFF"/>
          </a:solidFill>
          <a:ln w="9525">
            <a:solidFill>
              <a:srgbClr val="313336">
                <a:alpha val="30000"/>
              </a:srgbClr>
            </a:solidFill>
            <a:prstDash val="dash"/>
          </a:ln>
        </p:spPr>
      </p:sp>
      <p:sp>
        <p:nvSpPr>
          <p:cNvPr id="13" name="text-498"/>
          <p:cNvSpPr txBox="1"/>
          <p:nvPr/>
        </p:nvSpPr>
        <p:spPr>
          <a:xfrm>
            <a:off x="3105150" y="1746250"/>
            <a:ext cx="37719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Move: the under-10K qualifier + odd number</a:t>
            </a:r>
            <a:endParaRPr lang="en-US" sz="1200" dirty="0"/>
          </a:p>
        </p:txBody>
      </p:sp>
      <p:sp>
        <p:nvSpPr>
          <p:cNvPr id="14" name="text-499"/>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500"/>
          <p:cNvSpPr txBox="1"/>
          <p:nvPr/>
        </p:nvSpPr>
        <p:spPr>
          <a:xfrm>
            <a:off x="1333500" y="2228850"/>
            <a:ext cx="7734300" cy="72136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If you have a laptop and 30 days, learn one of these three. People pay for all of them.</a:t>
            </a:r>
            <a:endParaRPr lang="en-US" sz="2200" dirty="0"/>
          </a:p>
        </p:txBody>
      </p:sp>
      <p:sp>
        <p:nvSpPr>
          <p:cNvPr id="16" name="text-501"/>
          <p:cNvSpPr txBox="1"/>
          <p:nvPr/>
        </p:nvSpPr>
        <p:spPr>
          <a:xfrm>
            <a:off x="812800" y="324231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502"/>
          <p:cNvSpPr/>
          <p:nvPr/>
        </p:nvSpPr>
        <p:spPr>
          <a:xfrm>
            <a:off x="2768600" y="3140710"/>
            <a:ext cx="220345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503"/>
          <p:cNvSpPr txBox="1"/>
          <p:nvPr/>
        </p:nvSpPr>
        <p:spPr>
          <a:xfrm>
            <a:off x="2768600" y="3140710"/>
            <a:ext cx="220345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3 skills that pay</a:t>
            </a:r>
            <a:endParaRPr lang="en-US" sz="1500" dirty="0"/>
          </a:p>
        </p:txBody>
      </p:sp>
      <p:sp>
        <p:nvSpPr>
          <p:cNvPr id="19" name="text-504"/>
          <p:cNvSpPr txBox="1"/>
          <p:nvPr/>
        </p:nvSpPr>
        <p:spPr>
          <a:xfrm>
            <a:off x="812800" y="369951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505"/>
          <p:cNvSpPr txBox="1"/>
          <p:nvPr/>
        </p:nvSpPr>
        <p:spPr>
          <a:xfrm>
            <a:off x="812800" y="395351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506"/>
          <p:cNvSpPr txBox="1"/>
          <p:nvPr/>
        </p:nvSpPr>
        <p:spPr>
          <a:xfrm>
            <a:off x="1130300" y="3953510"/>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Three skills people pay for. All free to learn this month.</a:t>
            </a:r>
            <a:endParaRPr lang="en-US" sz="1250" dirty="0"/>
          </a:p>
        </p:txBody>
      </p:sp>
      <p:sp>
        <p:nvSpPr>
          <p:cNvPr id="22" name="text-507"/>
          <p:cNvSpPr txBox="1"/>
          <p:nvPr/>
        </p:nvSpPr>
        <p:spPr>
          <a:xfrm>
            <a:off x="812800" y="4259898"/>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508"/>
          <p:cNvSpPr txBox="1"/>
          <p:nvPr/>
        </p:nvSpPr>
        <p:spPr>
          <a:xfrm>
            <a:off x="1130300" y="4259898"/>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Nobody tells you these three skills pay from day one.</a:t>
            </a:r>
            <a:endParaRPr lang="en-US" sz="1250" dirty="0"/>
          </a:p>
        </p:txBody>
      </p:sp>
      <p:sp>
        <p:nvSpPr>
          <p:cNvPr id="24" name="text-509"/>
          <p:cNvSpPr txBox="1"/>
          <p:nvPr/>
        </p:nvSpPr>
        <p:spPr>
          <a:xfrm>
            <a:off x="8128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510"/>
          <p:cNvSpPr txBox="1"/>
          <p:nvPr/>
        </p:nvSpPr>
        <p:spPr>
          <a:xfrm>
            <a:off x="50927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511"/>
          <p:cNvSpPr txBox="1"/>
          <p:nvPr/>
        </p:nvSpPr>
        <p:spPr>
          <a:xfrm>
            <a:off x="812800" y="494728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Three fingers, then the first skill on screen.</a:t>
            </a:r>
            <a:endParaRPr lang="en-US" sz="1200" dirty="0"/>
          </a:p>
        </p:txBody>
      </p:sp>
      <p:sp>
        <p:nvSpPr>
          <p:cNvPr id="27" name="text-512"/>
          <p:cNvSpPr txBox="1"/>
          <p:nvPr/>
        </p:nvSpPr>
        <p:spPr>
          <a:xfrm>
            <a:off x="5092700" y="494728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“Comment SPOT if you’d rather hire me.”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CFCFC"/>
        </a:solidFill>
      </p:bgPr>
    </p:bg>
    <p:spTree>
      <p:nvGrpSpPr>
        <p:cNvPr id="1" name=""/>
        <p:cNvGrpSpPr/>
        <p:nvPr/>
      </p:nvGrpSpPr>
      <p:grpSpPr>
        <a:xfrm>
          <a:off x="0" y="0"/>
          <a:ext cx="0" cy="0"/>
          <a:chOff x="0" y="0"/>
          <a:chExt cx="0" cy="0"/>
        </a:xfrm>
      </p:grpSpPr>
      <p:sp>
        <p:nvSpPr>
          <p:cNvPr id="2" name="shape-513"/>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pic>
        <p:nvPicPr>
          <p:cNvPr id="3" name="pixels-514" descr="pixels-light.png">    </p:cNvPr>
          <p:cNvPicPr>
            <a:picLocks noChangeAspect="1"/>
          </p:cNvPicPr>
          <p:nvPr/>
        </p:nvPicPr>
        <p:blipFill>
          <a:blip r:embed="rId1"/>
          <a:stretch>
            <a:fillRect/>
          </a:stretch>
        </p:blipFill>
        <p:spPr>
          <a:xfrm>
            <a:off x="355600" y="6299200"/>
            <a:ext cx="11480800" cy="228600"/>
          </a:xfrm>
          <a:prstGeom prst="rect">
            <a:avLst/>
          </a:prstGeom>
        </p:spPr>
      </p:pic>
      <p:sp>
        <p:nvSpPr>
          <p:cNvPr id="4" name="text-515"/>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5 · SUNDAY OCTOBER 5</a:t>
            </a:r>
            <a:endParaRPr lang="en-US" sz="1200" dirty="0"/>
          </a:p>
        </p:txBody>
      </p:sp>
      <p:sp>
        <p:nvSpPr>
          <p:cNvPr id="5" name="title-516"/>
          <p:cNvSpPr txBox="1"/>
          <p:nvPr/>
        </p:nvSpPr>
        <p:spPr>
          <a:xfrm>
            <a:off x="812800" y="1117600"/>
            <a:ext cx="10566400" cy="530860"/>
          </a:xfrm>
          <a:prstGeom prst="rect">
            <a:avLst/>
          </a:prstGeom>
          <a:noFill/>
          <a:ln/>
        </p:spPr>
        <p:txBody>
          <a:bodyPr wrap="square" lIns="0" tIns="0" rIns="0" bIns="0" rtlCol="0" anchor="t"/>
          <a:lstStyle/>
          <a:p>
            <a:pPr algn="l" indent="0" marL="0">
              <a:lnSpc>
                <a:spcPct val="110000"/>
              </a:lnSpc>
              <a:buNone/>
            </a:pPr>
            <a:r>
              <a:rPr lang="en-US" sz="3200" spc="-192" kern="0" dirty="0">
                <a:solidFill>
                  <a:srgbClr val="0F0F0F"/>
                </a:solidFill>
                <a:latin typeface="Fraunces" pitchFamily="34" charset="0"/>
                <a:ea typeface="Fraunces" pitchFamily="34" charset="-122"/>
                <a:cs typeface="Fraunces" pitchFamily="34" charset="-120"/>
              </a:rPr>
              <a:t>The real number, the verse, the </a:t>
            </a:r>
            <a:pPr algn="l" indent="0" marL="0">
              <a:lnSpc>
                <a:spcPct val="110000"/>
              </a:lnSpc>
              <a:buNone/>
            </a:pPr>
            <a:r>
              <a:rPr lang="en-US" sz="3200" i="1" spc="-192" kern="0" dirty="0">
                <a:solidFill>
                  <a:srgbClr val="FF0090"/>
                </a:solidFill>
                <a:latin typeface="Fraunces" pitchFamily="34" charset="0"/>
                <a:ea typeface="Fraunces" pitchFamily="34" charset="-122"/>
                <a:cs typeface="Fraunces" pitchFamily="34" charset="-120"/>
              </a:rPr>
              <a:t>next 25 days</a:t>
            </a:r>
            <a:endParaRPr lang="en-US" sz="3200" dirty="0"/>
          </a:p>
        </p:txBody>
      </p:sp>
      <p:sp>
        <p:nvSpPr>
          <p:cNvPr id="6" name="shape-517"/>
          <p:cNvSpPr/>
          <p:nvPr/>
        </p:nvSpPr>
        <p:spPr>
          <a:xfrm>
            <a:off x="812800"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7" name="shape-518"/>
          <p:cNvSpPr/>
          <p:nvPr/>
        </p:nvSpPr>
        <p:spPr>
          <a:xfrm>
            <a:off x="4385733"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8" name="shape-519"/>
          <p:cNvSpPr/>
          <p:nvPr/>
        </p:nvSpPr>
        <p:spPr>
          <a:xfrm>
            <a:off x="7958667" y="1800860"/>
            <a:ext cx="3420533" cy="4104640"/>
          </a:xfrm>
          <a:prstGeom prst="roundRect">
            <a:avLst>
              <a:gd name="adj" fmla="val 2970"/>
            </a:avLst>
          </a:prstGeom>
          <a:solidFill>
            <a:srgbClr val="F8F8F8"/>
          </a:solidFill>
          <a:ln w="9525">
            <a:solidFill>
              <a:srgbClr val="EDEDED"/>
            </a:solidFill>
            <a:prstDash val="solid"/>
          </a:ln>
          <a:effectLst>
            <a:outerShdw sx="100000" sy="100000" kx="0" ky="0" algn="bl" rotWithShape="0" blurRad="25400" dist="12700" dir="5400000">
              <a:srgbClr val="000000">
                <a:alpha val="6000"/>
              </a:srgbClr>
            </a:outerShdw>
          </a:effectLst>
        </p:spPr>
      </p:sp>
      <p:sp>
        <p:nvSpPr>
          <p:cNvPr id="9" name="paras-520"/>
          <p:cNvSpPr txBox="1"/>
          <p:nvPr/>
        </p:nvSpPr>
        <p:spPr>
          <a:xfrm>
            <a:off x="990600"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Instagram @aissakee</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Morning: film video 13 with the final number, honest either way.</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8 am: video 13, Episode 5: the real number.</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12 pm: video 14, The verse, text only, 7 seconds.</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7 pm: video 15, Scared to start?</a:t>
            </a:r>
            <a:endParaRPr lang="en-US" sz="1600" dirty="0"/>
          </a:p>
        </p:txBody>
      </p:sp>
      <p:sp>
        <p:nvSpPr>
          <p:cNvPr id="10" name="paras-521"/>
          <p:cNvSpPr txBox="1"/>
          <p:nvPr/>
        </p:nvSpPr>
        <p:spPr>
          <a:xfrm>
            <a:off x="4563533"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TikTok @keekyt</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7:30 am: T9, your testimony, with the verse in French and English at the end.</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1:30 pm: T10, 15 hooks tested in 5 days, the 3 that worked. Ends on “all 15 are on @aissakee”.</a:t>
            </a:r>
            <a:endParaRPr lang="en-US" sz="1600" dirty="0"/>
          </a:p>
        </p:txBody>
      </p:sp>
      <p:sp>
        <p:nvSpPr>
          <p:cNvPr id="11" name="paras-522"/>
          <p:cNvSpPr txBox="1"/>
          <p:nvPr/>
        </p:nvSpPr>
        <p:spPr>
          <a:xfrm>
            <a:off x="8136467" y="1965960"/>
            <a:ext cx="3064933" cy="3774440"/>
          </a:xfrm>
          <a:prstGeom prst="rect">
            <a:avLst/>
          </a:prstGeom>
          <a:noFill/>
          <a:ln/>
        </p:spPr>
        <p:txBody>
          <a:bodyPr wrap="square" lIns="0" tIns="0" rIns="0" bIns="0" rtlCol="0" anchor="t"/>
          <a:lstStyle/>
          <a:p>
            <a:pPr indent="0" marL="0">
              <a:lnSpc>
                <a:spcPct val="110000"/>
              </a:lnSpc>
              <a:spcAft>
                <a:spcPts val="1400"/>
              </a:spcAft>
              <a:buNone/>
            </a:pPr>
            <a:r>
              <a:rPr lang="en-US" sz="1600" spc="-90" kern="0" dirty="0">
                <a:solidFill>
                  <a:srgbClr val="0F0F0F"/>
                </a:solidFill>
                <a:latin typeface="Fraunces" pitchFamily="34" charset="0"/>
                <a:ea typeface="Fraunces" pitchFamily="34" charset="-122"/>
                <a:cs typeface="Fraunces" pitchFamily="34" charset="-120"/>
              </a:rPr>
              <a:t>Stories, DMs, funnel</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Stories: the number, a thank-you, “Monday we go again”, poll “what should I teach next?”.</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Week scoreboard: the three hooks that worked, follows per 1K views, what the audience asked for.</a:t>
            </a:r>
            <a:endParaRPr lang="en-US" sz="1600" dirty="0"/>
          </a:p>
          <a:p>
            <a:pPr marL="139700" indent="-139700">
              <a:lnSpc>
                <a:spcPct val="130000"/>
              </a:lnSpc>
              <a:spcAft>
                <a:spcPts val="800"/>
              </a:spcAft>
              <a:buSzPct val="100000"/>
              <a:buChar char="•"/>
            </a:pPr>
            <a:r>
              <a:rPr lang="en-US" sz="1200" dirty="0">
                <a:solidFill>
                  <a:srgbClr val="313336"/>
                </a:solidFill>
                <a:latin typeface="Inter" pitchFamily="34" charset="0"/>
                <a:ea typeface="Inter" pitchFamily="34" charset="-122"/>
                <a:cs typeface="Inter" pitchFamily="34" charset="-120"/>
              </a:rPr>
              <a:t>Write the next 25 days from the answers.</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CFCFC"/>
        </a:solidFill>
      </p:bgPr>
    </p:bg>
    <p:spTree>
      <p:nvGrpSpPr>
        <p:cNvPr id="1" name=""/>
        <p:cNvGrpSpPr/>
        <p:nvPr/>
      </p:nvGrpSpPr>
      <p:grpSpPr>
        <a:xfrm>
          <a:off x="0" y="0"/>
          <a:ext cx="0" cy="0"/>
          <a:chOff x="0" y="0"/>
          <a:chExt cx="0" cy="0"/>
        </a:xfrm>
      </p:grpSpPr>
      <p:sp>
        <p:nvSpPr>
          <p:cNvPr id="2" name="shape-523"/>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524"/>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525"/>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526"/>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5 days. Real number. What moved it.</a:t>
            </a:r>
            <a:endParaRPr lang="en-US" sz="1200" dirty="0"/>
          </a:p>
        </p:txBody>
      </p:sp>
      <p:sp>
        <p:nvSpPr>
          <p:cNvPr id="6" name="phone-dot-527"/>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528"/>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529"/>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5 · SUN OCT 5 · VIDEO 13 OF 15 · EPISODE FINALE · HONEST EITHER WAY</a:t>
            </a:r>
            <a:endParaRPr lang="en-US" sz="1200" dirty="0"/>
          </a:p>
        </p:txBody>
      </p:sp>
      <p:sp>
        <p:nvSpPr>
          <p:cNvPr id="9" name="title-530"/>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Episode 5: the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real number</a:t>
            </a:r>
            <a:endParaRPr lang="en-US" sz="3000" dirty="0"/>
          </a:p>
        </p:txBody>
      </p:sp>
      <p:sp>
        <p:nvSpPr>
          <p:cNvPr id="10" name="shape-531"/>
          <p:cNvSpPr/>
          <p:nvPr/>
        </p:nvSpPr>
        <p:spPr>
          <a:xfrm>
            <a:off x="812800" y="1746250"/>
            <a:ext cx="2241550" cy="292100"/>
          </a:xfrm>
          <a:prstGeom prst="roundRect">
            <a:avLst>
              <a:gd name="adj" fmla="val 17391"/>
            </a:avLst>
          </a:prstGeom>
          <a:solidFill>
            <a:srgbClr val="FFFFFF"/>
          </a:solidFill>
          <a:ln w="9525">
            <a:solidFill>
              <a:srgbClr val="313336">
                <a:alpha val="30000"/>
              </a:srgbClr>
            </a:solidFill>
            <a:prstDash val="dash"/>
          </a:ln>
        </p:spPr>
      </p:sp>
      <p:sp>
        <p:nvSpPr>
          <p:cNvPr id="11" name="text-532"/>
          <p:cNvSpPr txBox="1"/>
          <p:nvPr/>
        </p:nvSpPr>
        <p:spPr>
          <a:xfrm>
            <a:off x="812800" y="1746250"/>
            <a:ext cx="22415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student creative</a:t>
            </a:r>
            <a:endParaRPr lang="en-US" sz="1200" dirty="0"/>
          </a:p>
        </p:txBody>
      </p:sp>
      <p:sp>
        <p:nvSpPr>
          <p:cNvPr id="12" name="shape-533"/>
          <p:cNvSpPr/>
          <p:nvPr/>
        </p:nvSpPr>
        <p:spPr>
          <a:xfrm>
            <a:off x="3105150" y="1746250"/>
            <a:ext cx="3175000" cy="292100"/>
          </a:xfrm>
          <a:prstGeom prst="roundRect">
            <a:avLst>
              <a:gd name="adj" fmla="val 17391"/>
            </a:avLst>
          </a:prstGeom>
          <a:solidFill>
            <a:srgbClr val="FFFFFF"/>
          </a:solidFill>
          <a:ln w="9525">
            <a:solidFill>
              <a:srgbClr val="313336">
                <a:alpha val="30000"/>
              </a:srgbClr>
            </a:solidFill>
            <a:prstDash val="dash"/>
          </a:ln>
        </p:spPr>
      </p:sp>
      <p:sp>
        <p:nvSpPr>
          <p:cNvPr id="13" name="text-534"/>
          <p:cNvSpPr txBox="1"/>
          <p:nvPr/>
        </p:nvSpPr>
        <p:spPr>
          <a:xfrm>
            <a:off x="3105150" y="1746250"/>
            <a:ext cx="31750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Move: Hoyos payoff of the open loop</a:t>
            </a:r>
            <a:endParaRPr lang="en-US" sz="1200" dirty="0"/>
          </a:p>
        </p:txBody>
      </p:sp>
      <p:sp>
        <p:nvSpPr>
          <p:cNvPr id="14" name="text-535"/>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536"/>
          <p:cNvSpPr txBox="1"/>
          <p:nvPr/>
        </p:nvSpPr>
        <p:spPr>
          <a:xfrm>
            <a:off x="1333500" y="2228850"/>
            <a:ext cx="7734300" cy="72136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I tried to get 10K followers in five days. Here’s the real number, and what actually moved it.</a:t>
            </a:r>
            <a:endParaRPr lang="en-US" sz="2200" dirty="0"/>
          </a:p>
        </p:txBody>
      </p:sp>
      <p:sp>
        <p:nvSpPr>
          <p:cNvPr id="16" name="text-537"/>
          <p:cNvSpPr txBox="1"/>
          <p:nvPr/>
        </p:nvSpPr>
        <p:spPr>
          <a:xfrm>
            <a:off x="812800" y="324231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538"/>
          <p:cNvSpPr/>
          <p:nvPr/>
        </p:nvSpPr>
        <p:spPr>
          <a:xfrm>
            <a:off x="2768600" y="3140710"/>
            <a:ext cx="423545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539"/>
          <p:cNvSpPr txBox="1"/>
          <p:nvPr/>
        </p:nvSpPr>
        <p:spPr>
          <a:xfrm>
            <a:off x="2768600" y="3140710"/>
            <a:ext cx="423545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5 days. Real number. What moved it.</a:t>
            </a:r>
            <a:endParaRPr lang="en-US" sz="1500" dirty="0"/>
          </a:p>
        </p:txBody>
      </p:sp>
      <p:sp>
        <p:nvSpPr>
          <p:cNvPr id="19" name="text-540"/>
          <p:cNvSpPr txBox="1"/>
          <p:nvPr/>
        </p:nvSpPr>
        <p:spPr>
          <a:xfrm>
            <a:off x="812800" y="369951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541"/>
          <p:cNvSpPr txBox="1"/>
          <p:nvPr/>
        </p:nvSpPr>
        <p:spPr>
          <a:xfrm>
            <a:off x="812800" y="395351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542"/>
          <p:cNvSpPr txBox="1"/>
          <p:nvPr/>
        </p:nvSpPr>
        <p:spPr>
          <a:xfrm>
            <a:off x="1130300" y="3953510"/>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Day 5. Did I hit 10K?</a:t>
            </a:r>
            <a:endParaRPr lang="en-US" sz="1250" dirty="0"/>
          </a:p>
        </p:txBody>
      </p:sp>
      <p:sp>
        <p:nvSpPr>
          <p:cNvPr id="22" name="text-543"/>
          <p:cNvSpPr txBox="1"/>
          <p:nvPr/>
        </p:nvSpPr>
        <p:spPr>
          <a:xfrm>
            <a:off x="812800" y="4259898"/>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544"/>
          <p:cNvSpPr txBox="1"/>
          <p:nvPr/>
        </p:nvSpPr>
        <p:spPr>
          <a:xfrm>
            <a:off x="1130300" y="4259898"/>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31 followers on Wednesday. Today:</a:t>
            </a:r>
            <a:endParaRPr lang="en-US" sz="1250" dirty="0"/>
          </a:p>
        </p:txBody>
      </p:sp>
      <p:sp>
        <p:nvSpPr>
          <p:cNvPr id="24" name="text-545"/>
          <p:cNvSpPr txBox="1"/>
          <p:nvPr/>
        </p:nvSpPr>
        <p:spPr>
          <a:xfrm>
            <a:off x="8128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546"/>
          <p:cNvSpPr txBox="1"/>
          <p:nvPr/>
        </p:nvSpPr>
        <p:spPr>
          <a:xfrm>
            <a:off x="50927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547"/>
          <p:cNvSpPr txBox="1"/>
          <p:nvPr/>
        </p:nvSpPr>
        <p:spPr>
          <a:xfrm>
            <a:off x="812800" y="4947285"/>
            <a:ext cx="3975100" cy="46736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Hold the number back for two seconds, then show the profile.</a:t>
            </a:r>
            <a:endParaRPr lang="en-US" sz="1200" dirty="0"/>
          </a:p>
        </p:txBody>
      </p:sp>
      <p:sp>
        <p:nvSpPr>
          <p:cNvPr id="27" name="text-548"/>
          <p:cNvSpPr txBox="1"/>
          <p:nvPr/>
        </p:nvSpPr>
        <p:spPr>
          <a:xfrm>
            <a:off x="5092700" y="494728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“Follow for the next 25 days.”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CFCFC"/>
        </a:solidFill>
      </p:bgPr>
    </p:bg>
    <p:spTree>
      <p:nvGrpSpPr>
        <p:cNvPr id="1" name=""/>
        <p:cNvGrpSpPr/>
        <p:nvPr/>
      </p:nvGrpSpPr>
      <p:grpSpPr>
        <a:xfrm>
          <a:off x="0" y="0"/>
          <a:ext cx="0" cy="0"/>
          <a:chOff x="0" y="0"/>
          <a:chExt cx="0" cy="0"/>
        </a:xfrm>
      </p:grpSpPr>
      <p:sp>
        <p:nvSpPr>
          <p:cNvPr id="2" name="shape-549"/>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550"/>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551"/>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552"/>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I can do all things through Christ who strengthens me. Philippians 4:13</a:t>
            </a:r>
            <a:endParaRPr lang="en-US" sz="1200" dirty="0"/>
          </a:p>
        </p:txBody>
      </p:sp>
      <p:sp>
        <p:nvSpPr>
          <p:cNvPr id="6" name="phone-dot-553"/>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554"/>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555"/>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5 · SUN OCT 5 · VIDEO 14 OF 15 · TEXT ONLY · 7 SECONDS</a:t>
            </a:r>
            <a:endParaRPr lang="en-US" sz="1200" dirty="0"/>
          </a:p>
        </p:txBody>
      </p:sp>
      <p:sp>
        <p:nvSpPr>
          <p:cNvPr id="9" name="title-556"/>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The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verse</a:t>
            </a:r>
            <a:endParaRPr lang="en-US" sz="3000" dirty="0"/>
          </a:p>
        </p:txBody>
      </p:sp>
      <p:sp>
        <p:nvSpPr>
          <p:cNvPr id="10" name="shape-557"/>
          <p:cNvSpPr/>
          <p:nvPr/>
        </p:nvSpPr>
        <p:spPr>
          <a:xfrm>
            <a:off x="812800" y="1746250"/>
            <a:ext cx="3346450" cy="292100"/>
          </a:xfrm>
          <a:prstGeom prst="roundRect">
            <a:avLst>
              <a:gd name="adj" fmla="val 17391"/>
            </a:avLst>
          </a:prstGeom>
          <a:solidFill>
            <a:srgbClr val="FFFFFF"/>
          </a:solidFill>
          <a:ln w="9525">
            <a:solidFill>
              <a:srgbClr val="313336">
                <a:alpha val="30000"/>
              </a:srgbClr>
            </a:solidFill>
            <a:prstDash val="dash"/>
          </a:ln>
        </p:spPr>
      </p:sp>
      <p:sp>
        <p:nvSpPr>
          <p:cNvPr id="11" name="text-558"/>
          <p:cNvSpPr txBox="1"/>
          <p:nvPr/>
        </p:nvSpPr>
        <p:spPr>
          <a:xfrm>
            <a:off x="812800" y="1746250"/>
            <a:ext cx="33464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people who already follow you</a:t>
            </a:r>
            <a:endParaRPr lang="en-US" sz="1200" dirty="0"/>
          </a:p>
        </p:txBody>
      </p:sp>
      <p:sp>
        <p:nvSpPr>
          <p:cNvPr id="12" name="shape-559"/>
          <p:cNvSpPr/>
          <p:nvPr/>
        </p:nvSpPr>
        <p:spPr>
          <a:xfrm>
            <a:off x="4210050" y="1746250"/>
            <a:ext cx="1555750" cy="292100"/>
          </a:xfrm>
          <a:prstGeom prst="roundRect">
            <a:avLst>
              <a:gd name="adj" fmla="val 17391"/>
            </a:avLst>
          </a:prstGeom>
          <a:solidFill>
            <a:srgbClr val="FFFFFF"/>
          </a:solidFill>
          <a:ln w="9525">
            <a:solidFill>
              <a:srgbClr val="313336">
                <a:alpha val="30000"/>
              </a:srgbClr>
            </a:solidFill>
            <a:prstDash val="dash"/>
          </a:ln>
        </p:spPr>
      </p:sp>
      <p:sp>
        <p:nvSpPr>
          <p:cNvPr id="13" name="text-560"/>
          <p:cNvSpPr txBox="1"/>
          <p:nvPr/>
        </p:nvSpPr>
        <p:spPr>
          <a:xfrm>
            <a:off x="4210050" y="1746250"/>
            <a:ext cx="15557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No hook, no sell</a:t>
            </a:r>
            <a:endParaRPr lang="en-US" sz="1200" dirty="0"/>
          </a:p>
        </p:txBody>
      </p:sp>
      <p:sp>
        <p:nvSpPr>
          <p:cNvPr id="14" name="text-561"/>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562"/>
          <p:cNvSpPr txBox="1"/>
          <p:nvPr/>
        </p:nvSpPr>
        <p:spPr>
          <a:xfrm>
            <a:off x="1333500" y="2228850"/>
            <a:ext cx="7734300" cy="72136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Say nothing. Text only, on a plain black or pink background, signed @aissakee.</a:t>
            </a:r>
            <a:endParaRPr lang="en-US" sz="2200" dirty="0"/>
          </a:p>
        </p:txBody>
      </p:sp>
      <p:sp>
        <p:nvSpPr>
          <p:cNvPr id="16" name="text-563"/>
          <p:cNvSpPr txBox="1"/>
          <p:nvPr/>
        </p:nvSpPr>
        <p:spPr>
          <a:xfrm>
            <a:off x="812800" y="324231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564"/>
          <p:cNvSpPr/>
          <p:nvPr/>
        </p:nvSpPr>
        <p:spPr>
          <a:xfrm>
            <a:off x="2768600" y="3140710"/>
            <a:ext cx="830580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565"/>
          <p:cNvSpPr txBox="1"/>
          <p:nvPr/>
        </p:nvSpPr>
        <p:spPr>
          <a:xfrm>
            <a:off x="2768600" y="3140710"/>
            <a:ext cx="830580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I can do all things through Christ who strengthens me. Philippians 4:13</a:t>
            </a:r>
            <a:endParaRPr lang="en-US" sz="1500" dirty="0"/>
          </a:p>
        </p:txBody>
      </p:sp>
      <p:sp>
        <p:nvSpPr>
          <p:cNvPr id="19" name="text-566"/>
          <p:cNvSpPr txBox="1"/>
          <p:nvPr/>
        </p:nvSpPr>
        <p:spPr>
          <a:xfrm>
            <a:off x="812800" y="369951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567"/>
          <p:cNvSpPr txBox="1"/>
          <p:nvPr/>
        </p:nvSpPr>
        <p:spPr>
          <a:xfrm>
            <a:off x="812800" y="395351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568"/>
          <p:cNvSpPr txBox="1"/>
          <p:nvPr/>
        </p:nvSpPr>
        <p:spPr>
          <a:xfrm>
            <a:off x="1130300" y="3953510"/>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Caption: Sunday reminder for whoever is building something that scares them.</a:t>
            </a:r>
            <a:endParaRPr lang="en-US" sz="1250" dirty="0"/>
          </a:p>
        </p:txBody>
      </p:sp>
      <p:sp>
        <p:nvSpPr>
          <p:cNvPr id="22" name="text-569"/>
          <p:cNvSpPr txBox="1"/>
          <p:nvPr/>
        </p:nvSpPr>
        <p:spPr>
          <a:xfrm>
            <a:off x="812800" y="4259898"/>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570"/>
          <p:cNvSpPr txBox="1"/>
          <p:nvPr/>
        </p:nvSpPr>
        <p:spPr>
          <a:xfrm>
            <a:off x="1130300" y="4259898"/>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Soft audio, 7 seconds, modern wording (NKJV), no generated images.</a:t>
            </a:r>
            <a:endParaRPr lang="en-US" sz="1250" dirty="0"/>
          </a:p>
        </p:txBody>
      </p:sp>
      <p:sp>
        <p:nvSpPr>
          <p:cNvPr id="24" name="text-571"/>
          <p:cNvSpPr txBox="1"/>
          <p:nvPr/>
        </p:nvSpPr>
        <p:spPr>
          <a:xfrm>
            <a:off x="8128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572"/>
          <p:cNvSpPr txBox="1"/>
          <p:nvPr/>
        </p:nvSpPr>
        <p:spPr>
          <a:xfrm>
            <a:off x="50927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573"/>
          <p:cNvSpPr txBox="1"/>
          <p:nvPr/>
        </p:nvSpPr>
        <p:spPr>
          <a:xfrm>
            <a:off x="812800" y="4947285"/>
            <a:ext cx="3975100" cy="46736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The verse fades in over the first second. Nothing else happens.</a:t>
            </a:r>
            <a:endParaRPr lang="en-US" sz="1200" dirty="0"/>
          </a:p>
        </p:txBody>
      </p:sp>
      <p:sp>
        <p:nvSpPr>
          <p:cNvPr id="27" name="text-574"/>
          <p:cNvSpPr txBox="1"/>
          <p:nvPr/>
        </p:nvSpPr>
        <p:spPr>
          <a:xfrm>
            <a:off x="5092700" y="494728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Hold. Let it loop.</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CFCFC"/>
        </a:solidFill>
      </p:bgPr>
    </p:bg>
    <p:spTree>
      <p:nvGrpSpPr>
        <p:cNvPr id="1" name=""/>
        <p:cNvGrpSpPr/>
        <p:nvPr/>
      </p:nvGrpSpPr>
      <p:grpSpPr>
        <a:xfrm>
          <a:off x="0" y="0"/>
          <a:ext cx="0" cy="0"/>
          <a:chOff x="0" y="0"/>
          <a:chExt cx="0" cy="0"/>
        </a:xfrm>
      </p:grpSpPr>
      <p:sp>
        <p:nvSpPr>
          <p:cNvPr id="2" name="shape-575"/>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shape-576"/>
          <p:cNvSpPr/>
          <p:nvPr/>
        </p:nvSpPr>
        <p:spPr>
          <a:xfrm rot="240000">
            <a:off x="9474200" y="1371600"/>
            <a:ext cx="1905000" cy="3384550"/>
          </a:xfrm>
          <a:prstGeom prst="roundRect">
            <a:avLst>
              <a:gd name="adj" fmla="val 4667"/>
            </a:avLst>
          </a:prstGeom>
          <a:solidFill>
            <a:srgbClr val="FFFFFF"/>
          </a:solidFill>
          <a:ln w="19050">
            <a:solidFill>
              <a:srgbClr val="F0F0F0"/>
            </a:solidFill>
            <a:prstDash val="solid"/>
          </a:ln>
          <a:effectLst>
            <a:outerShdw sx="100000" sy="100000" kx="0" ky="0" algn="bl" rotWithShape="0" blurRad="76200" dist="25400" dir="5400000">
              <a:srgbClr val="000000">
                <a:alpha val="16000"/>
              </a:srgbClr>
            </a:outerShdw>
          </a:effectLst>
        </p:spPr>
      </p:sp>
      <p:sp>
        <p:nvSpPr>
          <p:cNvPr id="4" name="shape-577"/>
          <p:cNvSpPr/>
          <p:nvPr/>
        </p:nvSpPr>
        <p:spPr>
          <a:xfrm rot="240000">
            <a:off x="9642252" y="1810075"/>
            <a:ext cx="1587500" cy="2241550"/>
          </a:xfrm>
          <a:prstGeom prst="roundRect">
            <a:avLst>
              <a:gd name="adj" fmla="val 3200"/>
            </a:avLst>
          </a:prstGeom>
          <a:solidFill>
            <a:srgbClr val="FFFFFF"/>
          </a:solidFill>
          <a:ln w="9525">
            <a:solidFill>
              <a:srgbClr val="313336">
                <a:alpha val="30000"/>
              </a:srgbClr>
            </a:solidFill>
            <a:prstDash val="dash"/>
          </a:ln>
        </p:spPr>
      </p:sp>
      <p:sp>
        <p:nvSpPr>
          <p:cNvPr id="5" name="phone-text-578"/>
          <p:cNvSpPr txBox="1"/>
          <p:nvPr/>
        </p:nvSpPr>
        <p:spPr>
          <a:xfrm rot="240000">
            <a:off x="9762969" y="1913229"/>
            <a:ext cx="1435100" cy="762000"/>
          </a:xfrm>
          <a:prstGeom prst="rect">
            <a:avLst/>
          </a:prstGeom>
          <a:noFill/>
          <a:ln/>
        </p:spPr>
        <p:txBody>
          <a:bodyPr wrap="square" lIns="0" tIns="0" rIns="0" bIns="0" rtlCol="0" anchor="t"/>
          <a:lstStyle/>
          <a:p>
            <a:pPr algn="ctr" indent="0" marL="0">
              <a:lnSpc>
                <a:spcPct val="115000"/>
              </a:lnSpc>
              <a:buNone/>
            </a:pPr>
            <a:r>
              <a:rPr lang="en-US" sz="1200" b="1" dirty="0">
                <a:solidFill>
                  <a:srgbClr val="0F0F0F"/>
                </a:solidFill>
                <a:latin typeface="Inter" pitchFamily="34" charset="0"/>
                <a:ea typeface="Inter" pitchFamily="34" charset="-122"/>
                <a:cs typeface="Inter" pitchFamily="34" charset="-120"/>
              </a:rPr>
              <a:t>Scared to start? Read this.</a:t>
            </a:r>
            <a:endParaRPr lang="en-US" sz="1200" dirty="0"/>
          </a:p>
        </p:txBody>
      </p:sp>
      <p:sp>
        <p:nvSpPr>
          <p:cNvPr id="6" name="phone-dot-579"/>
          <p:cNvSpPr/>
          <p:nvPr/>
        </p:nvSpPr>
        <p:spPr>
          <a:xfrm rot="240000">
            <a:off x="10081370" y="3338685"/>
            <a:ext cx="609600" cy="609600"/>
          </a:xfrm>
          <a:prstGeom prst="ellipse">
            <a:avLst/>
          </a:prstGeom>
          <a:solidFill>
            <a:srgbClr val="EDEDED"/>
          </a:solidFill>
          <a:ln w="12700">
            <a:solidFill>
              <a:srgbClr val="F0F0F0"/>
            </a:solidFill>
            <a:prstDash val="solid"/>
          </a:ln>
        </p:spPr>
      </p:sp>
      <p:sp>
        <p:nvSpPr>
          <p:cNvPr id="7" name="text-580"/>
          <p:cNvSpPr txBox="1"/>
          <p:nvPr/>
        </p:nvSpPr>
        <p:spPr>
          <a:xfrm>
            <a:off x="9220200" y="5016500"/>
            <a:ext cx="2413000" cy="444500"/>
          </a:xfrm>
          <a:prstGeom prst="rect">
            <a:avLst/>
          </a:prstGeom>
          <a:noFill/>
          <a:ln/>
        </p:spPr>
        <p:txBody>
          <a:bodyPr wrap="square" lIns="0" tIns="0" rIns="0" bIns="0" rtlCol="0" anchor="t"/>
          <a:lstStyle/>
          <a:p>
            <a:pPr algn="ctr" indent="0" marL="0">
              <a:lnSpc>
                <a:spcPct val="130000"/>
              </a:lnSpc>
              <a:buNone/>
            </a:pPr>
            <a:r>
              <a:rPr lang="en-US" sz="1200" dirty="0">
                <a:solidFill>
                  <a:srgbClr val="6F6F6F"/>
                </a:solidFill>
                <a:latin typeface="DM Mono" pitchFamily="34" charset="0"/>
                <a:ea typeface="DM Mono" pitchFamily="34" charset="-122"/>
                <a:cs typeface="DM Mono" pitchFamily="34" charset="-120"/>
              </a:rPr>
              <a:t>SAFE ZONE · TEXT NEVER ON YOUR FACE</a:t>
            </a:r>
            <a:endParaRPr lang="en-US" sz="1200" dirty="0"/>
          </a:p>
        </p:txBody>
      </p:sp>
      <p:sp>
        <p:nvSpPr>
          <p:cNvPr id="8" name="text-581"/>
          <p:cNvSpPr txBox="1"/>
          <p:nvPr/>
        </p:nvSpPr>
        <p:spPr>
          <a:xfrm>
            <a:off x="812800" y="81280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DAY 5 · SUN OCT 5 · VIDEO 15 OF 15 · TALKING HEAD · SLOWER</a:t>
            </a:r>
            <a:endParaRPr lang="en-US" sz="1200" dirty="0"/>
          </a:p>
        </p:txBody>
      </p:sp>
      <p:sp>
        <p:nvSpPr>
          <p:cNvPr id="9" name="title-582"/>
          <p:cNvSpPr txBox="1"/>
          <p:nvPr/>
        </p:nvSpPr>
        <p:spPr>
          <a:xfrm>
            <a:off x="812800" y="1130300"/>
            <a:ext cx="8255000" cy="501650"/>
          </a:xfrm>
          <a:prstGeom prst="rect">
            <a:avLst/>
          </a:prstGeom>
          <a:noFill/>
          <a:ln/>
        </p:spPr>
        <p:txBody>
          <a:bodyPr wrap="square" lIns="0" tIns="0" rIns="0" bIns="0" rtlCol="0" anchor="t"/>
          <a:lstStyle/>
          <a:p>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Scared to </a:t>
            </a:r>
            <a:pPr algn="l" indent="0" marL="0">
              <a:lnSpc>
                <a:spcPct val="110000"/>
              </a:lnSpc>
              <a:buNone/>
            </a:pPr>
            <a:r>
              <a:rPr lang="en-US" sz="3000" i="1" spc="-180" kern="0" dirty="0">
                <a:solidFill>
                  <a:srgbClr val="FF0090"/>
                </a:solidFill>
                <a:latin typeface="Fraunces" pitchFamily="34" charset="0"/>
                <a:ea typeface="Fraunces" pitchFamily="34" charset="-122"/>
                <a:cs typeface="Fraunces" pitchFamily="34" charset="-120"/>
              </a:rPr>
              <a:t>start</a:t>
            </a:r>
            <a:pPr algn="l" indent="0" marL="0">
              <a:lnSpc>
                <a:spcPct val="110000"/>
              </a:lnSpc>
              <a:buNone/>
            </a:pPr>
            <a:r>
              <a:rPr lang="en-US" sz="3000" spc="-180" kern="0" dirty="0">
                <a:solidFill>
                  <a:srgbClr val="0F0F0F"/>
                </a:solidFill>
                <a:latin typeface="Fraunces" pitchFamily="34" charset="0"/>
                <a:ea typeface="Fraunces" pitchFamily="34" charset="-122"/>
                <a:cs typeface="Fraunces" pitchFamily="34" charset="-120"/>
              </a:rPr>
              <a:t>?</a:t>
            </a:r>
            <a:endParaRPr lang="en-US" sz="3000" dirty="0"/>
          </a:p>
        </p:txBody>
      </p:sp>
      <p:sp>
        <p:nvSpPr>
          <p:cNvPr id="10" name="shape-583"/>
          <p:cNvSpPr/>
          <p:nvPr/>
        </p:nvSpPr>
        <p:spPr>
          <a:xfrm>
            <a:off x="812800" y="1746250"/>
            <a:ext cx="2241550" cy="292100"/>
          </a:xfrm>
          <a:prstGeom prst="roundRect">
            <a:avLst>
              <a:gd name="adj" fmla="val 17391"/>
            </a:avLst>
          </a:prstGeom>
          <a:solidFill>
            <a:srgbClr val="FFFFFF"/>
          </a:solidFill>
          <a:ln w="9525">
            <a:solidFill>
              <a:srgbClr val="313336">
                <a:alpha val="30000"/>
              </a:srgbClr>
            </a:solidFill>
            <a:prstDash val="dash"/>
          </a:ln>
        </p:spPr>
      </p:sp>
      <p:sp>
        <p:nvSpPr>
          <p:cNvPr id="11" name="text-584"/>
          <p:cNvSpPr txBox="1"/>
          <p:nvPr/>
        </p:nvSpPr>
        <p:spPr>
          <a:xfrm>
            <a:off x="812800" y="1746250"/>
            <a:ext cx="224155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For the student creative</a:t>
            </a:r>
            <a:endParaRPr lang="en-US" sz="1200" dirty="0"/>
          </a:p>
        </p:txBody>
      </p:sp>
      <p:sp>
        <p:nvSpPr>
          <p:cNvPr id="12" name="shape-585"/>
          <p:cNvSpPr/>
          <p:nvPr/>
        </p:nvSpPr>
        <p:spPr>
          <a:xfrm>
            <a:off x="3105150" y="1746250"/>
            <a:ext cx="2324100" cy="292100"/>
          </a:xfrm>
          <a:prstGeom prst="roundRect">
            <a:avLst>
              <a:gd name="adj" fmla="val 17391"/>
            </a:avLst>
          </a:prstGeom>
          <a:solidFill>
            <a:srgbClr val="FFFFFF"/>
          </a:solidFill>
          <a:ln w="9525">
            <a:solidFill>
              <a:srgbClr val="313336">
                <a:alpha val="30000"/>
              </a:srgbClr>
            </a:solidFill>
            <a:prstDash val="dash"/>
          </a:ln>
        </p:spPr>
      </p:sp>
      <p:sp>
        <p:nvSpPr>
          <p:cNvPr id="13" name="text-586"/>
          <p:cNvSpPr txBox="1"/>
          <p:nvPr/>
        </p:nvSpPr>
        <p:spPr>
          <a:xfrm>
            <a:off x="3105150" y="1746250"/>
            <a:ext cx="2324100" cy="292100"/>
          </a:xfrm>
          <a:prstGeom prst="rect">
            <a:avLst/>
          </a:prstGeom>
          <a:noFill/>
          <a:ln/>
        </p:spPr>
        <p:txBody>
          <a:bodyPr wrap="square" lIns="0" tIns="0" rIns="0" bIns="0" rtlCol="0" anchor="ctr"/>
          <a:lstStyle/>
          <a:p>
            <a:pPr algn="ctr" indent="0" marL="0">
              <a:lnSpc>
                <a:spcPct val="100000"/>
              </a:lnSpc>
              <a:buNone/>
            </a:pPr>
            <a:r>
              <a:rPr lang="en-US" sz="1200" dirty="0">
                <a:solidFill>
                  <a:srgbClr val="0F0F0F"/>
                </a:solidFill>
                <a:latin typeface="Inter" pitchFamily="34" charset="0"/>
                <a:ea typeface="Inter" pitchFamily="34" charset="-122"/>
                <a:cs typeface="Inter" pitchFamily="34" charset="-120"/>
              </a:rPr>
              <a:t>Move: Koe “you” diagnosis</a:t>
            </a:r>
            <a:endParaRPr lang="en-US" sz="1200" dirty="0"/>
          </a:p>
        </p:txBody>
      </p:sp>
      <p:sp>
        <p:nvSpPr>
          <p:cNvPr id="14" name="text-587"/>
          <p:cNvSpPr txBox="1"/>
          <p:nvPr/>
        </p:nvSpPr>
        <p:spPr>
          <a:xfrm>
            <a:off x="812800" y="2190750"/>
            <a:ext cx="406400" cy="635000"/>
          </a:xfrm>
          <a:prstGeom prst="rect">
            <a:avLst/>
          </a:prstGeom>
          <a:noFill/>
          <a:ln/>
        </p:spPr>
        <p:txBody>
          <a:bodyPr wrap="square" lIns="0" tIns="0" rIns="0" bIns="0" rtlCol="0" anchor="t"/>
          <a:lstStyle/>
          <a:p>
            <a:pPr algn="l" indent="0" marL="0">
              <a:lnSpc>
                <a:spcPct val="80000"/>
              </a:lnSpc>
              <a:buNone/>
            </a:pPr>
            <a:r>
              <a:rPr lang="en-US" sz="5600" dirty="0">
                <a:solidFill>
                  <a:srgbClr val="FF0090"/>
                </a:solidFill>
                <a:latin typeface="Fraunces" pitchFamily="34" charset="0"/>
                <a:ea typeface="Fraunces" pitchFamily="34" charset="-122"/>
                <a:cs typeface="Fraunces" pitchFamily="34" charset="-120"/>
              </a:rPr>
              <a:t>“</a:t>
            </a:r>
            <a:endParaRPr lang="en-US" sz="5600" dirty="0"/>
          </a:p>
        </p:txBody>
      </p:sp>
      <p:sp>
        <p:nvSpPr>
          <p:cNvPr id="15" name="text-588"/>
          <p:cNvSpPr txBox="1"/>
          <p:nvPr/>
        </p:nvSpPr>
        <p:spPr>
          <a:xfrm>
            <a:off x="1333500" y="2228850"/>
            <a:ext cx="7734300" cy="721360"/>
          </a:xfrm>
          <a:prstGeom prst="rect">
            <a:avLst/>
          </a:prstGeom>
          <a:noFill/>
          <a:ln/>
        </p:spPr>
        <p:txBody>
          <a:bodyPr wrap="square" lIns="0" tIns="0" rIns="0" bIns="0" rtlCol="0" anchor="t"/>
          <a:lstStyle/>
          <a:p>
            <a:pPr algn="l" indent="0" marL="0">
              <a:lnSpc>
                <a:spcPct val="120000"/>
              </a:lnSpc>
              <a:buNone/>
            </a:pPr>
            <a:r>
              <a:rPr lang="en-US" sz="2200" i="1" spc="-75" kern="0" dirty="0">
                <a:solidFill>
                  <a:srgbClr val="0F0F0F"/>
                </a:solidFill>
                <a:latin typeface="Fraunces" pitchFamily="34" charset="0"/>
                <a:ea typeface="Fraunces" pitchFamily="34" charset="-122"/>
                <a:cs typeface="Fraunces" pitchFamily="34" charset="-120"/>
              </a:rPr>
              <a:t>If you’re scared to start the thing, here are three things I wish someone had told me.</a:t>
            </a:r>
            <a:endParaRPr lang="en-US" sz="2200" dirty="0"/>
          </a:p>
        </p:txBody>
      </p:sp>
      <p:sp>
        <p:nvSpPr>
          <p:cNvPr id="16" name="text-589"/>
          <p:cNvSpPr txBox="1"/>
          <p:nvPr/>
        </p:nvSpPr>
        <p:spPr>
          <a:xfrm>
            <a:off x="812800" y="3242310"/>
            <a:ext cx="190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On screen · frame 1</a:t>
            </a:r>
            <a:endParaRPr lang="en-US" sz="1200" dirty="0"/>
          </a:p>
        </p:txBody>
      </p:sp>
      <p:sp>
        <p:nvSpPr>
          <p:cNvPr id="17" name="shape-590"/>
          <p:cNvSpPr/>
          <p:nvPr/>
        </p:nvSpPr>
        <p:spPr>
          <a:xfrm>
            <a:off x="2768600" y="3140710"/>
            <a:ext cx="3333750" cy="393700"/>
          </a:xfrm>
          <a:prstGeom prst="roundRect">
            <a:avLst>
              <a:gd name="adj" fmla="val 25806"/>
            </a:avLst>
          </a:prstGeom>
          <a:solidFill>
            <a:srgbClr val="FF0090"/>
          </a:solidFill>
          <a:ln w="9525">
            <a:solidFill>
              <a:srgbClr val="FFE0F7"/>
            </a:solidFill>
            <a:prstDash val="solid"/>
          </a:ln>
          <a:effectLst>
            <a:outerShdw sx="100000" sy="100000" kx="0" ky="0" algn="bl" rotWithShape="0" blurRad="50800" dist="12700" dir="5400000">
              <a:srgbClr val="FF2495">
                <a:alpha val="55000"/>
              </a:srgbClr>
            </a:outerShdw>
          </a:effectLst>
        </p:spPr>
      </p:sp>
      <p:sp>
        <p:nvSpPr>
          <p:cNvPr id="18" name="text-591"/>
          <p:cNvSpPr txBox="1"/>
          <p:nvPr/>
        </p:nvSpPr>
        <p:spPr>
          <a:xfrm>
            <a:off x="2768600" y="3140710"/>
            <a:ext cx="3333750" cy="3937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Inter" pitchFamily="34" charset="0"/>
                <a:ea typeface="Inter" pitchFamily="34" charset="-122"/>
                <a:cs typeface="Inter" pitchFamily="34" charset="-120"/>
              </a:rPr>
              <a:t>Scared to start? Read this.</a:t>
            </a:r>
            <a:endParaRPr lang="en-US" sz="1500" dirty="0"/>
          </a:p>
        </p:txBody>
      </p:sp>
      <p:sp>
        <p:nvSpPr>
          <p:cNvPr id="19" name="text-592"/>
          <p:cNvSpPr txBox="1"/>
          <p:nvPr/>
        </p:nvSpPr>
        <p:spPr>
          <a:xfrm>
            <a:off x="812800" y="3699510"/>
            <a:ext cx="82550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Also try · second take</a:t>
            </a:r>
            <a:endParaRPr lang="en-US" sz="1200" dirty="0"/>
          </a:p>
        </p:txBody>
      </p:sp>
      <p:sp>
        <p:nvSpPr>
          <p:cNvPr id="20" name="text-593"/>
          <p:cNvSpPr txBox="1"/>
          <p:nvPr/>
        </p:nvSpPr>
        <p:spPr>
          <a:xfrm>
            <a:off x="812800" y="3953510"/>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A</a:t>
            </a:r>
            <a:endParaRPr lang="en-US" sz="1250" dirty="0"/>
          </a:p>
        </p:txBody>
      </p:sp>
      <p:sp>
        <p:nvSpPr>
          <p:cNvPr id="21" name="text-594"/>
          <p:cNvSpPr txBox="1"/>
          <p:nvPr/>
        </p:nvSpPr>
        <p:spPr>
          <a:xfrm>
            <a:off x="1130300" y="3953510"/>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What I’d tell myself the day before I started my studio.</a:t>
            </a:r>
            <a:endParaRPr lang="en-US" sz="1250" dirty="0"/>
          </a:p>
        </p:txBody>
      </p:sp>
      <p:sp>
        <p:nvSpPr>
          <p:cNvPr id="22" name="text-595"/>
          <p:cNvSpPr txBox="1"/>
          <p:nvPr/>
        </p:nvSpPr>
        <p:spPr>
          <a:xfrm>
            <a:off x="812800" y="4259898"/>
            <a:ext cx="254000" cy="254000"/>
          </a:xfrm>
          <a:prstGeom prst="rect">
            <a:avLst/>
          </a:prstGeom>
          <a:noFill/>
          <a:ln/>
        </p:spPr>
        <p:txBody>
          <a:bodyPr wrap="square" lIns="0" tIns="0" rIns="0" bIns="0" rtlCol="0" anchor="t"/>
          <a:lstStyle/>
          <a:p>
            <a:pPr algn="l" indent="0" marL="0">
              <a:lnSpc>
                <a:spcPct val="145000"/>
              </a:lnSpc>
              <a:buNone/>
            </a:pPr>
            <a:r>
              <a:rPr lang="en-US" sz="1250" dirty="0">
                <a:solidFill>
                  <a:srgbClr val="C20070"/>
                </a:solidFill>
                <a:latin typeface="Inter" pitchFamily="34" charset="0"/>
                <a:ea typeface="Inter" pitchFamily="34" charset="-122"/>
                <a:cs typeface="Inter" pitchFamily="34" charset="-120"/>
              </a:rPr>
              <a:t>B</a:t>
            </a:r>
            <a:endParaRPr lang="en-US" sz="1250" dirty="0"/>
          </a:p>
        </p:txBody>
      </p:sp>
      <p:sp>
        <p:nvSpPr>
          <p:cNvPr id="23" name="text-596"/>
          <p:cNvSpPr txBox="1"/>
          <p:nvPr/>
        </p:nvSpPr>
        <p:spPr>
          <a:xfrm>
            <a:off x="1130300" y="4259898"/>
            <a:ext cx="7937500" cy="242888"/>
          </a:xfrm>
          <a:prstGeom prst="rect">
            <a:avLst/>
          </a:prstGeom>
          <a:noFill/>
          <a:ln/>
        </p:spPr>
        <p:txBody>
          <a:bodyPr wrap="square" lIns="0" tIns="0" rIns="0" bIns="0" rtlCol="0" anchor="t"/>
          <a:lstStyle/>
          <a:p>
            <a:pPr algn="l" indent="0" marL="0">
              <a:lnSpc>
                <a:spcPct val="145000"/>
              </a:lnSpc>
              <a:buNone/>
            </a:pPr>
            <a:r>
              <a:rPr lang="en-US" sz="1250" dirty="0">
                <a:solidFill>
                  <a:srgbClr val="313336"/>
                </a:solidFill>
                <a:latin typeface="Inter" pitchFamily="34" charset="0"/>
                <a:ea typeface="Inter" pitchFamily="34" charset="-122"/>
                <a:cs typeface="Inter" pitchFamily="34" charset="-120"/>
              </a:rPr>
              <a:t>Three things I wish I knew before my first client.</a:t>
            </a:r>
            <a:endParaRPr lang="en-US" sz="1250" dirty="0"/>
          </a:p>
        </p:txBody>
      </p:sp>
      <p:sp>
        <p:nvSpPr>
          <p:cNvPr id="24" name="text-597"/>
          <p:cNvSpPr txBox="1"/>
          <p:nvPr/>
        </p:nvSpPr>
        <p:spPr>
          <a:xfrm>
            <a:off x="8128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First 3 seconds</a:t>
            </a:r>
            <a:endParaRPr lang="en-US" sz="1200" dirty="0"/>
          </a:p>
        </p:txBody>
      </p:sp>
      <p:sp>
        <p:nvSpPr>
          <p:cNvPr id="25" name="text-598"/>
          <p:cNvSpPr txBox="1"/>
          <p:nvPr/>
        </p:nvSpPr>
        <p:spPr>
          <a:xfrm>
            <a:off x="5092700" y="4705985"/>
            <a:ext cx="39751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End on</a:t>
            </a:r>
            <a:endParaRPr lang="en-US" sz="1200" dirty="0"/>
          </a:p>
        </p:txBody>
      </p:sp>
      <p:sp>
        <p:nvSpPr>
          <p:cNvPr id="26" name="text-599"/>
          <p:cNvSpPr txBox="1"/>
          <p:nvPr/>
        </p:nvSpPr>
        <p:spPr>
          <a:xfrm>
            <a:off x="812800" y="4947285"/>
            <a:ext cx="3975100" cy="467360"/>
          </a:xfrm>
          <a:prstGeom prst="rect">
            <a:avLst/>
          </a:prstGeom>
          <a:noFill/>
          <a:ln/>
        </p:spPr>
        <p:txBody>
          <a:bodyPr wrap="square" lIns="0" tIns="0" rIns="0" bIns="0" rtlCol="0" anchor="t"/>
          <a:lstStyle/>
          <a:p>
            <a:pPr algn="l" indent="0" marL="0">
              <a:lnSpc>
                <a:spcPct val="145000"/>
              </a:lnSpc>
              <a:buNone/>
            </a:pPr>
            <a:r>
              <a:rPr lang="en-US" sz="1200" dirty="0">
                <a:solidFill>
                  <a:srgbClr val="313336"/>
                </a:solidFill>
                <a:latin typeface="Inter" pitchFamily="34" charset="0"/>
                <a:ea typeface="Inter" pitchFamily="34" charset="-122"/>
                <a:cs typeface="Inter" pitchFamily="34" charset="-120"/>
              </a:rPr>
              <a:t>Slower, quieter, closer to the lens. One setup.</a:t>
            </a:r>
            <a:endParaRPr lang="en-US" sz="1200" dirty="0"/>
          </a:p>
        </p:txBody>
      </p:sp>
      <p:sp>
        <p:nvSpPr>
          <p:cNvPr id="27" name="text-600"/>
          <p:cNvSpPr txBox="1"/>
          <p:nvPr/>
        </p:nvSpPr>
        <p:spPr>
          <a:xfrm>
            <a:off x="5092700" y="4947285"/>
            <a:ext cx="3975100" cy="246380"/>
          </a:xfrm>
          <a:prstGeom prst="rect">
            <a:avLst/>
          </a:prstGeom>
          <a:noFill/>
          <a:ln/>
        </p:spPr>
        <p:txBody>
          <a:bodyPr wrap="square" lIns="0" tIns="0" rIns="0" bIns="0" rtlCol="0" anchor="t"/>
          <a:lstStyle/>
          <a:p>
            <a:pPr algn="l" indent="0" marL="0">
              <a:lnSpc>
                <a:spcPct val="145000"/>
              </a:lnSpc>
              <a:buNone/>
            </a:pPr>
            <a:r>
              <a:rPr lang="en-US" sz="1200" dirty="0">
                <a:solidFill>
                  <a:srgbClr val="0F0F0F"/>
                </a:solidFill>
                <a:latin typeface="Inter" pitchFamily="34" charset="0"/>
                <a:ea typeface="Inter" pitchFamily="34" charset="-122"/>
                <a:cs typeface="Inter" pitchFamily="34" charset="-120"/>
              </a:rPr>
              <a:t>“Follow. Monday we go again.”</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CFCFC"/>
        </a:solidFill>
      </p:bgPr>
    </p:bg>
    <p:spTree>
      <p:nvGrpSpPr>
        <p:cNvPr id="1" name=""/>
        <p:cNvGrpSpPr/>
        <p:nvPr/>
      </p:nvGrpSpPr>
      <p:grpSpPr>
        <a:xfrm>
          <a:off x="0" y="0"/>
          <a:ext cx="0" cy="0"/>
          <a:chOff x="0" y="0"/>
          <a:chExt cx="0" cy="0"/>
        </a:xfrm>
      </p:grpSpPr>
      <p:sp>
        <p:nvSpPr>
          <p:cNvPr id="2" name="shape-601"/>
          <p:cNvSpPr/>
          <p:nvPr/>
        </p:nvSpPr>
        <p:spPr>
          <a:xfrm>
            <a:off x="152400" y="152400"/>
            <a:ext cx="11887200" cy="6553200"/>
          </a:xfrm>
          <a:prstGeom prst="roundRect">
            <a:avLst>
              <a:gd name="adj" fmla="val 2326"/>
            </a:avLst>
          </a:prstGeom>
          <a:solidFill>
            <a:srgbClr val="0F0F0F"/>
          </a:solidFill>
          <a:ln w="12700">
            <a:solidFill>
              <a:srgbClr val="0F0F0F">
                <a:alpha val="0"/>
              </a:srgbClr>
            </a:solidFill>
            <a:prstDash val="solid"/>
          </a:ln>
          <a:effectLst>
            <a:outerShdw sx="100000" sy="100000" kx="0" ky="0" algn="bl" rotWithShape="0" blurRad="76200" dist="25400" dir="5400000">
              <a:srgbClr val="000000">
                <a:alpha val="16000"/>
              </a:srgbClr>
            </a:outerShdw>
          </a:effectLst>
        </p:spPr>
      </p:sp>
      <p:pic>
        <p:nvPicPr>
          <p:cNvPr id="3" name="pixels-602" descr="pixels-dark.png">    </p:cNvPr>
          <p:cNvPicPr>
            <a:picLocks noChangeAspect="1"/>
          </p:cNvPicPr>
          <p:nvPr/>
        </p:nvPicPr>
        <p:blipFill>
          <a:blip r:embed="rId1"/>
          <a:stretch>
            <a:fillRect/>
          </a:stretch>
        </p:blipFill>
        <p:spPr>
          <a:xfrm>
            <a:off x="355600" y="6299200"/>
            <a:ext cx="11480800" cy="228600"/>
          </a:xfrm>
          <a:prstGeom prst="rect">
            <a:avLst/>
          </a:prstGeom>
        </p:spPr>
      </p:pic>
      <p:sp>
        <p:nvSpPr>
          <p:cNvPr id="4" name="text-603"/>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8C8C8C"/>
                </a:solidFill>
                <a:latin typeface="DM Mono" pitchFamily="34" charset="0"/>
                <a:ea typeface="DM Mono" pitchFamily="34" charset="-122"/>
                <a:cs typeface="DM Mono" pitchFamily="34" charset="-120"/>
              </a:rPr>
              <a:t>BEFORE EVERY TAKE</a:t>
            </a:r>
            <a:endParaRPr lang="en-US" sz="1200" dirty="0"/>
          </a:p>
        </p:txBody>
      </p:sp>
      <p:sp>
        <p:nvSpPr>
          <p:cNvPr id="5" name="title-604"/>
          <p:cNvSpPr txBox="1"/>
          <p:nvPr/>
        </p:nvSpPr>
        <p:spPr>
          <a:xfrm>
            <a:off x="812800" y="1117600"/>
            <a:ext cx="10566400" cy="589280"/>
          </a:xfrm>
          <a:prstGeom prst="rect">
            <a:avLst/>
          </a:prstGeom>
          <a:noFill/>
          <a:ln/>
        </p:spPr>
        <p:txBody>
          <a:bodyPr wrap="square" lIns="0" tIns="0" rIns="0" bIns="0" rtlCol="0" anchor="t"/>
          <a:lstStyle/>
          <a:p>
            <a:pPr algn="l" indent="0" marL="0">
              <a:lnSpc>
                <a:spcPct val="110000"/>
              </a:lnSpc>
              <a:buNone/>
            </a:pPr>
            <a:r>
              <a:rPr lang="en-US" sz="3600" spc="-216" kern="0" dirty="0">
                <a:solidFill>
                  <a:srgbClr val="FFFFFF"/>
                </a:solidFill>
                <a:latin typeface="Fraunces" pitchFamily="34" charset="0"/>
                <a:ea typeface="Fraunces" pitchFamily="34" charset="-122"/>
                <a:cs typeface="Fraunces" pitchFamily="34" charset="-120"/>
              </a:rPr>
              <a:t>Read this, then </a:t>
            </a:r>
            <a:pPr algn="l" indent="0" marL="0">
              <a:lnSpc>
                <a:spcPct val="110000"/>
              </a:lnSpc>
              <a:buNone/>
            </a:pPr>
            <a:r>
              <a:rPr lang="en-US" sz="3600" i="1" spc="-216" kern="0" dirty="0">
                <a:solidFill>
                  <a:srgbClr val="FF0090"/>
                </a:solidFill>
                <a:latin typeface="Fraunces" pitchFamily="34" charset="0"/>
                <a:ea typeface="Fraunces" pitchFamily="34" charset="-122"/>
                <a:cs typeface="Fraunces" pitchFamily="34" charset="-120"/>
              </a:rPr>
              <a:t>record</a:t>
            </a:r>
            <a:endParaRPr lang="en-US" sz="3600" dirty="0"/>
          </a:p>
        </p:txBody>
      </p:sp>
      <p:sp>
        <p:nvSpPr>
          <p:cNvPr id="6" name="shape-605"/>
          <p:cNvSpPr/>
          <p:nvPr/>
        </p:nvSpPr>
        <p:spPr>
          <a:xfrm>
            <a:off x="812800" y="1986280"/>
            <a:ext cx="139700" cy="139700"/>
          </a:xfrm>
          <a:prstGeom prst="roundRect">
            <a:avLst>
              <a:gd name="adj" fmla="val 27273"/>
            </a:avLst>
          </a:prstGeom>
          <a:solidFill>
            <a:srgbClr val="FF0090"/>
          </a:solidFill>
          <a:ln w="9525">
            <a:solidFill>
              <a:srgbClr val="FFE0F7"/>
            </a:solidFill>
            <a:prstDash val="solid"/>
          </a:ln>
        </p:spPr>
      </p:sp>
      <p:sp>
        <p:nvSpPr>
          <p:cNvPr id="7" name="text-606"/>
          <p:cNvSpPr txBox="1"/>
          <p:nvPr/>
        </p:nvSpPr>
        <p:spPr>
          <a:xfrm>
            <a:off x="1130300" y="1935480"/>
            <a:ext cx="10248900" cy="292100"/>
          </a:xfrm>
          <a:prstGeom prst="rect">
            <a:avLst/>
          </a:prstGeom>
          <a:noFill/>
          <a:ln/>
        </p:spPr>
        <p:txBody>
          <a:bodyPr wrap="square" lIns="0" tIns="0" rIns="0" bIns="0" rtlCol="0" anchor="t"/>
          <a:lstStyle/>
          <a:p>
            <a:pPr algn="l" indent="0" marL="0">
              <a:lnSpc>
                <a:spcPct val="140000"/>
              </a:lnSpc>
              <a:buNone/>
            </a:pPr>
            <a:r>
              <a:rPr lang="en-US" sz="1350" dirty="0">
                <a:solidFill>
                  <a:srgbClr val="B9B9BC"/>
                </a:solidFill>
                <a:latin typeface="Inter" pitchFamily="34" charset="0"/>
                <a:ea typeface="Inter" pitchFamily="34" charset="-122"/>
                <a:cs typeface="Inter" pitchFamily="34" charset="-120"/>
              </a:rPr>
              <a:t>Eyes on the lens. Energy 20% above normal.</a:t>
            </a:r>
            <a:endParaRPr lang="en-US" sz="1350" dirty="0"/>
          </a:p>
        </p:txBody>
      </p:sp>
      <p:sp>
        <p:nvSpPr>
          <p:cNvPr id="8" name="shape-607"/>
          <p:cNvSpPr/>
          <p:nvPr/>
        </p:nvSpPr>
        <p:spPr>
          <a:xfrm>
            <a:off x="812800" y="2418080"/>
            <a:ext cx="139700" cy="139700"/>
          </a:xfrm>
          <a:prstGeom prst="roundRect">
            <a:avLst>
              <a:gd name="adj" fmla="val 27273"/>
            </a:avLst>
          </a:prstGeom>
          <a:solidFill>
            <a:srgbClr val="FF0090"/>
          </a:solidFill>
          <a:ln w="9525">
            <a:solidFill>
              <a:srgbClr val="FFE0F7"/>
            </a:solidFill>
            <a:prstDash val="solid"/>
          </a:ln>
        </p:spPr>
      </p:sp>
      <p:sp>
        <p:nvSpPr>
          <p:cNvPr id="9" name="text-608"/>
          <p:cNvSpPr txBox="1"/>
          <p:nvPr/>
        </p:nvSpPr>
        <p:spPr>
          <a:xfrm>
            <a:off x="1130300" y="2367280"/>
            <a:ext cx="10248900" cy="292100"/>
          </a:xfrm>
          <a:prstGeom prst="rect">
            <a:avLst/>
          </a:prstGeom>
          <a:noFill/>
          <a:ln/>
        </p:spPr>
        <p:txBody>
          <a:bodyPr wrap="square" lIns="0" tIns="0" rIns="0" bIns="0" rtlCol="0" anchor="t"/>
          <a:lstStyle/>
          <a:p>
            <a:pPr algn="l" indent="0" marL="0">
              <a:lnSpc>
                <a:spcPct val="140000"/>
              </a:lnSpc>
              <a:buNone/>
            </a:pPr>
            <a:r>
              <a:rPr lang="en-US" sz="1350" dirty="0">
                <a:solidFill>
                  <a:srgbClr val="B9B9BC"/>
                </a:solidFill>
                <a:latin typeface="Inter" pitchFamily="34" charset="0"/>
                <a:ea typeface="Inter" pitchFamily="34" charset="-122"/>
                <a:cs typeface="Inter" pitchFamily="34" charset="-120"/>
              </a:rPr>
              <a:t>Hook, then the beats, then the CTA. 15 to 30 seconds, one idea.</a:t>
            </a:r>
            <a:endParaRPr lang="en-US" sz="1350" dirty="0"/>
          </a:p>
        </p:txBody>
      </p:sp>
      <p:sp>
        <p:nvSpPr>
          <p:cNvPr id="10" name="shape-609"/>
          <p:cNvSpPr/>
          <p:nvPr/>
        </p:nvSpPr>
        <p:spPr>
          <a:xfrm>
            <a:off x="812800" y="2849880"/>
            <a:ext cx="139700" cy="139700"/>
          </a:xfrm>
          <a:prstGeom prst="roundRect">
            <a:avLst>
              <a:gd name="adj" fmla="val 27273"/>
            </a:avLst>
          </a:prstGeom>
          <a:solidFill>
            <a:srgbClr val="FF0090"/>
          </a:solidFill>
          <a:ln w="9525">
            <a:solidFill>
              <a:srgbClr val="FFE0F7"/>
            </a:solidFill>
            <a:prstDash val="solid"/>
          </a:ln>
        </p:spPr>
      </p:sp>
      <p:sp>
        <p:nvSpPr>
          <p:cNvPr id="11" name="text-610"/>
          <p:cNvSpPr txBox="1"/>
          <p:nvPr/>
        </p:nvSpPr>
        <p:spPr>
          <a:xfrm>
            <a:off x="1130300" y="2799080"/>
            <a:ext cx="10248900" cy="292100"/>
          </a:xfrm>
          <a:prstGeom prst="rect">
            <a:avLst/>
          </a:prstGeom>
          <a:noFill/>
          <a:ln/>
        </p:spPr>
        <p:txBody>
          <a:bodyPr wrap="square" lIns="0" tIns="0" rIns="0" bIns="0" rtlCol="0" anchor="t"/>
          <a:lstStyle/>
          <a:p>
            <a:pPr algn="l" indent="0" marL="0">
              <a:lnSpc>
                <a:spcPct val="140000"/>
              </a:lnSpc>
              <a:buNone/>
            </a:pPr>
            <a:r>
              <a:rPr lang="en-US" sz="1350" dirty="0">
                <a:solidFill>
                  <a:srgbClr val="B9B9BC"/>
                </a:solidFill>
                <a:latin typeface="Inter" pitchFamily="34" charset="0"/>
                <a:ea typeface="Inter" pitchFamily="34" charset="-122"/>
                <a:cs typeface="Inter" pitchFamily="34" charset="-120"/>
              </a:rPr>
              <a:t>Captions on. Text in the safe zone, never on your face, hair in frame, no tight zoom.</a:t>
            </a:r>
            <a:endParaRPr lang="en-US" sz="1350" dirty="0"/>
          </a:p>
        </p:txBody>
      </p:sp>
      <p:sp>
        <p:nvSpPr>
          <p:cNvPr id="12" name="shape-611"/>
          <p:cNvSpPr/>
          <p:nvPr/>
        </p:nvSpPr>
        <p:spPr>
          <a:xfrm>
            <a:off x="812800" y="3281680"/>
            <a:ext cx="139700" cy="139700"/>
          </a:xfrm>
          <a:prstGeom prst="roundRect">
            <a:avLst>
              <a:gd name="adj" fmla="val 27273"/>
            </a:avLst>
          </a:prstGeom>
          <a:solidFill>
            <a:srgbClr val="FF0090"/>
          </a:solidFill>
          <a:ln w="9525">
            <a:solidFill>
              <a:srgbClr val="FFE0F7"/>
            </a:solidFill>
            <a:prstDash val="solid"/>
          </a:ln>
        </p:spPr>
      </p:sp>
      <p:sp>
        <p:nvSpPr>
          <p:cNvPr id="13" name="text-612"/>
          <p:cNvSpPr txBox="1"/>
          <p:nvPr/>
        </p:nvSpPr>
        <p:spPr>
          <a:xfrm>
            <a:off x="1130300" y="3230880"/>
            <a:ext cx="10248900" cy="292100"/>
          </a:xfrm>
          <a:prstGeom prst="rect">
            <a:avLst/>
          </a:prstGeom>
          <a:noFill/>
          <a:ln/>
        </p:spPr>
        <p:txBody>
          <a:bodyPr wrap="square" lIns="0" tIns="0" rIns="0" bIns="0" rtlCol="0" anchor="t"/>
          <a:lstStyle/>
          <a:p>
            <a:pPr algn="l" indent="0" marL="0">
              <a:lnSpc>
                <a:spcPct val="140000"/>
              </a:lnSpc>
              <a:buNone/>
            </a:pPr>
            <a:r>
              <a:rPr lang="en-US" sz="1350" dirty="0">
                <a:solidFill>
                  <a:srgbClr val="B9B9BC"/>
                </a:solidFill>
                <a:latin typeface="Inter" pitchFamily="34" charset="0"/>
                <a:ea typeface="Inter" pitchFamily="34" charset="-122"/>
                <a:cs typeface="Inter" pitchFamily="34" charset="-120"/>
              </a:rPr>
              <a:t>4K if your phone allows. Export clean, no watermark.</a:t>
            </a:r>
            <a:endParaRPr lang="en-US" sz="1350" dirty="0"/>
          </a:p>
        </p:txBody>
      </p:sp>
      <p:sp>
        <p:nvSpPr>
          <p:cNvPr id="14" name="shape-613"/>
          <p:cNvSpPr/>
          <p:nvPr/>
        </p:nvSpPr>
        <p:spPr>
          <a:xfrm>
            <a:off x="812800" y="3713480"/>
            <a:ext cx="139700" cy="139700"/>
          </a:xfrm>
          <a:prstGeom prst="roundRect">
            <a:avLst>
              <a:gd name="adj" fmla="val 27273"/>
            </a:avLst>
          </a:prstGeom>
          <a:solidFill>
            <a:srgbClr val="FF0090"/>
          </a:solidFill>
          <a:ln w="9525">
            <a:solidFill>
              <a:srgbClr val="FFE0F7"/>
            </a:solidFill>
            <a:prstDash val="solid"/>
          </a:ln>
        </p:spPr>
      </p:sp>
      <p:sp>
        <p:nvSpPr>
          <p:cNvPr id="15" name="text-614"/>
          <p:cNvSpPr txBox="1"/>
          <p:nvPr/>
        </p:nvSpPr>
        <p:spPr>
          <a:xfrm>
            <a:off x="1130300" y="3662680"/>
            <a:ext cx="10248900" cy="292100"/>
          </a:xfrm>
          <a:prstGeom prst="rect">
            <a:avLst/>
          </a:prstGeom>
          <a:noFill/>
          <a:ln/>
        </p:spPr>
        <p:txBody>
          <a:bodyPr wrap="square" lIns="0" tIns="0" rIns="0" bIns="0" rtlCol="0" anchor="t"/>
          <a:lstStyle/>
          <a:p>
            <a:pPr algn="l" indent="0" marL="0">
              <a:lnSpc>
                <a:spcPct val="140000"/>
              </a:lnSpc>
              <a:buNone/>
            </a:pPr>
            <a:r>
              <a:rPr lang="en-US" sz="1350" dirty="0">
                <a:solidFill>
                  <a:srgbClr val="B9B9BC"/>
                </a:solidFill>
                <a:latin typeface="Inter" pitchFamily="34" charset="0"/>
                <a:ea typeface="Inter" pitchFamily="34" charset="-122"/>
                <a:cs typeface="Inter" pitchFamily="34" charset="-120"/>
              </a:rPr>
              <a:t>Two takes of the hook, A and B. Post B as a Trial Reel.</a:t>
            </a:r>
            <a:endParaRPr lang="en-US" sz="1350" dirty="0"/>
          </a:p>
        </p:txBody>
      </p:sp>
      <p:sp>
        <p:nvSpPr>
          <p:cNvPr id="16" name="shape-615"/>
          <p:cNvSpPr/>
          <p:nvPr/>
        </p:nvSpPr>
        <p:spPr>
          <a:xfrm>
            <a:off x="812800" y="4145280"/>
            <a:ext cx="139700" cy="139700"/>
          </a:xfrm>
          <a:prstGeom prst="roundRect">
            <a:avLst>
              <a:gd name="adj" fmla="val 27273"/>
            </a:avLst>
          </a:prstGeom>
          <a:solidFill>
            <a:srgbClr val="FF0090"/>
          </a:solidFill>
          <a:ln w="9525">
            <a:solidFill>
              <a:srgbClr val="FFE0F7"/>
            </a:solidFill>
            <a:prstDash val="solid"/>
          </a:ln>
        </p:spPr>
      </p:sp>
      <p:sp>
        <p:nvSpPr>
          <p:cNvPr id="17" name="text-616"/>
          <p:cNvSpPr txBox="1"/>
          <p:nvPr/>
        </p:nvSpPr>
        <p:spPr>
          <a:xfrm>
            <a:off x="1130300" y="4094480"/>
            <a:ext cx="10248900" cy="292100"/>
          </a:xfrm>
          <a:prstGeom prst="rect">
            <a:avLst/>
          </a:prstGeom>
          <a:noFill/>
          <a:ln/>
        </p:spPr>
        <p:txBody>
          <a:bodyPr wrap="square" lIns="0" tIns="0" rIns="0" bIns="0" rtlCol="0" anchor="t"/>
          <a:lstStyle/>
          <a:p>
            <a:pPr algn="l" indent="0" marL="0">
              <a:lnSpc>
                <a:spcPct val="140000"/>
              </a:lnSpc>
              <a:buNone/>
            </a:pPr>
            <a:r>
              <a:rPr lang="en-US" sz="1350" dirty="0">
                <a:solidFill>
                  <a:srgbClr val="B9B9BC"/>
                </a:solidFill>
                <a:latin typeface="Inter" pitchFamily="34" charset="0"/>
                <a:ea typeface="Inter" pitchFamily="34" charset="-122"/>
                <a:cs typeface="Inter" pitchFamily="34" charset="-120"/>
              </a:rPr>
              <a:t>Proofread every text layer before posting.</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CFCFC"/>
        </a:solidFill>
      </p:bgPr>
    </p:bg>
    <p:spTree>
      <p:nvGrpSpPr>
        <p:cNvPr id="1" name=""/>
        <p:cNvGrpSpPr/>
        <p:nvPr/>
      </p:nvGrpSpPr>
      <p:grpSpPr>
        <a:xfrm>
          <a:off x="0" y="0"/>
          <a:ext cx="0" cy="0"/>
          <a:chOff x="0" y="0"/>
          <a:chExt cx="0" cy="0"/>
        </a:xfrm>
      </p:grpSpPr>
      <p:sp>
        <p:nvSpPr>
          <p:cNvPr id="2" name="shape-617"/>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text-618"/>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HOOK BANK · SPARES</a:t>
            </a:r>
            <a:endParaRPr lang="en-US" sz="1200" dirty="0"/>
          </a:p>
        </p:txBody>
      </p:sp>
      <p:sp>
        <p:nvSpPr>
          <p:cNvPr id="4" name="title-619"/>
          <p:cNvSpPr txBox="1"/>
          <p:nvPr/>
        </p:nvSpPr>
        <p:spPr>
          <a:xfrm>
            <a:off x="812800" y="1117600"/>
            <a:ext cx="10566400" cy="589280"/>
          </a:xfrm>
          <a:prstGeom prst="rect">
            <a:avLst/>
          </a:prstGeom>
          <a:noFill/>
          <a:ln/>
        </p:spPr>
        <p:txBody>
          <a:bodyPr wrap="square" lIns="0" tIns="0" rIns="0" bIns="0" rtlCol="0" anchor="t"/>
          <a:lstStyle/>
          <a:p>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25 spare </a:t>
            </a:r>
            <a:pPr algn="l" indent="0" marL="0">
              <a:lnSpc>
                <a:spcPct val="110000"/>
              </a:lnSpc>
              <a:buNone/>
            </a:pPr>
            <a:r>
              <a:rPr lang="en-US" sz="3600" i="1" spc="-216" kern="0" dirty="0">
                <a:solidFill>
                  <a:srgbClr val="FF0090"/>
                </a:solidFill>
                <a:latin typeface="Fraunces" pitchFamily="34" charset="0"/>
                <a:ea typeface="Fraunces" pitchFamily="34" charset="-122"/>
                <a:cs typeface="Fraunces" pitchFamily="34" charset="-120"/>
              </a:rPr>
              <a:t>hooks</a:t>
            </a:r>
            <a:endParaRPr lang="en-US" sz="3600" dirty="0"/>
          </a:p>
        </p:txBody>
      </p:sp>
      <p:sp>
        <p:nvSpPr>
          <p:cNvPr id="5" name="paras-620"/>
          <p:cNvSpPr txBox="1"/>
          <p:nvPr/>
        </p:nvSpPr>
        <p:spPr>
          <a:xfrm>
            <a:off x="812800" y="1884680"/>
            <a:ext cx="5130800" cy="4160520"/>
          </a:xfrm>
          <a:prstGeom prst="rect">
            <a:avLst/>
          </a:prstGeom>
          <a:noFill/>
          <a:ln/>
        </p:spPr>
        <p:txBody>
          <a:bodyPr wrap="square" lIns="0" tIns="0" rIns="0" bIns="0" rtlCol="0" anchor="t"/>
          <a:lstStyle/>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01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You don’t need followers to make money online. You need one skill and five DMs a day.</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02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If you’re a student with a skill and no clients, this is for you.</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03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I charge $1,500 for a website. Here’s what that actually includes.</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04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Nobody tells you this about making money online: the boring part is the money part.</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05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Five $95 flyers is $475. That’s a part-time job’s week.</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06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Stop saying “DM me for prices”. Put them in the video.</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07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The media kit is the reason I get PR packages. It’s one page.</a:t>
            </a:r>
            <a:endParaRPr lang="en-US" sz="1200" dirty="0"/>
          </a:p>
        </p:txBody>
      </p:sp>
      <p:sp>
        <p:nvSpPr>
          <p:cNvPr id="6" name="paras-621"/>
          <p:cNvSpPr txBox="1"/>
          <p:nvPr/>
        </p:nvSpPr>
        <p:spPr>
          <a:xfrm>
            <a:off x="6248400" y="1884680"/>
            <a:ext cx="5130800" cy="4160520"/>
          </a:xfrm>
          <a:prstGeom prst="rect">
            <a:avLst/>
          </a:prstGeom>
          <a:noFill/>
          <a:ln/>
        </p:spPr>
        <p:txBody>
          <a:bodyPr wrap="square" lIns="0" tIns="0" rIns="0" bIns="0" rtlCol="0" anchor="t"/>
          <a:lstStyle/>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08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4 million views this year. The views were never the business.</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09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I’m taking 10 clients this month. Here’s who I’m looking for.</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10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If your flyer looks like a Word document, this is why nobody calls.</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11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Design clients don’t care about your degree. They care about this.</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12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My part-time job paid me $560 for two weeks. One order paid $419.</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13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The first order in my shop was $0.00. It was me, testing. The second was $419 from a stranger.</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CFCFC"/>
        </a:solidFill>
      </p:bgPr>
    </p:bg>
    <p:spTree>
      <p:nvGrpSpPr>
        <p:cNvPr id="1" name=""/>
        <p:cNvGrpSpPr/>
        <p:nvPr/>
      </p:nvGrpSpPr>
      <p:grpSpPr>
        <a:xfrm>
          <a:off x="0" y="0"/>
          <a:ext cx="0" cy="0"/>
          <a:chOff x="0" y="0"/>
          <a:chExt cx="0" cy="0"/>
        </a:xfrm>
      </p:grpSpPr>
      <p:sp>
        <p:nvSpPr>
          <p:cNvPr id="2" name="shape-622"/>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text-623"/>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HOOK BANK · SPARES</a:t>
            </a:r>
            <a:endParaRPr lang="en-US" sz="1200" dirty="0"/>
          </a:p>
        </p:txBody>
      </p:sp>
      <p:sp>
        <p:nvSpPr>
          <p:cNvPr id="4" name="title-624"/>
          <p:cNvSpPr txBox="1"/>
          <p:nvPr/>
        </p:nvSpPr>
        <p:spPr>
          <a:xfrm>
            <a:off x="812800" y="1117600"/>
            <a:ext cx="10566400" cy="589280"/>
          </a:xfrm>
          <a:prstGeom prst="rect">
            <a:avLst/>
          </a:prstGeom>
          <a:noFill/>
          <a:ln/>
        </p:spPr>
        <p:txBody>
          <a:bodyPr wrap="square" lIns="0" tIns="0" rIns="0" bIns="0" rtlCol="0" anchor="t"/>
          <a:lstStyle/>
          <a:p>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…and twelve </a:t>
            </a:r>
            <a:pPr algn="l" indent="0" marL="0">
              <a:lnSpc>
                <a:spcPct val="110000"/>
              </a:lnSpc>
              <a:buNone/>
            </a:pPr>
            <a:r>
              <a:rPr lang="en-US" sz="3600" i="1" spc="-216" kern="0" dirty="0">
                <a:solidFill>
                  <a:srgbClr val="FF0090"/>
                </a:solidFill>
                <a:latin typeface="Fraunces" pitchFamily="34" charset="0"/>
                <a:ea typeface="Fraunces" pitchFamily="34" charset="-122"/>
                <a:cs typeface="Fraunces" pitchFamily="34" charset="-120"/>
              </a:rPr>
              <a:t>more</a:t>
            </a:r>
            <a:endParaRPr lang="en-US" sz="3600" dirty="0"/>
          </a:p>
        </p:txBody>
      </p:sp>
      <p:sp>
        <p:nvSpPr>
          <p:cNvPr id="5" name="paras-625"/>
          <p:cNvSpPr txBox="1"/>
          <p:nvPr/>
        </p:nvSpPr>
        <p:spPr>
          <a:xfrm>
            <a:off x="812800" y="1884680"/>
            <a:ext cx="5130800" cy="4160520"/>
          </a:xfrm>
          <a:prstGeom prst="rect">
            <a:avLst/>
          </a:prstGeom>
          <a:noFill/>
          <a:ln/>
        </p:spPr>
        <p:txBody>
          <a:bodyPr wrap="square" lIns="0" tIns="0" rIns="0" bIns="0" rtlCol="0" anchor="t"/>
          <a:lstStyle/>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14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Say this when a client says it’s too expensive.</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15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Three red flags in a client before you say yes.</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16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Three tiny gigs paid $20 in total. One real gig paid $810. The media kit got me the real one.</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17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My retail job paid $5,400 in six months. My laptop paid $1,600. I’m still choosing the laptop. Here’s why.</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18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Free concept, paid final. That’s how the DM works.</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19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One brand gig paid more than my paycheque. Here’s what was in the pitch. (if the app’s terms allow the amount)</a:t>
            </a:r>
            <a:endParaRPr lang="en-US" sz="1200" dirty="0"/>
          </a:p>
        </p:txBody>
      </p:sp>
      <p:sp>
        <p:nvSpPr>
          <p:cNvPr id="6" name="paras-626"/>
          <p:cNvSpPr txBox="1"/>
          <p:nvPr/>
        </p:nvSpPr>
        <p:spPr>
          <a:xfrm>
            <a:off x="6248400" y="1884680"/>
            <a:ext cx="5130800" cy="4160520"/>
          </a:xfrm>
          <a:prstGeom prst="rect">
            <a:avLst/>
          </a:prstGeom>
          <a:noFill/>
          <a:ln/>
        </p:spPr>
        <p:txBody>
          <a:bodyPr wrap="square" lIns="0" tIns="0" rIns="0" bIns="0" rtlCol="0" anchor="t"/>
          <a:lstStyle/>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20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If you wait until you’re ready, you’ll never post the first one. I posted at 31 followers.</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21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What does $95 get you from a designer? (Hoyos)</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22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I charge $1,500 for a website and I’m a student. Here’s why clients pay it. (Hormozi)</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23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Nobody is going to DM you first. (Koe)</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24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If you have under 100 followers and a skill, watch this. (the qualifier)</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25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“Can you do it for exposure?” / “No. Here’s why.” (two characters)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CFCFC"/>
        </a:solidFill>
      </p:bgPr>
    </p:bg>
    <p:spTree>
      <p:nvGrpSpPr>
        <p:cNvPr id="1" name=""/>
        <p:cNvGrpSpPr/>
        <p:nvPr/>
      </p:nvGrpSpPr>
      <p:grpSpPr>
        <a:xfrm>
          <a:off x="0" y="0"/>
          <a:ext cx="0" cy="0"/>
          <a:chOff x="0" y="0"/>
          <a:chExt cx="0" cy="0"/>
        </a:xfrm>
      </p:grpSpPr>
      <p:sp>
        <p:nvSpPr>
          <p:cNvPr id="2" name="shape-627"/>
          <p:cNvSpPr/>
          <p:nvPr/>
        </p:nvSpPr>
        <p:spPr>
          <a:xfrm>
            <a:off x="152400" y="152400"/>
            <a:ext cx="11887200" cy="6553200"/>
          </a:xfrm>
          <a:prstGeom prst="roundRect">
            <a:avLst>
              <a:gd name="adj" fmla="val 2326"/>
            </a:avLst>
          </a:prstGeom>
          <a:solidFill>
            <a:srgbClr val="FFFFFF"/>
          </a:solidFill>
          <a:ln w="12700">
            <a:solidFill>
              <a:srgbClr val="FFFFFF">
                <a:alpha val="0"/>
              </a:srgbClr>
            </a:solidFill>
            <a:prstDash val="solid"/>
          </a:ln>
          <a:effectLst>
            <a:outerShdw sx="100000" sy="100000" kx="0" ky="0" algn="bl" rotWithShape="0" blurRad="76200" dist="25400" dir="5400000">
              <a:srgbClr val="000000">
                <a:alpha val="16000"/>
              </a:srgbClr>
            </a:outerShdw>
          </a:effectLst>
        </p:spPr>
      </p:sp>
      <p:sp>
        <p:nvSpPr>
          <p:cNvPr id="3" name="text-628"/>
          <p:cNvSpPr txBox="1"/>
          <p:nvPr/>
        </p:nvSpPr>
        <p:spPr>
          <a:xfrm>
            <a:off x="812800" y="812800"/>
            <a:ext cx="10566400" cy="215900"/>
          </a:xfrm>
          <a:prstGeom prst="rect">
            <a:avLst/>
          </a:prstGeom>
          <a:noFill/>
          <a:ln/>
        </p:spPr>
        <p:txBody>
          <a:bodyPr wrap="square" lIns="0" tIns="0" rIns="0" bIns="0" rtlCol="0" anchor="t"/>
          <a:lstStyle/>
          <a:p>
            <a:pPr algn="l" indent="0" marL="0">
              <a:lnSpc>
                <a:spcPct val="130000"/>
              </a:lnSpc>
              <a:buNone/>
            </a:pPr>
            <a:r>
              <a:rPr lang="en-US" sz="1200" dirty="0">
                <a:solidFill>
                  <a:srgbClr val="6F6F6F"/>
                </a:solidFill>
                <a:latin typeface="DM Mono" pitchFamily="34" charset="0"/>
                <a:ea typeface="DM Mono" pitchFamily="34" charset="-122"/>
                <a:cs typeface="DM Mono" pitchFamily="34" charset="-120"/>
              </a:rPr>
              <a:t>HOOK BANK · FROM THE VIDEOS YOU SENT</a:t>
            </a:r>
            <a:endParaRPr lang="en-US" sz="1200" dirty="0"/>
          </a:p>
        </p:txBody>
      </p:sp>
      <p:sp>
        <p:nvSpPr>
          <p:cNvPr id="4" name="title-629"/>
          <p:cNvSpPr txBox="1"/>
          <p:nvPr/>
        </p:nvSpPr>
        <p:spPr>
          <a:xfrm>
            <a:off x="812800" y="1117600"/>
            <a:ext cx="10566400" cy="589280"/>
          </a:xfrm>
          <a:prstGeom prst="rect">
            <a:avLst/>
          </a:prstGeom>
          <a:noFill/>
          <a:ln/>
        </p:spPr>
        <p:txBody>
          <a:bodyPr wrap="square" lIns="0" tIns="0" rIns="0" bIns="0" rtlCol="0" anchor="t"/>
          <a:lstStyle/>
          <a:p>
            <a:pPr algn="l" indent="0" marL="0">
              <a:lnSpc>
                <a:spcPct val="110000"/>
              </a:lnSpc>
              <a:buNone/>
            </a:pPr>
            <a:r>
              <a:rPr lang="en-US" sz="3600" spc="-216" kern="0" dirty="0">
                <a:solidFill>
                  <a:srgbClr val="0F0F0F"/>
                </a:solidFill>
                <a:latin typeface="Fraunces" pitchFamily="34" charset="0"/>
                <a:ea typeface="Fraunces" pitchFamily="34" charset="-122"/>
                <a:cs typeface="Fraunces" pitchFamily="34" charset="-120"/>
              </a:rPr>
              <a:t>Ten more, from the </a:t>
            </a:r>
            <a:pPr algn="l" indent="0" marL="0">
              <a:lnSpc>
                <a:spcPct val="110000"/>
              </a:lnSpc>
              <a:buNone/>
            </a:pPr>
            <a:r>
              <a:rPr lang="en-US" sz="3600" i="1" spc="-216" kern="0" dirty="0">
                <a:solidFill>
                  <a:srgbClr val="FF0090"/>
                </a:solidFill>
                <a:latin typeface="Fraunces" pitchFamily="34" charset="0"/>
                <a:ea typeface="Fraunces" pitchFamily="34" charset="-122"/>
                <a:cs typeface="Fraunces" pitchFamily="34" charset="-120"/>
              </a:rPr>
              <a:t>videos you sent</a:t>
            </a:r>
            <a:endParaRPr lang="en-US" sz="3600" dirty="0"/>
          </a:p>
        </p:txBody>
      </p:sp>
      <p:sp>
        <p:nvSpPr>
          <p:cNvPr id="5" name="paras-630"/>
          <p:cNvSpPr txBox="1"/>
          <p:nvPr/>
        </p:nvSpPr>
        <p:spPr>
          <a:xfrm>
            <a:off x="812800" y="1884680"/>
            <a:ext cx="5130800" cy="4160520"/>
          </a:xfrm>
          <a:prstGeom prst="rect">
            <a:avLst/>
          </a:prstGeom>
          <a:noFill/>
          <a:ln/>
        </p:spPr>
        <p:txBody>
          <a:bodyPr wrap="square" lIns="0" tIns="0" rIns="0" bIns="0" rtlCol="0" anchor="t"/>
          <a:lstStyle/>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26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If you can’t sell with 31 followers, 10K won’t fix it. Here’s what does.</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27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You’ve had the idea for nine months. I posted at 31 followers. That’s the whole difference.</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28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Everyone wants the money. Nobody wants to send the first DM. Here it is, word for word.</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29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Every video has one job: pull, build or act. Here’s how to tell which one you just posted.</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30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Stop creating, start documenting. Day [X] of 31 → 10K, and here’s what moved.</a:t>
            </a:r>
            <a:endParaRPr lang="en-US" sz="1200" dirty="0"/>
          </a:p>
        </p:txBody>
      </p:sp>
      <p:sp>
        <p:nvSpPr>
          <p:cNvPr id="6" name="paras-631"/>
          <p:cNvSpPr txBox="1"/>
          <p:nvPr/>
        </p:nvSpPr>
        <p:spPr>
          <a:xfrm>
            <a:off x="6248400" y="1884680"/>
            <a:ext cx="5130800" cy="4160520"/>
          </a:xfrm>
          <a:prstGeom prst="rect">
            <a:avLst/>
          </a:prstGeom>
          <a:noFill/>
          <a:ln/>
        </p:spPr>
        <p:txBody>
          <a:bodyPr wrap="square" lIns="0" tIns="0" rIns="0" bIns="0" rtlCol="0" anchor="t"/>
          <a:lstStyle/>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31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You don’t need new ideas. You need to notice which video worked and make it again.</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32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4 million views paid me $0. One order paid $419.</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33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“Where do I start?” Everyone who asks me that has sent zero DMs.</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34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People don’t buy because you know something. They buy because of how you package it. Here’s my packaging.</a:t>
            </a:r>
            <a:endParaRPr lang="en-US" sz="1200" dirty="0"/>
          </a:p>
          <a:p>
            <a:pPr indent="0" marL="0">
              <a:lnSpc>
                <a:spcPct val="130000"/>
              </a:lnSpc>
              <a:spcAft>
                <a:spcPts val="1400"/>
              </a:spcAft>
              <a:buNone/>
            </a:pPr>
            <a:r>
              <a:rPr lang="en-US" sz="1200" dirty="0">
                <a:solidFill>
                  <a:srgbClr val="6F6F6F"/>
                </a:solidFill>
                <a:latin typeface="DM Mono" pitchFamily="34" charset="0"/>
                <a:ea typeface="DM Mono" pitchFamily="34" charset="-122"/>
                <a:cs typeface="DM Mono" pitchFamily="34" charset="-120"/>
              </a:rPr>
              <a:t>35   </a:t>
            </a:r>
            <a:pPr indent="0" marL="0">
              <a:lnSpc>
                <a:spcPct val="130000"/>
              </a:lnSpc>
              <a:spcAft>
                <a:spcPts val="1400"/>
              </a:spcAft>
              <a:buNone/>
            </a:pPr>
            <a:r>
              <a:rPr lang="en-US" sz="1300" spc="-30" kern="0" dirty="0">
                <a:solidFill>
                  <a:srgbClr val="0F0F0F"/>
                </a:solidFill>
                <a:latin typeface="Fraunces" pitchFamily="34" charset="0"/>
                <a:ea typeface="Fraunces" pitchFamily="34" charset="-122"/>
                <a:cs typeface="Fraunces" pitchFamily="34" charset="-120"/>
              </a:rPr>
              <a:t>My whole strategy in 60 seconds: one skill, three samples, five DMs a day, one pitch, one page.</a:t>
            </a:r>
            <a:endParaRPr lang="en-US" sz="1200" dirty="0"/>
          </a:p>
        </p:txBody>
      </p:sp>
    </p:spTree>
  </p:cSld>
  <p:clrMapOvr>
    <a:masterClrMapping/>
  </p:clrMapOvr>
</p:sld>
</file>

<file path=ppt/theme/theme1.xml><?xml version="1.0" encoding="utf-8"?>
<a:theme xmlns:a="http://schemas.openxmlformats.org/drawingml/2006/main" name="Aïssa Kee">
  <a:themeElements>
    <a:clrScheme name="Aïssa Kee">
      <a:dk1>
        <a:srgbClr val="0F0F0F"/>
      </a:dk1>
      <a:lt1>
        <a:srgbClr val="FCFCFC"/>
      </a:lt1>
      <a:dk2>
        <a:srgbClr val="313336"/>
      </a:dk2>
      <a:lt2>
        <a:srgbClr val="F8F8F8"/>
      </a:lt2>
      <a:accent1>
        <a:srgbClr val="FF0090"/>
      </a:accent1>
      <a:accent2>
        <a:srgbClr val="FFE0F7"/>
      </a:accent2>
      <a:accent3>
        <a:srgbClr val="C20070"/>
      </a:accent3>
      <a:accent4>
        <a:srgbClr val="6F6F6F"/>
      </a:accent4>
      <a:accent5>
        <a:srgbClr val="EDEDED"/>
      </a:accent5>
      <a:accent6>
        <a:srgbClr val="1A1A1A"/>
      </a:accent6>
      <a:hlink>
        <a:srgbClr val="FF0090"/>
      </a:hlink>
      <a:folHlink>
        <a:srgbClr val="C20070"/>
      </a:folHlink>
    </a:clrScheme>
    <a:fontScheme name="Aïssa Kee">
      <a:majorFont>
        <a:latin typeface="Fraunce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Aïssa Kee Hook Deck</dc:title>
  <dc:subject>Hooks for Oct 1 to 5, 2026</dc:subject>
  <dc:creator>Kreeative</dc:creator>
  <cp:lastModifiedBy>Kreeative</cp:lastModifiedBy>
  <cp:revision>1</cp:revision>
  <dcterms:created xsi:type="dcterms:W3CDTF">2026-10-02T00:48:07Z</dcterms:created>
  <dcterms:modified xsi:type="dcterms:W3CDTF">2026-10-02T00:48:07Z</dcterms:modified>
</cp:coreProperties>
</file>